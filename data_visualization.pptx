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theme/themeOverride1.xml" ContentType="application/vnd.openxmlformats-officedocument.themeOverr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60" r:id="rId1"/>
  </p:sldMasterIdLst>
  <p:notesMasterIdLst>
    <p:notesMasterId r:id="rId4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93" r:id="rId15"/>
    <p:sldId id="269" r:id="rId16"/>
    <p:sldId id="270" r:id="rId17"/>
    <p:sldId id="271" r:id="rId18"/>
    <p:sldId id="272" r:id="rId19"/>
    <p:sldId id="273" r:id="rId20"/>
    <p:sldId id="274" r:id="rId21"/>
    <p:sldId id="275" r:id="rId22"/>
    <p:sldId id="276" r:id="rId23"/>
    <p:sldId id="277" r:id="rId24"/>
    <p:sldId id="278" r:id="rId25"/>
    <p:sldId id="279" r:id="rId26"/>
    <p:sldId id="281" r:id="rId27"/>
    <p:sldId id="280" r:id="rId28"/>
    <p:sldId id="285" r:id="rId29"/>
    <p:sldId id="296" r:id="rId30"/>
    <p:sldId id="291" r:id="rId31"/>
    <p:sldId id="282" r:id="rId32"/>
    <p:sldId id="290" r:id="rId33"/>
    <p:sldId id="283" r:id="rId34"/>
    <p:sldId id="288" r:id="rId35"/>
    <p:sldId id="289" r:id="rId36"/>
    <p:sldId id="294" r:id="rId37"/>
    <p:sldId id="295" r:id="rId38"/>
    <p:sldId id="292" r:id="rId39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87" d="100"/>
          <a:sy n="87" d="100"/>
        </p:scale>
        <p:origin x="-1458" y="-78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DFB8680-E7C6-4787-BA3C-55B28A9B2E13}" type="datetimeFigureOut">
              <a:rPr lang="en-US" smtClean="0"/>
              <a:t>1/26/2018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4A9E72F-4D5E-42BC-8A6F-60D7C349BD6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5193286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4A9E72F-4D5E-42BC-8A6F-60D7C349BD65}" type="slidenum">
              <a:rPr lang="en-IN" smtClean="0"/>
              <a:t>1</a:t>
            </a:fld>
            <a:endParaRPr lang="en-IN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Isosceles Triangle 6"/>
          <p:cNvSpPr/>
          <p:nvPr/>
        </p:nvSpPr>
        <p:spPr>
          <a:xfrm rot="16200000">
            <a:off x="7554353" y="5254283"/>
            <a:ext cx="1892949" cy="1294228"/>
          </a:xfrm>
          <a:prstGeom prst="triangle">
            <a:avLst>
              <a:gd name="adj" fmla="val 51323"/>
            </a:avLst>
          </a:prstGeom>
          <a:gradFill flip="none" rotWithShape="1">
            <a:gsLst>
              <a:gs pos="0">
                <a:schemeClr val="accent1">
                  <a:shade val="30000"/>
                  <a:satMod val="155000"/>
                  <a:alpha val="100000"/>
                </a:schemeClr>
              </a:gs>
              <a:gs pos="60000">
                <a:schemeClr val="accent1">
                  <a:satMod val="160000"/>
                  <a:alpha val="100000"/>
                </a:schemeClr>
              </a:gs>
              <a:gs pos="100000">
                <a:schemeClr val="accent1">
                  <a:tint val="70000"/>
                  <a:satMod val="200000"/>
                  <a:alpha val="100000"/>
                </a:schemeClr>
              </a:gs>
            </a:gsLst>
            <a:lin ang="15500000" scaled="1"/>
            <a:tileRect/>
          </a:gra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540544" y="776288"/>
            <a:ext cx="8062912" cy="1470025"/>
          </a:xfrm>
        </p:spPr>
        <p:txBody>
          <a:bodyPr anchor="b">
            <a:normAutofit/>
          </a:bodyPr>
          <a:lstStyle>
            <a:lvl1pPr algn="r">
              <a:defRPr sz="4400"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9" name="Subtitle 8"/>
          <p:cNvSpPr>
            <a:spLocks noGrp="1"/>
          </p:cNvSpPr>
          <p:nvPr>
            <p:ph type="subTitle" idx="1"/>
          </p:nvPr>
        </p:nvSpPr>
        <p:spPr>
          <a:xfrm>
            <a:off x="540544" y="2250280"/>
            <a:ext cx="8062912" cy="1752600"/>
          </a:xfrm>
        </p:spPr>
        <p:txBody>
          <a:bodyPr/>
          <a:lstStyle>
            <a:lvl1pPr marL="0" marR="36576" indent="0" algn="r">
              <a:spcBef>
                <a:spcPts val="0"/>
              </a:spcBef>
              <a:buNone/>
              <a:defRPr>
                <a:ln>
                  <a:solidFill>
                    <a:schemeClr val="bg2"/>
                  </a:solidFill>
                </a:ln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en-US" smtClean="0"/>
              <a:t>Click to edit Master subtitle style</a:t>
            </a:r>
            <a:endParaRPr kumimoji="0" lang="en-US"/>
          </a:p>
        </p:txBody>
      </p:sp>
      <p:sp>
        <p:nvSpPr>
          <p:cNvPr id="28" name="Date Placeholder 27"/>
          <p:cNvSpPr>
            <a:spLocks noGrp="1"/>
          </p:cNvSpPr>
          <p:nvPr>
            <p:ph type="dt" sz="half" idx="10"/>
          </p:nvPr>
        </p:nvSpPr>
        <p:spPr>
          <a:xfrm>
            <a:off x="1371600" y="6012656"/>
            <a:ext cx="5791200" cy="365125"/>
          </a:xfrm>
        </p:spPr>
        <p:txBody>
          <a:bodyPr tIns="0" bIns="0" anchor="t"/>
          <a:lstStyle>
            <a:lvl1pPr algn="r">
              <a:defRPr sz="1000"/>
            </a:lvl1pPr>
          </a:lstStyle>
          <a:p>
            <a:fld id="{9924CF7D-B3A6-4B65-9AA5-29AEA4BA1ED8}" type="datetime1">
              <a:rPr lang="en-US" smtClean="0"/>
              <a:t>1/26/2018</a:t>
            </a:fld>
            <a:endParaRPr lang="en-US"/>
          </a:p>
        </p:txBody>
      </p:sp>
      <p:sp>
        <p:nvSpPr>
          <p:cNvPr id="17" name="Footer Placeholder 16"/>
          <p:cNvSpPr>
            <a:spLocks noGrp="1"/>
          </p:cNvSpPr>
          <p:nvPr>
            <p:ph type="ftr" sz="quarter" idx="11"/>
          </p:nvPr>
        </p:nvSpPr>
        <p:spPr>
          <a:xfrm>
            <a:off x="1371600" y="5650704"/>
            <a:ext cx="5791200" cy="365125"/>
          </a:xfrm>
        </p:spPr>
        <p:txBody>
          <a:bodyPr tIns="0" bIns="0" anchor="b"/>
          <a:lstStyle>
            <a:lvl1pPr algn="r">
              <a:defRPr sz="1100"/>
            </a:lvl1pPr>
          </a:lstStyle>
          <a:p>
            <a:r>
              <a:rPr lang="en-US" smtClean="0"/>
              <a:t>CT Dept, YCCE</a:t>
            </a:r>
            <a:endParaRPr lang="en-US"/>
          </a:p>
        </p:txBody>
      </p:sp>
      <p:sp>
        <p:nvSpPr>
          <p:cNvPr id="29" name="Slide Number Placeholder 28"/>
          <p:cNvSpPr>
            <a:spLocks noGrp="1"/>
          </p:cNvSpPr>
          <p:nvPr>
            <p:ph type="sldNum" sz="quarter" idx="12"/>
          </p:nvPr>
        </p:nvSpPr>
        <p:spPr>
          <a:xfrm>
            <a:off x="8392247" y="5752307"/>
            <a:ext cx="502920" cy="365125"/>
          </a:xfrm>
        </p:spPr>
        <p:txBody>
          <a:bodyPr anchor="ctr"/>
          <a:lstStyle>
            <a:lvl1pPr algn="ctr">
              <a:defRPr sz="1300">
                <a:solidFill>
                  <a:srgbClr val="FFFFFF"/>
                </a:solidFill>
              </a:defRPr>
            </a:lvl1pPr>
          </a:lstStyle>
          <a:p>
            <a:fld id="{BA4C9F97-4B11-4EF3-A227-EC3010DDDC4C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67494"/>
            <a:ext cx="8229600" cy="1399032"/>
          </a:xfrm>
        </p:spPr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882808"/>
            <a:ext cx="8229600" cy="4572000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791456" y="6480048"/>
            <a:ext cx="2133600" cy="301752"/>
          </a:xfrm>
        </p:spPr>
        <p:txBody>
          <a:bodyPr/>
          <a:lstStyle/>
          <a:p>
            <a:fld id="{0FAD5D53-23A4-4291-860B-5BB752CF175D}" type="datetime1">
              <a:rPr lang="en-US" smtClean="0"/>
              <a:t>1/26/2018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57200" y="6480969"/>
            <a:ext cx="4260056" cy="300831"/>
          </a:xfrm>
        </p:spPr>
        <p:txBody>
          <a:bodyPr/>
          <a:lstStyle/>
          <a:p>
            <a:r>
              <a:rPr lang="en-US" smtClean="0"/>
              <a:t>CT Dept, YCCE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4C9F97-4B11-4EF3-A227-EC3010DDDC4C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ight Triangle 8"/>
          <p:cNvSpPr/>
          <p:nvPr/>
        </p:nvSpPr>
        <p:spPr>
          <a:xfrm flipV="1">
            <a:off x="7034" y="7034"/>
            <a:ext cx="9129932" cy="6836899"/>
          </a:xfrm>
          <a:prstGeom prst="rtTriangle">
            <a:avLst/>
          </a:prstGeom>
          <a:gradFill flip="none" rotWithShape="1">
            <a:gsLst>
              <a:gs pos="0">
                <a:schemeClr val="tx2">
                  <a:alpha val="10000"/>
                </a:schemeClr>
              </a:gs>
              <a:gs pos="70000">
                <a:schemeClr val="tx2">
                  <a:alpha val="8000"/>
                </a:schemeClr>
              </a:gs>
              <a:gs pos="100000">
                <a:schemeClr val="tx2">
                  <a:alpha val="1000"/>
                </a:schemeClr>
              </a:gs>
            </a:gsLst>
            <a:lin ang="8000000" scaled="1"/>
            <a:tileRect/>
          </a:gra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algn="ctr" defTabSz="914400" rtl="0" eaLnBrk="1" latinLnBrk="0" hangingPunct="1"/>
            <a:endParaRPr kumimoji="0" lang="en-US" sz="1800" kern="1200">
              <a:solidFill>
                <a:schemeClr val="lt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8" name="Isosceles Triangle 7"/>
          <p:cNvSpPr/>
          <p:nvPr/>
        </p:nvSpPr>
        <p:spPr>
          <a:xfrm rot="5400000" flipV="1">
            <a:off x="7554353" y="309490"/>
            <a:ext cx="1892949" cy="1294228"/>
          </a:xfrm>
          <a:prstGeom prst="triangle">
            <a:avLst>
              <a:gd name="adj" fmla="val 51323"/>
            </a:avLst>
          </a:prstGeom>
          <a:gradFill flip="none" rotWithShape="1">
            <a:gsLst>
              <a:gs pos="0">
                <a:schemeClr val="accent1">
                  <a:shade val="30000"/>
                  <a:satMod val="155000"/>
                  <a:alpha val="100000"/>
                </a:schemeClr>
              </a:gs>
              <a:gs pos="60000">
                <a:schemeClr val="accent1">
                  <a:satMod val="160000"/>
                  <a:alpha val="100000"/>
                </a:schemeClr>
              </a:gs>
              <a:gs pos="100000">
                <a:schemeClr val="accent1">
                  <a:tint val="70000"/>
                  <a:satMod val="200000"/>
                  <a:alpha val="100000"/>
                </a:schemeClr>
              </a:gs>
            </a:gsLst>
            <a:lin ang="15500000" scaled="1"/>
            <a:tileRect/>
          </a:gra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955632" y="6477000"/>
            <a:ext cx="2133600" cy="304800"/>
          </a:xfrm>
        </p:spPr>
        <p:txBody>
          <a:bodyPr/>
          <a:lstStyle/>
          <a:p>
            <a:fld id="{B5DB9D78-C610-43C5-834F-3FB8F8AB2FFC}" type="datetime1">
              <a:rPr lang="en-US" smtClean="0"/>
              <a:t>1/26/2018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619376" y="6480969"/>
            <a:ext cx="4260056" cy="300831"/>
          </a:xfrm>
        </p:spPr>
        <p:txBody>
          <a:bodyPr/>
          <a:lstStyle/>
          <a:p>
            <a:r>
              <a:rPr lang="en-US" smtClean="0"/>
              <a:t>CT Dept, YCCE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451056" y="809624"/>
            <a:ext cx="502920" cy="300831"/>
          </a:xfrm>
        </p:spPr>
        <p:txBody>
          <a:bodyPr/>
          <a:lstStyle/>
          <a:p>
            <a:fld id="{BA4C9F97-4B11-4EF3-A227-EC3010DDDC4C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11" name="Straight Connector 10"/>
          <p:cNvCxnSpPr/>
          <p:nvPr/>
        </p:nvCxnSpPr>
        <p:spPr>
          <a:xfrm rot="10800000">
            <a:off x="6468794" y="9381"/>
            <a:ext cx="2672861" cy="1900210"/>
          </a:xfrm>
          <a:prstGeom prst="line">
            <a:avLst/>
          </a:prstGeom>
          <a:noFill/>
          <a:ln w="6000" cap="rnd" cmpd="sng" algn="ctr">
            <a:solidFill>
              <a:schemeClr val="bg2">
                <a:tint val="50000"/>
                <a:satMod val="200000"/>
                <a:alpha val="45000"/>
              </a:schemeClr>
            </a:solidFill>
            <a:prstDash val="soli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/>
          <p:cNvCxnSpPr/>
          <p:nvPr/>
        </p:nvCxnSpPr>
        <p:spPr>
          <a:xfrm flipV="1">
            <a:off x="0" y="7034"/>
            <a:ext cx="9136966" cy="6843933"/>
          </a:xfrm>
          <a:prstGeom prst="line">
            <a:avLst/>
          </a:prstGeom>
          <a:noFill/>
          <a:ln w="5000" cap="rnd" cmpd="sng" algn="ctr">
            <a:solidFill>
              <a:schemeClr val="bg2">
                <a:tint val="55000"/>
                <a:satMod val="200000"/>
                <a:alpha val="35000"/>
              </a:schemeClr>
            </a:solidFill>
            <a:prstDash val="soli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1000" y="271464"/>
            <a:ext cx="7239000" cy="1362075"/>
          </a:xfrm>
        </p:spPr>
        <p:txBody>
          <a:bodyPr anchor="ctr"/>
          <a:lstStyle>
            <a:lvl1pPr marL="0" algn="l">
              <a:buNone/>
              <a:defRPr sz="3600" b="1" cap="none" baseline="0"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81000" y="1633536"/>
            <a:ext cx="3886200" cy="2286000"/>
          </a:xfrm>
        </p:spPr>
        <p:txBody>
          <a:bodyPr anchor="t"/>
          <a:lstStyle>
            <a:lvl1pPr marL="54864" indent="0" algn="l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marL="0" algn="l">
              <a:defRPr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722437"/>
            <a:ext cx="4038600" cy="4525963"/>
          </a:xfrm>
        </p:spPr>
        <p:txBody>
          <a:bodyPr/>
          <a:lstStyle>
            <a:lvl1pPr>
              <a:defRPr sz="26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722437"/>
            <a:ext cx="4038600" cy="4525963"/>
          </a:xfrm>
        </p:spPr>
        <p:txBody>
          <a:bodyPr/>
          <a:lstStyle>
            <a:lvl1pPr>
              <a:defRPr sz="26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791456" y="6480969"/>
            <a:ext cx="2133600" cy="301752"/>
          </a:xfrm>
        </p:spPr>
        <p:txBody>
          <a:bodyPr/>
          <a:lstStyle/>
          <a:p>
            <a:fld id="{4338DF65-33A4-4ED8-8B80-5772B0EDDE6C}" type="datetime1">
              <a:rPr lang="en-US" smtClean="0"/>
              <a:t>1/26/2018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57200" y="6480969"/>
            <a:ext cx="4260056" cy="301752"/>
          </a:xfrm>
        </p:spPr>
        <p:txBody>
          <a:bodyPr/>
          <a:lstStyle/>
          <a:p>
            <a:r>
              <a:rPr lang="en-US" smtClean="0"/>
              <a:t>CT Dept, YCCE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7589520" y="6480969"/>
            <a:ext cx="502920" cy="301752"/>
          </a:xfrm>
        </p:spPr>
        <p:txBody>
          <a:bodyPr/>
          <a:lstStyle/>
          <a:p>
            <a:fld id="{BA4C9F97-4B11-4EF3-A227-EC3010DDDC4C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Comparison"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48198" y="290732"/>
            <a:ext cx="1066800" cy="6153912"/>
          </a:xfrm>
        </p:spPr>
        <p:txBody>
          <a:bodyPr vert="vert270" anchor="b"/>
          <a:lstStyle>
            <a:lvl1pPr marL="0" algn="ctr">
              <a:defRPr sz="3300" b="1">
                <a:ln w="6350">
                  <a:solidFill>
                    <a:schemeClr val="tx1"/>
                  </a:solidFill>
                </a:ln>
                <a:solidFill>
                  <a:schemeClr val="tx1"/>
                </a:solidFill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65006" y="290732"/>
            <a:ext cx="581024" cy="3017520"/>
          </a:xfrm>
          <a:solidFill>
            <a:schemeClr val="bg1"/>
          </a:solidFill>
          <a:ln w="12700">
            <a:noFill/>
          </a:ln>
        </p:spPr>
        <p:txBody>
          <a:bodyPr vert="vert270" anchor="ctr"/>
          <a:lstStyle>
            <a:lvl1pPr marL="0" indent="0" algn="ctr">
              <a:buNone/>
              <a:defRPr sz="1600" b="0">
                <a:solidFill>
                  <a:schemeClr val="tx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3"/>
          </p:nvPr>
        </p:nvSpPr>
        <p:spPr>
          <a:xfrm>
            <a:off x="1365006" y="3427124"/>
            <a:ext cx="581024" cy="3017520"/>
          </a:xfrm>
          <a:solidFill>
            <a:schemeClr val="bg1"/>
          </a:solidFill>
          <a:ln w="12700">
            <a:noFill/>
          </a:ln>
        </p:spPr>
        <p:txBody>
          <a:bodyPr vert="vert270" anchor="ctr"/>
          <a:lstStyle>
            <a:lvl1pPr marL="0" indent="0" algn="ctr">
              <a:buNone/>
              <a:defRPr sz="1600" b="0">
                <a:solidFill>
                  <a:schemeClr val="tx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2"/>
          </p:nvPr>
        </p:nvSpPr>
        <p:spPr>
          <a:xfrm>
            <a:off x="2022230" y="290732"/>
            <a:ext cx="6858000" cy="3017520"/>
          </a:xfrm>
        </p:spPr>
        <p:txBody>
          <a:bodyPr/>
          <a:lstStyle>
            <a:lvl1pPr algn="l">
              <a:defRPr sz="2400"/>
            </a:lvl1pPr>
            <a:lvl2pPr algn="l">
              <a:defRPr sz="2000"/>
            </a:lvl2pPr>
            <a:lvl3pPr algn="l">
              <a:defRPr sz="1800"/>
            </a:lvl3pPr>
            <a:lvl4pPr algn="l">
              <a:defRPr sz="1600"/>
            </a:lvl4pPr>
            <a:lvl5pPr algn="l">
              <a:defRPr sz="1600"/>
            </a:lvl5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2022230" y="3427124"/>
            <a:ext cx="6858000" cy="301752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4791456" y="6480969"/>
            <a:ext cx="2130552" cy="301752"/>
          </a:xfrm>
        </p:spPr>
        <p:txBody>
          <a:bodyPr/>
          <a:lstStyle/>
          <a:p>
            <a:fld id="{2418C0A1-48C9-49A9-88EF-E1A329D98726}" type="datetime1">
              <a:rPr lang="en-US" smtClean="0"/>
              <a:t>1/26/2018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457200" y="6480969"/>
            <a:ext cx="4261104" cy="301752"/>
          </a:xfrm>
        </p:spPr>
        <p:txBody>
          <a:bodyPr/>
          <a:lstStyle/>
          <a:p>
            <a:r>
              <a:rPr lang="en-US" smtClean="0"/>
              <a:t>CT Dept, YCCE</a:t>
            </a:r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7589520" y="6483096"/>
            <a:ext cx="502920" cy="301752"/>
          </a:xfrm>
        </p:spPr>
        <p:txBody>
          <a:bodyPr/>
          <a:lstStyle>
            <a:lvl1pPr algn="ctr">
              <a:defRPr/>
            </a:lvl1pPr>
          </a:lstStyle>
          <a:p>
            <a:fld id="{BA4C9F97-4B11-4EF3-A227-EC3010DDDC4C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="0"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5A1AED-C73F-40E6-861B-C01ED759940E}" type="datetime1">
              <a:rPr lang="en-US" smtClean="0"/>
              <a:t>1/26/2018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CT Dept, YCCE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4C9F97-4B11-4EF3-A227-EC3010DDDC4C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4791456" y="6480969"/>
            <a:ext cx="2133600" cy="301752"/>
          </a:xfrm>
        </p:spPr>
        <p:txBody>
          <a:bodyPr/>
          <a:lstStyle/>
          <a:p>
            <a:fld id="{7A1132F3-FAE4-44EE-8C31-C2BD3626F272}" type="datetime1">
              <a:rPr lang="en-US" smtClean="0"/>
              <a:t>1/26/2018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457200" y="6481890"/>
            <a:ext cx="4260056" cy="300831"/>
          </a:xfrm>
        </p:spPr>
        <p:txBody>
          <a:bodyPr/>
          <a:lstStyle/>
          <a:p>
            <a:r>
              <a:rPr lang="en-US" smtClean="0"/>
              <a:t>CT Dept, YCCE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7589520" y="6480969"/>
            <a:ext cx="502920" cy="301752"/>
          </a:xfrm>
        </p:spPr>
        <p:txBody>
          <a:bodyPr/>
          <a:lstStyle/>
          <a:p>
            <a:fld id="{BA4C9F97-4B11-4EF3-A227-EC3010DDDC4C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9456" y="367664"/>
            <a:ext cx="914400" cy="5943600"/>
          </a:xfrm>
        </p:spPr>
        <p:txBody>
          <a:bodyPr vert="vert270" anchor="b"/>
          <a:lstStyle>
            <a:lvl1pPr marL="0" marR="18288" algn="r">
              <a:spcBef>
                <a:spcPts val="0"/>
              </a:spcBef>
              <a:buNone/>
              <a:defRPr sz="2900" b="0" cap="all" baseline="0"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1135856" y="367664"/>
            <a:ext cx="2438400" cy="5943600"/>
          </a:xfrm>
        </p:spPr>
        <p:txBody>
          <a:bodyPr anchor="t"/>
          <a:lstStyle>
            <a:lvl1pPr marL="0" indent="0">
              <a:spcBef>
                <a:spcPts val="0"/>
              </a:spcBef>
              <a:buNone/>
              <a:defRPr sz="14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1"/>
          </p:nvPr>
        </p:nvSpPr>
        <p:spPr>
          <a:xfrm>
            <a:off x="3651250" y="320040"/>
            <a:ext cx="5276088" cy="5989320"/>
          </a:xfrm>
        </p:spPr>
        <p:txBody>
          <a:bodyPr/>
          <a:lstStyle>
            <a:lvl1pPr>
              <a:spcBef>
                <a:spcPts val="0"/>
              </a:spcBef>
              <a:defRPr sz="3000"/>
            </a:lvl1pPr>
            <a:lvl2pPr>
              <a:defRPr sz="26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278976" y="6556248"/>
            <a:ext cx="2133600" cy="301752"/>
          </a:xfrm>
        </p:spPr>
        <p:txBody>
          <a:bodyPr/>
          <a:lstStyle>
            <a:lvl1pPr>
              <a:defRPr sz="900"/>
            </a:lvl1pPr>
          </a:lstStyle>
          <a:p>
            <a:fld id="{90658AB7-69F8-4D41-8866-6DE7C6CDA6B3}" type="datetime1">
              <a:rPr lang="en-US" smtClean="0"/>
              <a:t>1/26/2018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135856" y="6556248"/>
            <a:ext cx="5143120" cy="301752"/>
          </a:xfrm>
        </p:spPr>
        <p:txBody>
          <a:bodyPr/>
          <a:lstStyle>
            <a:lvl1pPr>
              <a:defRPr sz="900"/>
            </a:lvl1pPr>
          </a:lstStyle>
          <a:p>
            <a:r>
              <a:rPr lang="en-US" smtClean="0"/>
              <a:t>CT Dept, YCCE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410576" y="6556248"/>
            <a:ext cx="502920" cy="301752"/>
          </a:xfrm>
        </p:spPr>
        <p:txBody>
          <a:bodyPr/>
          <a:lstStyle>
            <a:lvl1pPr>
              <a:defRPr sz="900"/>
            </a:lvl1pPr>
          </a:lstStyle>
          <a:p>
            <a:fld id="{BA4C9F97-4B11-4EF3-A227-EC3010DDDC4C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9456" y="150896"/>
            <a:ext cx="914400" cy="6400800"/>
          </a:xfrm>
        </p:spPr>
        <p:txBody>
          <a:bodyPr vert="vert270" anchor="b"/>
          <a:lstStyle>
            <a:lvl1pPr marL="0" algn="l">
              <a:buNone/>
              <a:defRPr sz="3000" b="0" cap="all" baseline="0"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138237" y="373966"/>
            <a:ext cx="7333488" cy="5486400"/>
          </a:xfrm>
          <a:solidFill>
            <a:schemeClr val="bg2">
              <a:shade val="50000"/>
            </a:schemeClr>
          </a:solidFill>
        </p:spPr>
        <p:txBody>
          <a:bodyPr/>
          <a:lstStyle>
            <a:lvl1pPr marL="0" indent="0">
              <a:buNone/>
              <a:defRPr sz="3200"/>
            </a:lvl1pPr>
          </a:lstStyle>
          <a:p>
            <a:r>
              <a:rPr kumimoji="0" lang="en-US" smtClean="0"/>
              <a:t>Click icon to add picture</a:t>
            </a:r>
            <a:endParaRPr kumimoji="0"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3000" y="5867400"/>
            <a:ext cx="7333488" cy="685800"/>
          </a:xfrm>
          <a:solidFill>
            <a:schemeClr val="accent1">
              <a:alpha val="15000"/>
            </a:schemeClr>
          </a:solidFill>
          <a:ln>
            <a:solidFill>
              <a:schemeClr val="accent1"/>
            </a:solidFill>
            <a:miter lim="800000"/>
          </a:ln>
        </p:spPr>
        <p:txBody>
          <a:bodyPr/>
          <a:lstStyle>
            <a:lvl1pPr marL="0" indent="0">
              <a:spcBef>
                <a:spcPts val="0"/>
              </a:spcBef>
              <a:buNone/>
              <a:defRPr sz="14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108192" y="6556248"/>
            <a:ext cx="2103120" cy="301752"/>
          </a:xfrm>
        </p:spPr>
        <p:txBody>
          <a:bodyPr/>
          <a:lstStyle>
            <a:lvl1pPr>
              <a:defRPr sz="900"/>
            </a:lvl1pPr>
          </a:lstStyle>
          <a:p>
            <a:fld id="{0CA7DFF2-997D-4B39-BCCD-14D3AD56E0C3}" type="datetime1">
              <a:rPr lang="en-US" smtClean="0"/>
              <a:t>1/26/2018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170432" y="6557169"/>
            <a:ext cx="4948072" cy="301752"/>
          </a:xfrm>
        </p:spPr>
        <p:txBody>
          <a:bodyPr/>
          <a:lstStyle>
            <a:lvl1pPr>
              <a:defRPr sz="900"/>
            </a:lvl1pPr>
          </a:lstStyle>
          <a:p>
            <a:r>
              <a:rPr lang="en-US" smtClean="0"/>
              <a:t>CT Dept, YCCE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217192" y="6556248"/>
            <a:ext cx="365760" cy="301752"/>
          </a:xfrm>
        </p:spPr>
        <p:txBody>
          <a:bodyPr/>
          <a:lstStyle>
            <a:lvl1pPr algn="ctr">
              <a:defRPr sz="900"/>
            </a:lvl1pPr>
          </a:lstStyle>
          <a:p>
            <a:fld id="{BA4C9F97-4B11-4EF3-A227-EC3010DDDC4C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589D08-B61E-4842-A7FB-D801E738A870}" type="datetime1">
              <a:rPr lang="en-US" smtClean="0"/>
              <a:t>1/26/2018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CT Dept, YCCE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4C9F97-4B11-4EF3-A227-EC3010DDDC4C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781800" y="381000"/>
            <a:ext cx="1905000" cy="5486400"/>
          </a:xfrm>
        </p:spPr>
        <p:txBody>
          <a:bodyPr vert="eaVert"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381000"/>
            <a:ext cx="6248400" cy="5486400"/>
          </a:xfrm>
        </p:spPr>
        <p:txBody>
          <a:bodyPr vert="eaVert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69E7B8-0681-4346-864B-A28678269E35}" type="datetime1">
              <a:rPr lang="en-US" smtClean="0"/>
              <a:t>1/26/2018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CT Dept, YCCE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4C9F97-4B11-4EF3-A227-EC3010DDDC4C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ight Triangle 10"/>
          <p:cNvSpPr/>
          <p:nvPr/>
        </p:nvSpPr>
        <p:spPr>
          <a:xfrm>
            <a:off x="7034" y="14068"/>
            <a:ext cx="9129932" cy="6836899"/>
          </a:xfrm>
          <a:prstGeom prst="rtTriangle">
            <a:avLst/>
          </a:prstGeom>
          <a:gradFill flip="none" rotWithShape="1">
            <a:gsLst>
              <a:gs pos="0">
                <a:schemeClr val="tx2">
                  <a:alpha val="10000"/>
                </a:schemeClr>
              </a:gs>
              <a:gs pos="70000">
                <a:schemeClr val="tx2">
                  <a:alpha val="8000"/>
                </a:schemeClr>
              </a:gs>
              <a:gs pos="100000">
                <a:schemeClr val="tx2">
                  <a:alpha val="1000"/>
                </a:schemeClr>
              </a:gs>
            </a:gsLst>
            <a:lin ang="8000000" scaled="1"/>
            <a:tileRect/>
          </a:gra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cxnSp>
        <p:nvCxnSpPr>
          <p:cNvPr id="8" name="Straight Connector 7"/>
          <p:cNvCxnSpPr/>
          <p:nvPr/>
        </p:nvCxnSpPr>
        <p:spPr>
          <a:xfrm>
            <a:off x="0" y="7034"/>
            <a:ext cx="9136966" cy="6843933"/>
          </a:xfrm>
          <a:prstGeom prst="line">
            <a:avLst/>
          </a:prstGeom>
          <a:noFill/>
          <a:ln w="5000" cap="rnd" cmpd="sng" algn="ctr">
            <a:solidFill>
              <a:schemeClr val="bg2">
                <a:tint val="55000"/>
                <a:satMod val="200000"/>
                <a:alpha val="35000"/>
              </a:schemeClr>
            </a:solidFill>
            <a:prstDash val="soli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/>
          <p:cNvCxnSpPr/>
          <p:nvPr/>
        </p:nvCxnSpPr>
        <p:spPr>
          <a:xfrm rot="10800000" flipV="1">
            <a:off x="6468794" y="4948410"/>
            <a:ext cx="2672861" cy="1900210"/>
          </a:xfrm>
          <a:prstGeom prst="line">
            <a:avLst/>
          </a:prstGeom>
          <a:noFill/>
          <a:ln w="6000" cap="rnd" cmpd="sng" algn="ctr">
            <a:solidFill>
              <a:schemeClr val="bg2">
                <a:tint val="50000"/>
                <a:satMod val="200000"/>
                <a:alpha val="45000"/>
              </a:schemeClr>
            </a:solidFill>
            <a:prstDash val="soli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itle Placeholder 21"/>
          <p:cNvSpPr>
            <a:spLocks noGrp="1"/>
          </p:cNvSpPr>
          <p:nvPr>
            <p:ph type="title"/>
          </p:nvPr>
        </p:nvSpPr>
        <p:spPr>
          <a:xfrm>
            <a:off x="457200" y="267494"/>
            <a:ext cx="8229600" cy="1399032"/>
          </a:xfrm>
          <a:prstGeom prst="rect">
            <a:avLst/>
          </a:prstGeom>
        </p:spPr>
        <p:txBody>
          <a:bodyPr vert="horz" anchor="ctr">
            <a:normAutofit/>
          </a:bodyPr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13" name="Text Placeholder 12"/>
          <p:cNvSpPr>
            <a:spLocks noGrp="1"/>
          </p:cNvSpPr>
          <p:nvPr>
            <p:ph type="body" idx="1"/>
          </p:nvPr>
        </p:nvSpPr>
        <p:spPr>
          <a:xfrm>
            <a:off x="457200" y="1882808"/>
            <a:ext cx="8229600" cy="4572000"/>
          </a:xfrm>
          <a:prstGeom prst="rect">
            <a:avLst/>
          </a:prstGeom>
        </p:spPr>
        <p:txBody>
          <a:bodyPr vert="horz" anchor="t">
            <a:normAutofit/>
          </a:bodyPr>
          <a:lstStyle/>
          <a:p>
            <a:pPr lvl="0" eaLnBrk="1" latinLnBrk="0" hangingPunct="1"/>
            <a:r>
              <a:rPr kumimoji="0" lang="en-US" smtClean="0"/>
              <a:t>Click to edit Master text styles</a:t>
            </a:r>
          </a:p>
          <a:p>
            <a:pPr lvl="1" eaLnBrk="1" latinLnBrk="0" hangingPunct="1"/>
            <a:r>
              <a:rPr kumimoji="0" lang="en-US" smtClean="0"/>
              <a:t>Second level</a:t>
            </a:r>
          </a:p>
          <a:p>
            <a:pPr lvl="2" eaLnBrk="1" latinLnBrk="0" hangingPunct="1"/>
            <a:r>
              <a:rPr kumimoji="0" lang="en-US" smtClean="0"/>
              <a:t>Third level</a:t>
            </a:r>
          </a:p>
          <a:p>
            <a:pPr lvl="3" eaLnBrk="1" latinLnBrk="0" hangingPunct="1"/>
            <a:r>
              <a:rPr kumimoji="0" lang="en-US" smtClean="0"/>
              <a:t>Fourth level</a:t>
            </a:r>
          </a:p>
          <a:p>
            <a:pPr lvl="4" eaLnBrk="1" latinLnBrk="0" hangingPunct="1"/>
            <a:r>
              <a:rPr kumimoji="0" lang="en-US" smtClean="0"/>
              <a:t>Fifth level</a:t>
            </a:r>
            <a:endParaRPr kumimoji="0" lang="en-US"/>
          </a:p>
        </p:txBody>
      </p:sp>
      <p:sp>
        <p:nvSpPr>
          <p:cNvPr id="14" name="Date Placeholder 13"/>
          <p:cNvSpPr>
            <a:spLocks noGrp="1"/>
          </p:cNvSpPr>
          <p:nvPr>
            <p:ph type="dt" sz="half" idx="2"/>
          </p:nvPr>
        </p:nvSpPr>
        <p:spPr>
          <a:xfrm>
            <a:off x="4791456" y="6480969"/>
            <a:ext cx="2133600" cy="301752"/>
          </a:xfrm>
          <a:prstGeom prst="rect">
            <a:avLst/>
          </a:prstGeom>
        </p:spPr>
        <p:txBody>
          <a:bodyPr vert="horz" anchor="b"/>
          <a:lstStyle>
            <a:lvl1pPr algn="l" eaLnBrk="1" latinLnBrk="0" hangingPunct="1">
              <a:defRPr kumimoji="0" sz="1000" b="0">
                <a:solidFill>
                  <a:schemeClr val="tx1"/>
                </a:solidFill>
              </a:defRPr>
            </a:lvl1pPr>
          </a:lstStyle>
          <a:p>
            <a:fld id="{C0BF36DD-2C8F-4595-BF6A-5F7307C47843}" type="datetime1">
              <a:rPr lang="en-US" smtClean="0"/>
              <a:t>1/26/2018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3"/>
          </p:nvPr>
        </p:nvSpPr>
        <p:spPr>
          <a:xfrm>
            <a:off x="457200" y="6481890"/>
            <a:ext cx="4260056" cy="300831"/>
          </a:xfrm>
          <a:prstGeom prst="rect">
            <a:avLst/>
          </a:prstGeom>
        </p:spPr>
        <p:txBody>
          <a:bodyPr vert="horz" anchor="b"/>
          <a:lstStyle>
            <a:lvl1pPr algn="r" eaLnBrk="1" latinLnBrk="0" hangingPunct="1">
              <a:defRPr kumimoji="0" sz="1000">
                <a:solidFill>
                  <a:schemeClr val="tx1"/>
                </a:solidFill>
              </a:defRPr>
            </a:lvl1pPr>
          </a:lstStyle>
          <a:p>
            <a:r>
              <a:rPr lang="en-US" smtClean="0"/>
              <a:t>CT Dept, YCCE</a:t>
            </a:r>
            <a:endParaRPr lang="en-US"/>
          </a:p>
        </p:txBody>
      </p:sp>
      <p:sp>
        <p:nvSpPr>
          <p:cNvPr id="23" name="Slide Number Placeholder 22"/>
          <p:cNvSpPr>
            <a:spLocks noGrp="1"/>
          </p:cNvSpPr>
          <p:nvPr>
            <p:ph type="sldNum" sz="quarter" idx="4"/>
          </p:nvPr>
        </p:nvSpPr>
        <p:spPr>
          <a:xfrm>
            <a:off x="7589520" y="6480969"/>
            <a:ext cx="502920" cy="301752"/>
          </a:xfrm>
          <a:prstGeom prst="rect">
            <a:avLst/>
          </a:prstGeom>
        </p:spPr>
        <p:txBody>
          <a:bodyPr vert="horz" anchor="b"/>
          <a:lstStyle>
            <a:lvl1pPr algn="ctr" eaLnBrk="1" latinLnBrk="0" hangingPunct="1">
              <a:defRPr kumimoji="0" sz="1200">
                <a:solidFill>
                  <a:schemeClr val="tx1"/>
                </a:solidFill>
              </a:defRPr>
            </a:lvl1pPr>
          </a:lstStyle>
          <a:p>
            <a:fld id="{BA4C9F97-4B11-4EF3-A227-EC3010DDDC4C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hdr="0" dt="0"/>
  <p:txStyles>
    <p:titleStyle>
      <a:lvl1pPr marL="484632" algn="l" rtl="0" eaLnBrk="1" latinLnBrk="0" hangingPunct="1">
        <a:spcBef>
          <a:spcPct val="0"/>
        </a:spcBef>
        <a:buNone/>
        <a:defRPr kumimoji="0" sz="4200" kern="1200">
          <a:ln w="6350">
            <a:solidFill>
              <a:schemeClr val="accent1">
                <a:shade val="43000"/>
              </a:schemeClr>
            </a:solidFill>
          </a:ln>
          <a:solidFill>
            <a:schemeClr val="accent1">
              <a:tint val="83000"/>
              <a:satMod val="150000"/>
            </a:schemeClr>
          </a:solidFill>
          <a:effectLst>
            <a:outerShdw blurRad="26000" dist="26000" dir="14500000" algn="tl" rotWithShape="0">
              <a:srgbClr val="000000">
                <a:alpha val="40000"/>
              </a:srgbClr>
            </a:outerShdw>
          </a:effectLst>
          <a:latin typeface="+mj-lt"/>
          <a:ea typeface="+mj-ea"/>
          <a:cs typeface="+mj-cs"/>
        </a:defRPr>
      </a:lvl1pPr>
    </p:titleStyle>
    <p:bodyStyle>
      <a:lvl1pPr marL="448056" indent="-384048" algn="l" rtl="0" eaLnBrk="1" latinLnBrk="0" hangingPunct="1">
        <a:spcBef>
          <a:spcPct val="20000"/>
        </a:spcBef>
        <a:buClr>
          <a:schemeClr val="accent1"/>
        </a:buClr>
        <a:buSzPct val="80000"/>
        <a:buFont typeface="Wingdings 2"/>
        <a:buChar char=""/>
        <a:defRPr kumimoji="0" sz="3000" kern="1200">
          <a:solidFill>
            <a:schemeClr val="tx1"/>
          </a:solidFill>
          <a:latin typeface="+mn-lt"/>
          <a:ea typeface="+mn-ea"/>
          <a:cs typeface="+mn-cs"/>
        </a:defRPr>
      </a:lvl1pPr>
      <a:lvl2pPr marL="822960" indent="-285750" algn="l" rtl="0" eaLnBrk="1" latinLnBrk="0" hangingPunct="1">
        <a:spcBef>
          <a:spcPct val="20000"/>
        </a:spcBef>
        <a:buClr>
          <a:schemeClr val="accent1"/>
        </a:buClr>
        <a:buSzPct val="95000"/>
        <a:buFont typeface="Verdana"/>
        <a:buChar char="›"/>
        <a:defRPr kumimoji="0" sz="2600" kern="1200">
          <a:solidFill>
            <a:schemeClr val="tx1"/>
          </a:solidFill>
          <a:latin typeface="+mn-lt"/>
          <a:ea typeface="+mn-ea"/>
          <a:cs typeface="+mn-cs"/>
        </a:defRPr>
      </a:lvl2pPr>
      <a:lvl3pPr marL="1106424" indent="-228600" algn="l" rtl="0" eaLnBrk="1" latinLnBrk="0" hangingPunct="1">
        <a:spcBef>
          <a:spcPct val="20000"/>
        </a:spcBef>
        <a:buClr>
          <a:schemeClr val="accent1"/>
        </a:buClr>
        <a:buFont typeface="Wingdings 2"/>
        <a:buChar char=""/>
        <a:defRPr kumimoji="0"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indent="-210312" algn="l" rtl="0" eaLnBrk="1" latinLnBrk="0" hangingPunct="1">
        <a:spcBef>
          <a:spcPct val="20000"/>
        </a:spcBef>
        <a:buClr>
          <a:schemeClr val="accent1"/>
        </a:buClr>
        <a:buFont typeface="Wingdings 2"/>
        <a:buChar char="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600200" indent="-210312" algn="l" rtl="0" eaLnBrk="1" latinLnBrk="0" hangingPunct="1">
        <a:spcBef>
          <a:spcPct val="20000"/>
        </a:spcBef>
        <a:buClr>
          <a:schemeClr val="accent1">
            <a:tint val="75000"/>
          </a:schemeClr>
        </a:buClr>
        <a:buFont typeface="Wingdings 2"/>
        <a:buChar char=""/>
        <a:defRPr kumimoji="0" sz="1900" kern="1200">
          <a:solidFill>
            <a:schemeClr val="tx1"/>
          </a:solidFill>
          <a:latin typeface="+mn-lt"/>
          <a:ea typeface="+mn-ea"/>
          <a:cs typeface="+mn-cs"/>
        </a:defRPr>
      </a:lvl5pPr>
      <a:lvl6pPr marL="1828800" indent="-210312" algn="l" rtl="0" eaLnBrk="1" latinLnBrk="0" hangingPunct="1">
        <a:spcBef>
          <a:spcPct val="20000"/>
        </a:spcBef>
        <a:buClr>
          <a:schemeClr val="accent1">
            <a:tint val="75000"/>
          </a:schemeClr>
        </a:buClr>
        <a:buFont typeface="Wingdings 2"/>
        <a:buChar char="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084832" indent="-210312" algn="l" rtl="0" eaLnBrk="1" latinLnBrk="0" hangingPunct="1">
        <a:spcBef>
          <a:spcPct val="20000"/>
        </a:spcBef>
        <a:buClr>
          <a:schemeClr val="accent1">
            <a:tint val="75000"/>
          </a:schemeClr>
        </a:buClr>
        <a:buFont typeface="Wingdings 2"/>
        <a:buChar char="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2286000" indent="-182880" algn="l" rtl="0" eaLnBrk="1" latinLnBrk="0" hangingPunct="1">
        <a:spcBef>
          <a:spcPct val="20000"/>
        </a:spcBef>
        <a:buClr>
          <a:schemeClr val="accent1">
            <a:tint val="75000"/>
          </a:schemeClr>
        </a:buClr>
        <a:buFont typeface="Wingdings 2"/>
        <a:buChar char="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514600" indent="-182880" algn="l" rtl="0" eaLnBrk="1" latinLnBrk="0" hangingPunct="1">
        <a:spcBef>
          <a:spcPct val="20000"/>
        </a:spcBef>
        <a:buClr>
          <a:schemeClr val="accent1">
            <a:tint val="75000"/>
          </a:schemeClr>
        </a:buClr>
        <a:buFont typeface="Wingdings 2"/>
        <a:buChar char="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hyperlink" Target="http://stattrek.com/Help/Glossary.aspx?Target=Median" TargetMode="External"/><Relationship Id="rId2" Type="http://schemas.openxmlformats.org/officeDocument/2006/relationships/hyperlink" Target="http://stattrek.com/Help/Glossary.aspx?Target=Quartile" TargetMode="Externa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smtClean="0"/>
              <a:t>Data Visualization Using ‘R’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 smtClean="0"/>
              <a:t>Prof. </a:t>
            </a:r>
            <a:r>
              <a:rPr lang="en-US" dirty="0" err="1" smtClean="0"/>
              <a:t>Prarthana</a:t>
            </a:r>
            <a:r>
              <a:rPr lang="en-US" dirty="0" smtClean="0"/>
              <a:t> </a:t>
            </a:r>
            <a:r>
              <a:rPr lang="en-US" dirty="0" err="1" smtClean="0"/>
              <a:t>Deshkar</a:t>
            </a:r>
            <a:endParaRPr lang="en-US" dirty="0" smtClean="0"/>
          </a:p>
          <a:p>
            <a:r>
              <a:rPr lang="en-US" dirty="0" smtClean="0"/>
              <a:t>YCCE, Nagpur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8684078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400" dirty="0"/>
              <a:t>Numbers do not speak…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447800"/>
            <a:ext cx="8229600" cy="5181600"/>
          </a:xfrm>
        </p:spPr>
        <p:txBody>
          <a:bodyPr>
            <a:normAutofit lnSpcReduction="10000"/>
          </a:bodyPr>
          <a:lstStyle/>
          <a:p>
            <a:r>
              <a:rPr lang="en-US" dirty="0" smtClean="0"/>
              <a:t>Sample of Daily production in yards of 30 carpet looms</a:t>
            </a:r>
            <a:endParaRPr lang="en-GB" dirty="0" smtClean="0"/>
          </a:p>
          <a:p>
            <a:endParaRPr lang="en-US" dirty="0" smtClean="0"/>
          </a:p>
          <a:p>
            <a:endParaRPr lang="en-US" dirty="0"/>
          </a:p>
          <a:p>
            <a:endParaRPr lang="en-US" dirty="0" smtClean="0"/>
          </a:p>
          <a:p>
            <a:endParaRPr lang="en-US" dirty="0"/>
          </a:p>
          <a:p>
            <a:endParaRPr lang="en-US" dirty="0" smtClean="0"/>
          </a:p>
          <a:p>
            <a:endParaRPr lang="en-US" dirty="0"/>
          </a:p>
          <a:p>
            <a:r>
              <a:rPr lang="en-US" dirty="0" smtClean="0"/>
              <a:t>Can you tell what is the range for which production frequency is highest? </a:t>
            </a:r>
            <a:endParaRPr lang="en-US" dirty="0"/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50402190"/>
              </p:ext>
            </p:extLst>
          </p:nvPr>
        </p:nvGraphicFramePr>
        <p:xfrm>
          <a:off x="1219200" y="2628899"/>
          <a:ext cx="4658814" cy="2514601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776469"/>
                <a:gridCol w="776469"/>
                <a:gridCol w="776469"/>
                <a:gridCol w="776469"/>
                <a:gridCol w="776469"/>
                <a:gridCol w="776469"/>
              </a:tblGrid>
              <a:tr h="478749">
                <a:tc>
                  <a:txBody>
                    <a:bodyPr/>
                    <a:lstStyle/>
                    <a:p>
                      <a:r>
                        <a:rPr lang="en-US" dirty="0" smtClean="0"/>
                        <a:t>16.2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15.8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15.8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15.8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16.3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15.6</a:t>
                      </a:r>
                      <a:endParaRPr lang="en-GB" dirty="0"/>
                    </a:p>
                  </a:txBody>
                  <a:tcPr/>
                </a:tc>
              </a:tr>
              <a:tr h="508963">
                <a:tc>
                  <a:txBody>
                    <a:bodyPr/>
                    <a:lstStyle/>
                    <a:p>
                      <a:r>
                        <a:rPr lang="en-US" dirty="0" smtClean="0"/>
                        <a:t>15.7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16.0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16.2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16.1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16.8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16.0</a:t>
                      </a:r>
                      <a:endParaRPr lang="en-GB" dirty="0"/>
                    </a:p>
                  </a:txBody>
                  <a:tcPr/>
                </a:tc>
              </a:tr>
              <a:tr h="508963">
                <a:tc>
                  <a:txBody>
                    <a:bodyPr/>
                    <a:lstStyle/>
                    <a:p>
                      <a:r>
                        <a:rPr lang="en-US" dirty="0" smtClean="0"/>
                        <a:t>16.4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15.2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15.9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15.9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15.9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16.8</a:t>
                      </a:r>
                      <a:endParaRPr lang="en-GB" dirty="0"/>
                    </a:p>
                  </a:txBody>
                  <a:tcPr/>
                </a:tc>
              </a:tr>
              <a:tr h="508963">
                <a:tc>
                  <a:txBody>
                    <a:bodyPr/>
                    <a:lstStyle/>
                    <a:p>
                      <a:r>
                        <a:rPr lang="en-US" dirty="0" smtClean="0"/>
                        <a:t>15.4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15.7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15.9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16.0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16.3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16.0</a:t>
                      </a:r>
                      <a:endParaRPr lang="en-GB" dirty="0"/>
                    </a:p>
                  </a:txBody>
                  <a:tcPr/>
                </a:tc>
              </a:tr>
              <a:tr h="508963">
                <a:tc>
                  <a:txBody>
                    <a:bodyPr/>
                    <a:lstStyle/>
                    <a:p>
                      <a:r>
                        <a:rPr lang="en-US" dirty="0" smtClean="0"/>
                        <a:t>16.4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16.6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15.6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15.6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16.9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16.3</a:t>
                      </a:r>
                      <a:endParaRPr lang="en-GB" dirty="0"/>
                    </a:p>
                  </a:txBody>
                  <a:tcPr/>
                </a:tc>
              </a:tr>
            </a:tbl>
          </a:graphicData>
        </a:graphic>
      </p:graphicFrame>
      <p:pic>
        <p:nvPicPr>
          <p:cNvPr id="5" name="Picture 2" descr="C:\Users\Prashant\Desktop\index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400800" y="2819400"/>
            <a:ext cx="2133600" cy="2133600"/>
          </a:xfrm>
          <a:prstGeom prst="rect">
            <a:avLst/>
          </a:prstGeom>
          <a:noFill/>
        </p:spPr>
      </p:pic>
      <p:sp>
        <p:nvSpPr>
          <p:cNvPr id="8" name="Slide Number Placeholder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4C9F97-4B11-4EF3-A227-EC3010DDDC4C}" type="slidenum">
              <a:rPr lang="en-US" smtClean="0"/>
              <a:pPr/>
              <a:t>2</a:t>
            </a:fld>
            <a:endParaRPr lang="en-US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CT Dept, YCCE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699150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400" dirty="0"/>
              <a:t>Graphs does…</a:t>
            </a:r>
          </a:p>
        </p:txBody>
      </p:sp>
      <p:pic>
        <p:nvPicPr>
          <p:cNvPr id="4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57200" y="2362200"/>
            <a:ext cx="7391400" cy="42671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5" name="Picture 4"/>
          <p:cNvPicPr>
            <a:picLocks noChangeAspect="1" noChangeArrowheads="1"/>
          </p:cNvPicPr>
          <p:nvPr/>
        </p:nvPicPr>
        <p:blipFill>
          <a:blip r:embed="rId3">
            <a:duotone>
              <a:prstClr val="black"/>
              <a:schemeClr val="accent1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86600" y="152400"/>
            <a:ext cx="2057400" cy="220659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8" name="Slide Number Placeholder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4C9F97-4B11-4EF3-A227-EC3010DDDC4C}" type="slidenum">
              <a:rPr lang="en-US" smtClean="0"/>
              <a:pPr/>
              <a:t>3</a:t>
            </a:fld>
            <a:endParaRPr lang="en-US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CT Dept, YCCE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611781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400" dirty="0"/>
              <a:t>Data visualization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800100" lvl="1" indent="-342900">
              <a:buFont typeface="Wingdings" pitchFamily="2" charset="2"/>
              <a:buChar char="Ø"/>
            </a:pPr>
            <a:r>
              <a:rPr lang="en-US" sz="2700" dirty="0" smtClean="0">
                <a:latin typeface="Arial" pitchFamily="34" charset="0"/>
                <a:cs typeface="Times New Roman" pitchFamily="18" charset="0"/>
              </a:rPr>
              <a:t>Visualization is the graphical presentation of information, with the goal of providing the viewer with a qualitative understanding of the information contents.</a:t>
            </a:r>
          </a:p>
          <a:p>
            <a:pPr lvl="1"/>
            <a:endParaRPr lang="en-US" sz="2700" dirty="0" smtClean="0">
              <a:latin typeface="Arial" pitchFamily="34" charset="0"/>
              <a:cs typeface="Times New Roman" pitchFamily="18" charset="0"/>
            </a:endParaRPr>
          </a:p>
          <a:p>
            <a:pPr marL="800100" lvl="1" indent="-342900">
              <a:buFont typeface="Wingdings" pitchFamily="2" charset="2"/>
              <a:buChar char="Ø"/>
            </a:pPr>
            <a:r>
              <a:rPr lang="en-US" sz="2700" dirty="0" smtClean="0">
                <a:latin typeface="Arial" pitchFamily="34" charset="0"/>
                <a:cs typeface="Times New Roman" pitchFamily="18" charset="0"/>
              </a:rPr>
              <a:t> Graphical presentation may entail manipulation of graphical entities (points, lines, shapes, images, text) and attributes (color, size, position, shape).</a:t>
            </a:r>
          </a:p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4C9F97-4B11-4EF3-A227-EC3010DDDC4C}" type="slidenum">
              <a:rPr lang="en-US" smtClean="0"/>
              <a:pPr/>
              <a:t>4</a:t>
            </a:fld>
            <a:endParaRPr lang="en-US"/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CT Dept, YCCE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084652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52400"/>
            <a:ext cx="8229600" cy="1399032"/>
          </a:xfrm>
        </p:spPr>
        <p:txBody>
          <a:bodyPr>
            <a:normAutofit/>
          </a:bodyPr>
          <a:lstStyle/>
          <a:p>
            <a:r>
              <a:rPr lang="en-US" sz="4400" dirty="0"/>
              <a:t>Common Techniques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19200"/>
            <a:ext cx="8229600" cy="5257800"/>
          </a:xfrm>
        </p:spPr>
        <p:txBody>
          <a:bodyPr>
            <a:normAutofit fontScale="85000" lnSpcReduction="20000"/>
          </a:bodyPr>
          <a:lstStyle/>
          <a:p>
            <a:pPr marL="457200" indent="-457200"/>
            <a:r>
              <a:rPr lang="en-US" dirty="0" smtClean="0">
                <a:latin typeface="Arial" pitchFamily="34" charset="0"/>
                <a:cs typeface="Arial" pitchFamily="34" charset="0"/>
              </a:rPr>
              <a:t>Charts: bar or pie</a:t>
            </a:r>
          </a:p>
          <a:p>
            <a:pPr marL="457200" indent="-457200"/>
            <a:endParaRPr lang="en-US" dirty="0" smtClean="0">
              <a:latin typeface="Arial" pitchFamily="34" charset="0"/>
              <a:cs typeface="Arial" pitchFamily="34" charset="0"/>
            </a:endParaRPr>
          </a:p>
          <a:p>
            <a:pPr marL="457200" indent="-457200"/>
            <a:r>
              <a:rPr lang="en-US" dirty="0" smtClean="0">
                <a:latin typeface="Arial" pitchFamily="34" charset="0"/>
                <a:cs typeface="Arial" pitchFamily="34" charset="0"/>
              </a:rPr>
              <a:t>Graphs: good for structure, relationships     </a:t>
            </a:r>
          </a:p>
          <a:p>
            <a:pPr marL="64008" indent="0">
              <a:buNone/>
            </a:pPr>
            <a:r>
              <a:rPr lang="en-US" dirty="0" smtClean="0">
                <a:latin typeface="Arial" pitchFamily="34" charset="0"/>
                <a:cs typeface="Arial" pitchFamily="34" charset="0"/>
              </a:rPr>
              <a:t>                                       </a:t>
            </a:r>
          </a:p>
          <a:p>
            <a:pPr marL="457200" indent="-457200"/>
            <a:r>
              <a:rPr lang="en-US" dirty="0" smtClean="0">
                <a:latin typeface="Arial" pitchFamily="34" charset="0"/>
                <a:cs typeface="Arial" pitchFamily="34" charset="0"/>
              </a:rPr>
              <a:t>Plots: 1- to n-dimensional</a:t>
            </a:r>
          </a:p>
          <a:p>
            <a:pPr marL="457200" indent="-457200"/>
            <a:endParaRPr lang="en-US" dirty="0" smtClean="0">
              <a:latin typeface="Arial" pitchFamily="34" charset="0"/>
              <a:cs typeface="Arial" pitchFamily="34" charset="0"/>
            </a:endParaRPr>
          </a:p>
          <a:p>
            <a:pPr marL="457200" indent="-457200"/>
            <a:r>
              <a:rPr lang="en-US" dirty="0" smtClean="0">
                <a:latin typeface="Arial" pitchFamily="34" charset="0"/>
                <a:cs typeface="Arial" pitchFamily="34" charset="0"/>
              </a:rPr>
              <a:t>Maps: one of most effective</a:t>
            </a:r>
          </a:p>
          <a:p>
            <a:pPr marL="457200" indent="-457200"/>
            <a:endParaRPr lang="en-US" dirty="0" smtClean="0">
              <a:latin typeface="Arial" pitchFamily="34" charset="0"/>
              <a:cs typeface="Arial" pitchFamily="34" charset="0"/>
            </a:endParaRPr>
          </a:p>
          <a:p>
            <a:pPr marL="457200" indent="-457200"/>
            <a:r>
              <a:rPr lang="en-US" dirty="0" smtClean="0">
                <a:latin typeface="Arial" pitchFamily="34" charset="0"/>
                <a:cs typeface="Arial" pitchFamily="34" charset="0"/>
              </a:rPr>
              <a:t>Images: use color/intensity instead of distance </a:t>
            </a:r>
          </a:p>
          <a:p>
            <a:pPr marL="457200" indent="-457200"/>
            <a:endParaRPr lang="en-US" dirty="0" smtClean="0">
              <a:latin typeface="Arial" pitchFamily="34" charset="0"/>
              <a:cs typeface="Arial" pitchFamily="34" charset="0"/>
            </a:endParaRPr>
          </a:p>
          <a:p>
            <a:pPr marL="457200" indent="-457200"/>
            <a:r>
              <a:rPr lang="en-US" dirty="0" smtClean="0">
                <a:latin typeface="Arial" pitchFamily="34" charset="0"/>
                <a:cs typeface="Arial" pitchFamily="34" charset="0"/>
              </a:rPr>
              <a:t>3-D surfaces and solids</a:t>
            </a:r>
          </a:p>
          <a:p>
            <a:endParaRPr lang="en-US" dirty="0" smtClean="0">
              <a:latin typeface="Arial" pitchFamily="34" charset="0"/>
              <a:cs typeface="Arial" pitchFamily="34" charset="0"/>
            </a:endParaRPr>
          </a:p>
          <a:p>
            <a:pPr marL="457200" indent="-457200"/>
            <a:r>
              <a:rPr lang="en-US" dirty="0" smtClean="0">
                <a:latin typeface="Arial" pitchFamily="34" charset="0"/>
                <a:cs typeface="Arial" pitchFamily="34" charset="0"/>
              </a:rPr>
              <a:t>Animation etc…</a:t>
            </a:r>
          </a:p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4C9F97-4B11-4EF3-A227-EC3010DDDC4C}" type="slidenum">
              <a:rPr lang="en-US" smtClean="0"/>
              <a:pPr/>
              <a:t>5</a:t>
            </a:fld>
            <a:endParaRPr lang="en-US"/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CT Dept, YCCE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733373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400" dirty="0"/>
              <a:t>Data visualization using ‘R’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R graphics functions can be grouped into three </a:t>
            </a:r>
            <a:r>
              <a:rPr lang="en-US" dirty="0" smtClean="0"/>
              <a:t>types:</a:t>
            </a:r>
          </a:p>
          <a:p>
            <a:pPr lvl="1"/>
            <a:r>
              <a:rPr lang="en-US" dirty="0"/>
              <a:t>High level plotting </a:t>
            </a:r>
            <a:r>
              <a:rPr lang="en-US" dirty="0" smtClean="0"/>
              <a:t>functions</a:t>
            </a:r>
            <a:endParaRPr lang="en-US" dirty="0"/>
          </a:p>
          <a:p>
            <a:pPr lvl="1"/>
            <a:r>
              <a:rPr lang="en-US" dirty="0"/>
              <a:t>Low level plotting </a:t>
            </a:r>
            <a:r>
              <a:rPr lang="en-US" dirty="0" smtClean="0"/>
              <a:t>functions</a:t>
            </a:r>
            <a:endParaRPr lang="en-US" dirty="0"/>
          </a:p>
          <a:p>
            <a:pPr lvl="1"/>
            <a:r>
              <a:rPr lang="en-US" dirty="0"/>
              <a:t>Interactive graphics </a:t>
            </a:r>
            <a:r>
              <a:rPr lang="en-US" dirty="0" smtClean="0"/>
              <a:t>functions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4C9F97-4B11-4EF3-A227-EC3010DDDC4C}" type="slidenum">
              <a:rPr lang="en-US" smtClean="0"/>
              <a:pPr/>
              <a:t>6</a:t>
            </a:fld>
            <a:endParaRPr lang="en-US"/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CT Dept, YCCE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73033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sz="4400" dirty="0"/>
              <a:t>Low Level Plotting Functions</a:t>
            </a:r>
            <a:r>
              <a:rPr lang="en-US" dirty="0"/>
              <a:t/>
            </a:r>
            <a:br>
              <a:rPr lang="en-US" dirty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Low level </a:t>
            </a:r>
            <a:r>
              <a:rPr lang="en-US" dirty="0"/>
              <a:t>plotting functions </a:t>
            </a:r>
            <a:r>
              <a:rPr lang="en-US" dirty="0" smtClean="0"/>
              <a:t>do not open </a:t>
            </a:r>
            <a:r>
              <a:rPr lang="en-US" dirty="0"/>
              <a:t>a graphics device (window) </a:t>
            </a:r>
            <a:r>
              <a:rPr lang="en-US" dirty="0" smtClean="0"/>
              <a:t>automatically</a:t>
            </a:r>
          </a:p>
          <a:p>
            <a:pPr lvl="1"/>
            <a:r>
              <a:rPr lang="en-US" dirty="0"/>
              <a:t>plot(1:100, 1:100, type="n", </a:t>
            </a:r>
            <a:r>
              <a:rPr lang="en-US" dirty="0" err="1"/>
              <a:t>xlab</a:t>
            </a:r>
            <a:r>
              <a:rPr lang="en-US" dirty="0" smtClean="0"/>
              <a:t>=“", </a:t>
            </a:r>
            <a:r>
              <a:rPr lang="en-US" dirty="0" err="1"/>
              <a:t>ylab</a:t>
            </a:r>
            <a:r>
              <a:rPr lang="en-US" dirty="0" smtClean="0"/>
              <a:t>="")</a:t>
            </a:r>
          </a:p>
          <a:p>
            <a:r>
              <a:rPr lang="en-US" dirty="0" smtClean="0"/>
              <a:t>We </a:t>
            </a:r>
            <a:r>
              <a:rPr lang="en-US" dirty="0"/>
              <a:t>have a </a:t>
            </a:r>
            <a:r>
              <a:rPr lang="en-US" dirty="0" smtClean="0"/>
              <a:t>palette, let's </a:t>
            </a:r>
            <a:r>
              <a:rPr lang="en-US" dirty="0"/>
              <a:t>paint on it</a:t>
            </a:r>
            <a:r>
              <a:rPr lang="en-US" dirty="0" smtClean="0"/>
              <a:t>.</a:t>
            </a:r>
          </a:p>
          <a:p>
            <a:r>
              <a:rPr lang="en-US" dirty="0" smtClean="0"/>
              <a:t>Plot </a:t>
            </a:r>
            <a:r>
              <a:rPr lang="en-US" dirty="0"/>
              <a:t>a curve from an algebraic </a:t>
            </a:r>
            <a:r>
              <a:rPr lang="en-US" dirty="0" smtClean="0"/>
              <a:t>equation</a:t>
            </a:r>
          </a:p>
          <a:p>
            <a:pPr lvl="1"/>
            <a:r>
              <a:rPr lang="en-US" dirty="0"/>
              <a:t>curve(x^2/100, add=TRUE</a:t>
            </a:r>
            <a:r>
              <a:rPr lang="en-US" dirty="0" smtClean="0"/>
              <a:t>)</a:t>
            </a:r>
          </a:p>
          <a:p>
            <a:r>
              <a:rPr lang="en-US" dirty="0" smtClean="0"/>
              <a:t>Add </a:t>
            </a:r>
            <a:r>
              <a:rPr lang="en-US" dirty="0"/>
              <a:t>some text to the graph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4C9F97-4B11-4EF3-A227-EC3010DDDC4C}" type="slidenum">
              <a:rPr lang="en-US" smtClean="0"/>
              <a:pPr/>
              <a:t>7</a:t>
            </a:fld>
            <a:endParaRPr lang="en-US"/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CT Dept, YCCE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009023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dirty="0"/>
              <a:t>Low Level Plotting Functions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1"/>
            <a:r>
              <a:rPr lang="en-US" dirty="0"/>
              <a:t>text(80, 50, "This is a graph of")</a:t>
            </a:r>
          </a:p>
          <a:p>
            <a:pPr lvl="1"/>
            <a:r>
              <a:rPr lang="en-US" dirty="0" smtClean="0"/>
              <a:t>text(80</a:t>
            </a:r>
            <a:r>
              <a:rPr lang="en-US" dirty="0"/>
              <a:t>, 45, "the equation")</a:t>
            </a:r>
          </a:p>
          <a:p>
            <a:pPr lvl="1"/>
            <a:r>
              <a:rPr lang="en-US" dirty="0" smtClean="0"/>
              <a:t>text(80</a:t>
            </a:r>
            <a:r>
              <a:rPr lang="en-US" dirty="0"/>
              <a:t>, 37, expression(y == </a:t>
            </a:r>
            <a:r>
              <a:rPr lang="en-US" dirty="0" err="1"/>
              <a:t>frac</a:t>
            </a:r>
            <a:r>
              <a:rPr lang="en-US" dirty="0"/>
              <a:t>(1,100) * x^2))</a:t>
            </a:r>
          </a:p>
          <a:p>
            <a:r>
              <a:rPr lang="en-US" dirty="0" smtClean="0"/>
              <a:t>Draw </a:t>
            </a:r>
            <a:r>
              <a:rPr lang="en-US" dirty="0"/>
              <a:t>some points on this </a:t>
            </a:r>
            <a:r>
              <a:rPr lang="en-US" dirty="0" smtClean="0"/>
              <a:t>curve</a:t>
            </a:r>
          </a:p>
          <a:p>
            <a:pPr lvl="1"/>
            <a:r>
              <a:rPr lang="en-US" dirty="0"/>
              <a:t>points(x=c(20, 60, 90), y=c(4, 36, 81), </a:t>
            </a:r>
            <a:r>
              <a:rPr lang="en-US" dirty="0" err="1"/>
              <a:t>pch</a:t>
            </a:r>
            <a:r>
              <a:rPr lang="en-US" dirty="0"/>
              <a:t>=6</a:t>
            </a:r>
            <a:r>
              <a:rPr lang="en-US" dirty="0" smtClean="0"/>
              <a:t>)</a:t>
            </a:r>
          </a:p>
          <a:p>
            <a:endParaRPr lang="en-US" dirty="0" smtClean="0"/>
          </a:p>
          <a:p>
            <a:r>
              <a:rPr lang="en-US" dirty="0" smtClean="0"/>
              <a:t>Some fun…</a:t>
            </a:r>
          </a:p>
          <a:p>
            <a:pPr lvl="1"/>
            <a:r>
              <a:rPr lang="en-US" sz="2400" dirty="0"/>
              <a:t>points(x=rep(100,10), y=</a:t>
            </a:r>
            <a:r>
              <a:rPr lang="en-US" sz="2400" dirty="0" err="1"/>
              <a:t>seq</a:t>
            </a:r>
            <a:r>
              <a:rPr lang="en-US" sz="2400" dirty="0"/>
              <a:t>(0,90,10), </a:t>
            </a:r>
            <a:r>
              <a:rPr lang="en-US" sz="2400" dirty="0" err="1" smtClean="0"/>
              <a:t>pch</a:t>
            </a:r>
            <a:r>
              <a:rPr lang="en-US" sz="2400" dirty="0" smtClean="0"/>
              <a:t>=</a:t>
            </a:r>
            <a:r>
              <a:rPr lang="en-US" sz="2400" dirty="0" err="1" smtClean="0"/>
              <a:t>seq</a:t>
            </a:r>
            <a:r>
              <a:rPr lang="en-US" sz="2400" dirty="0" smtClean="0"/>
              <a:t>(1,20,2</a:t>
            </a:r>
            <a:r>
              <a:rPr lang="en-US" sz="2400" dirty="0"/>
              <a:t>))</a:t>
            </a:r>
          </a:p>
        </p:txBody>
      </p:sp>
      <p:sp>
        <p:nvSpPr>
          <p:cNvPr id="4" name="Smiley Face 3"/>
          <p:cNvSpPr/>
          <p:nvPr/>
        </p:nvSpPr>
        <p:spPr>
          <a:xfrm>
            <a:off x="3124200" y="4724400"/>
            <a:ext cx="838200" cy="685800"/>
          </a:xfrm>
          <a:prstGeom prst="smileyFac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4C9F97-4B11-4EF3-A227-EC3010DDDC4C}" type="slidenum">
              <a:rPr lang="en-US" smtClean="0"/>
              <a:pPr/>
              <a:t>8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CT Dept, YCCE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316177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dirty="0"/>
              <a:t>Low Level Plotting Functions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95400"/>
            <a:ext cx="8229600" cy="5257800"/>
          </a:xfrm>
        </p:spPr>
        <p:txBody>
          <a:bodyPr>
            <a:normAutofit lnSpcReduction="10000"/>
          </a:bodyPr>
          <a:lstStyle/>
          <a:p>
            <a:r>
              <a:rPr lang="en-US" dirty="0" smtClean="0"/>
              <a:t>Draw </a:t>
            </a:r>
            <a:r>
              <a:rPr lang="en-US" dirty="0"/>
              <a:t>a straight line through a couple of those </a:t>
            </a:r>
            <a:r>
              <a:rPr lang="en-US" dirty="0" smtClean="0"/>
              <a:t>points</a:t>
            </a:r>
          </a:p>
          <a:p>
            <a:r>
              <a:rPr lang="en-US" dirty="0" smtClean="0"/>
              <a:t>Function </a:t>
            </a:r>
            <a:r>
              <a:rPr lang="en-US" dirty="0"/>
              <a:t>is </a:t>
            </a:r>
            <a:r>
              <a:rPr lang="en-US" dirty="0" err="1"/>
              <a:t>abline</a:t>
            </a:r>
            <a:r>
              <a:rPr lang="en-US" dirty="0"/>
              <a:t>( </a:t>
            </a:r>
            <a:r>
              <a:rPr lang="en-US" dirty="0" smtClean="0"/>
              <a:t>), </a:t>
            </a:r>
            <a:r>
              <a:rPr lang="en-US" dirty="0"/>
              <a:t>arguments are "a=the y-intercept" and "b=the slope" of the desired </a:t>
            </a:r>
            <a:r>
              <a:rPr lang="en-US" dirty="0" smtClean="0"/>
              <a:t>line</a:t>
            </a:r>
          </a:p>
          <a:p>
            <a:pPr lvl="1"/>
            <a:r>
              <a:rPr lang="en-US" dirty="0" err="1" smtClean="0"/>
              <a:t>abline</a:t>
            </a:r>
            <a:r>
              <a:rPr lang="en-US" dirty="0" smtClean="0"/>
              <a:t>(a</a:t>
            </a:r>
            <a:r>
              <a:rPr lang="en-US" dirty="0"/>
              <a:t>=-18, b=1.1, col="red</a:t>
            </a:r>
            <a:r>
              <a:rPr lang="en-US" dirty="0" smtClean="0"/>
              <a:t>")</a:t>
            </a:r>
          </a:p>
          <a:p>
            <a:r>
              <a:rPr lang="en-US" dirty="0"/>
              <a:t>We can also draw horizontal and vertical lines with this </a:t>
            </a:r>
            <a:r>
              <a:rPr lang="en-US" dirty="0" smtClean="0"/>
              <a:t>function</a:t>
            </a:r>
          </a:p>
          <a:p>
            <a:pPr lvl="1"/>
            <a:r>
              <a:rPr lang="en-US" dirty="0" err="1"/>
              <a:t>abline</a:t>
            </a:r>
            <a:r>
              <a:rPr lang="en-US" dirty="0"/>
              <a:t>(h=20, </a:t>
            </a:r>
            <a:r>
              <a:rPr lang="en-US" dirty="0" err="1"/>
              <a:t>lty</a:t>
            </a:r>
            <a:r>
              <a:rPr lang="en-US" dirty="0"/>
              <a:t>=2)     </a:t>
            </a:r>
            <a:r>
              <a:rPr lang="en-US" dirty="0" smtClean="0"/>
              <a:t># </a:t>
            </a:r>
            <a:r>
              <a:rPr lang="en-US" dirty="0" err="1"/>
              <a:t>abline</a:t>
            </a:r>
            <a:r>
              <a:rPr lang="en-US" dirty="0"/>
              <a:t>(h=20, </a:t>
            </a:r>
            <a:r>
              <a:rPr lang="en-US" dirty="0" err="1"/>
              <a:t>lty</a:t>
            </a:r>
            <a:r>
              <a:rPr lang="en-US" dirty="0"/>
              <a:t>="dashed</a:t>
            </a:r>
            <a:r>
              <a:rPr lang="en-US" dirty="0" smtClean="0"/>
              <a:t>")</a:t>
            </a:r>
          </a:p>
          <a:p>
            <a:pPr lvl="1"/>
            <a:r>
              <a:rPr lang="en-US" dirty="0" err="1" smtClean="0"/>
              <a:t>abline</a:t>
            </a:r>
            <a:r>
              <a:rPr lang="en-US" dirty="0" smtClean="0"/>
              <a:t>(v=20</a:t>
            </a:r>
            <a:r>
              <a:rPr lang="en-US" dirty="0"/>
              <a:t>, </a:t>
            </a:r>
            <a:r>
              <a:rPr lang="en-US" dirty="0" err="1"/>
              <a:t>lty</a:t>
            </a:r>
            <a:r>
              <a:rPr lang="en-US" dirty="0"/>
              <a:t>=3</a:t>
            </a:r>
            <a:r>
              <a:rPr lang="en-US" dirty="0" smtClean="0"/>
              <a:t>)    # </a:t>
            </a:r>
            <a:r>
              <a:rPr lang="en-US" dirty="0" err="1"/>
              <a:t>abline</a:t>
            </a:r>
            <a:r>
              <a:rPr lang="en-US" dirty="0"/>
              <a:t>(v=20, </a:t>
            </a:r>
            <a:r>
              <a:rPr lang="en-US" dirty="0" err="1"/>
              <a:t>lty</a:t>
            </a:r>
            <a:r>
              <a:rPr lang="en-US" dirty="0"/>
              <a:t>="dotted")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4C9F97-4B11-4EF3-A227-EC3010DDDC4C}" type="slidenum">
              <a:rPr lang="en-US" smtClean="0"/>
              <a:pPr/>
              <a:t>9</a:t>
            </a:fld>
            <a:endParaRPr lang="en-US"/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CT Dept, YCCE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664971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Low Level Plotting Functions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"</a:t>
            </a:r>
            <a:r>
              <a:rPr lang="en-US" dirty="0" err="1"/>
              <a:t>lty</a:t>
            </a:r>
            <a:r>
              <a:rPr lang="en-US" dirty="0"/>
              <a:t>=" option specifies the line type. (1=solid, 2=dashed, 3=dotted</a:t>
            </a:r>
            <a:r>
              <a:rPr lang="en-US" dirty="0" smtClean="0"/>
              <a:t>.)</a:t>
            </a:r>
          </a:p>
          <a:p>
            <a:r>
              <a:rPr lang="en-US" dirty="0" smtClean="0"/>
              <a:t>To change the color of line, </a:t>
            </a:r>
            <a:r>
              <a:rPr lang="en-US" dirty="0"/>
              <a:t>col</a:t>
            </a:r>
            <a:r>
              <a:rPr lang="en-US" dirty="0" smtClean="0"/>
              <a:t>=</a:t>
            </a:r>
          </a:p>
          <a:p>
            <a:r>
              <a:rPr lang="en-US" dirty="0" smtClean="0"/>
              <a:t>To change the width of line, </a:t>
            </a:r>
            <a:r>
              <a:rPr lang="en-US" dirty="0" err="1"/>
              <a:t>lwd</a:t>
            </a:r>
            <a:r>
              <a:rPr lang="en-US" dirty="0"/>
              <a:t>=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4C9F97-4B11-4EF3-A227-EC3010DDDC4C}" type="slidenum">
              <a:rPr lang="en-US" smtClean="0"/>
              <a:pPr/>
              <a:t>10</a:t>
            </a:fld>
            <a:endParaRPr lang="en-US"/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CT Dept, YCCE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7435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Low Level Plotting Functions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We can also draw lines and/or points using the lines( ) </a:t>
            </a:r>
            <a:r>
              <a:rPr lang="en-US" dirty="0" smtClean="0"/>
              <a:t>function</a:t>
            </a:r>
          </a:p>
          <a:p>
            <a:pPr lvl="1"/>
            <a:r>
              <a:rPr lang="en-US" dirty="0"/>
              <a:t>lines(x=c(40, 40, 60, 60), y=c(80, 100, 100, 80), type="b")</a:t>
            </a:r>
          </a:p>
          <a:p>
            <a:pPr lvl="1"/>
            <a:r>
              <a:rPr lang="en-US" dirty="0" smtClean="0"/>
              <a:t>lines(x=c(40</a:t>
            </a:r>
            <a:r>
              <a:rPr lang="en-US" dirty="0"/>
              <a:t>, 60), y=c(80, 80), type="l</a:t>
            </a:r>
            <a:r>
              <a:rPr lang="en-US" dirty="0" smtClean="0"/>
              <a:t>")</a:t>
            </a:r>
          </a:p>
          <a:p>
            <a:r>
              <a:rPr lang="en-US" dirty="0"/>
              <a:t>"type=" option tells whether you want just points (type="p"), just lines (type="l"), or both (type="b")</a:t>
            </a:r>
          </a:p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4C9F97-4B11-4EF3-A227-EC3010DDDC4C}" type="slidenum">
              <a:rPr lang="en-US" smtClean="0"/>
              <a:pPr/>
              <a:t>11</a:t>
            </a:fld>
            <a:endParaRPr lang="en-US"/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CT Dept, YCCE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973534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Low Level Plotting Functions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Give final touch to your graph:</a:t>
            </a:r>
          </a:p>
          <a:p>
            <a:pPr lvl="1"/>
            <a:r>
              <a:rPr lang="en-US" dirty="0"/>
              <a:t>title(main="A Drawing To Put On the Refrigerator!")</a:t>
            </a:r>
          </a:p>
          <a:p>
            <a:pPr lvl="1"/>
            <a:r>
              <a:rPr lang="en-US" dirty="0" smtClean="0"/>
              <a:t>title(</a:t>
            </a:r>
            <a:r>
              <a:rPr lang="en-US" dirty="0" err="1" smtClean="0"/>
              <a:t>xlab</a:t>
            </a:r>
            <a:r>
              <a:rPr lang="en-US" dirty="0"/>
              <a:t>="This is the x-axis", </a:t>
            </a:r>
            <a:r>
              <a:rPr lang="en-US" dirty="0" err="1"/>
              <a:t>col.lab</a:t>
            </a:r>
            <a:r>
              <a:rPr lang="en-US" dirty="0"/>
              <a:t>="black</a:t>
            </a:r>
            <a:r>
              <a:rPr lang="en-US" dirty="0" smtClean="0"/>
              <a:t>")</a:t>
            </a:r>
          </a:p>
          <a:p>
            <a:pPr lvl="1"/>
            <a:r>
              <a:rPr lang="en-US" dirty="0" smtClean="0"/>
              <a:t>title(</a:t>
            </a:r>
            <a:r>
              <a:rPr lang="en-US" dirty="0" err="1"/>
              <a:t>y</a:t>
            </a:r>
            <a:r>
              <a:rPr lang="en-US" dirty="0" err="1" smtClean="0"/>
              <a:t>lab</a:t>
            </a:r>
            <a:r>
              <a:rPr lang="en-US" dirty="0" smtClean="0"/>
              <a:t>="This is the y-axis", </a:t>
            </a:r>
            <a:r>
              <a:rPr lang="en-US" dirty="0" err="1" smtClean="0"/>
              <a:t>col.lab</a:t>
            </a:r>
            <a:r>
              <a:rPr lang="en-US" dirty="0" smtClean="0"/>
              <a:t>="blue")</a:t>
            </a:r>
          </a:p>
          <a:p>
            <a:pPr lvl="1"/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4C9F97-4B11-4EF3-A227-EC3010DDDC4C}" type="slidenum">
              <a:rPr lang="en-US" smtClean="0"/>
              <a:pPr/>
              <a:t>12</a:t>
            </a:fld>
            <a:endParaRPr lang="en-US"/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CT Dept, YCCE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112365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High Level Plotting Functions</a:t>
            </a:r>
            <a:br>
              <a:rPr lang="en-US" dirty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dirty="0"/>
              <a:t>Usually, we don't want to fuss that </a:t>
            </a:r>
            <a:r>
              <a:rPr lang="en-US" dirty="0" smtClean="0"/>
              <a:t>much</a:t>
            </a:r>
          </a:p>
          <a:p>
            <a:r>
              <a:rPr lang="en-US" dirty="0"/>
              <a:t>We just want to see a graph of some data we're </a:t>
            </a:r>
            <a:r>
              <a:rPr lang="en-US" dirty="0" smtClean="0"/>
              <a:t>examining</a:t>
            </a:r>
          </a:p>
          <a:p>
            <a:r>
              <a:rPr lang="en-US" dirty="0"/>
              <a:t>The basic high level plotting function is plot( </a:t>
            </a:r>
            <a:r>
              <a:rPr lang="en-US" dirty="0" smtClean="0"/>
              <a:t>)</a:t>
            </a:r>
          </a:p>
          <a:p>
            <a:pPr lvl="1"/>
            <a:r>
              <a:rPr lang="en-US" dirty="0"/>
              <a:t>data(faithful)</a:t>
            </a:r>
          </a:p>
          <a:p>
            <a:pPr lvl="1"/>
            <a:r>
              <a:rPr lang="en-US" dirty="0" smtClean="0"/>
              <a:t>attach(faithful</a:t>
            </a:r>
            <a:r>
              <a:rPr lang="en-US" dirty="0"/>
              <a:t>)</a:t>
            </a:r>
          </a:p>
          <a:p>
            <a:pPr lvl="1"/>
            <a:r>
              <a:rPr lang="en-US" dirty="0" smtClean="0"/>
              <a:t>names(faithful</a:t>
            </a:r>
            <a:r>
              <a:rPr lang="en-US" dirty="0"/>
              <a:t>)</a:t>
            </a:r>
          </a:p>
          <a:p>
            <a:pPr lvl="1"/>
            <a:r>
              <a:rPr lang="en-US" dirty="0" smtClean="0"/>
              <a:t>plot(waiting</a:t>
            </a:r>
            <a:r>
              <a:rPr lang="en-US" dirty="0"/>
              <a:t>, eruptions</a:t>
            </a:r>
            <a:r>
              <a:rPr lang="en-US" dirty="0" smtClean="0"/>
              <a:t>)</a:t>
            </a:r>
            <a:endParaRPr lang="en-US" dirty="0"/>
          </a:p>
          <a:p>
            <a:pPr lvl="1"/>
            <a:r>
              <a:rPr lang="en-US" dirty="0" smtClean="0"/>
              <a:t>detach(faithful</a:t>
            </a:r>
            <a:r>
              <a:rPr lang="en-US" dirty="0"/>
              <a:t>)</a:t>
            </a:r>
          </a:p>
          <a:p>
            <a:pPr lvl="1"/>
            <a:r>
              <a:rPr lang="en-US" dirty="0" err="1" smtClean="0"/>
              <a:t>rm</a:t>
            </a:r>
            <a:r>
              <a:rPr lang="en-US" dirty="0" smtClean="0"/>
              <a:t>(faithful</a:t>
            </a:r>
            <a:r>
              <a:rPr lang="en-US" dirty="0"/>
              <a:t>)</a:t>
            </a:r>
          </a:p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4C9F97-4B11-4EF3-A227-EC3010DDDC4C}" type="slidenum">
              <a:rPr lang="en-US" smtClean="0"/>
              <a:pPr/>
              <a:t>13</a:t>
            </a:fld>
            <a:endParaRPr lang="en-US"/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CT Dept, YCCE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553200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Line Chart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x=c(10,20,30,40,50,60);</a:t>
            </a:r>
          </a:p>
          <a:p>
            <a:r>
              <a:rPr lang="en-US" dirty="0" smtClean="0"/>
              <a:t>Y=c(20,25,30,35,28,40);</a:t>
            </a:r>
            <a:endParaRPr lang="en-US" dirty="0"/>
          </a:p>
          <a:p>
            <a:r>
              <a:rPr lang="en-US" dirty="0"/>
              <a:t>&gt; </a:t>
            </a:r>
            <a:r>
              <a:rPr lang="en-US" dirty="0" smtClean="0"/>
              <a:t>plot(</a:t>
            </a:r>
            <a:r>
              <a:rPr lang="en-US" dirty="0" err="1" smtClean="0"/>
              <a:t>x,y</a:t>
            </a:r>
            <a:r>
              <a:rPr lang="en-US" dirty="0" smtClean="0"/>
              <a:t>, </a:t>
            </a:r>
            <a:r>
              <a:rPr lang="en-US" dirty="0"/>
              <a:t>type="l", </a:t>
            </a:r>
            <a:r>
              <a:rPr lang="en-US" dirty="0" err="1"/>
              <a:t>lwd</a:t>
            </a:r>
            <a:r>
              <a:rPr lang="en-US" dirty="0"/>
              <a:t>=2, col="blue");</a:t>
            </a:r>
          </a:p>
          <a:p>
            <a:endParaRPr lang="en-US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71600" y="3435927"/>
            <a:ext cx="5676900" cy="2895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4C9F97-4B11-4EF3-A227-EC3010DDDC4C}" type="slidenum">
              <a:rPr lang="en-US" smtClean="0"/>
              <a:pPr/>
              <a:t>14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CT Dept, YCCE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348819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 err="1"/>
              <a:t>Piecharts</a:t>
            </a:r>
            <a:r>
              <a:rPr lang="en-US" dirty="0"/>
              <a:t/>
            </a:r>
            <a:br>
              <a:rPr lang="en-US" dirty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r>
              <a:rPr lang="en-US" dirty="0"/>
              <a:t>When a single categorical variable is being </a:t>
            </a:r>
            <a:r>
              <a:rPr lang="en-US" dirty="0" smtClean="0"/>
              <a:t>graphed </a:t>
            </a:r>
            <a:r>
              <a:rPr lang="en-US" dirty="0"/>
              <a:t>use a </a:t>
            </a:r>
            <a:r>
              <a:rPr lang="en-US" dirty="0" err="1"/>
              <a:t>piechart</a:t>
            </a:r>
            <a:r>
              <a:rPr lang="en-US" dirty="0"/>
              <a:t> or a </a:t>
            </a:r>
            <a:r>
              <a:rPr lang="en-US" dirty="0" err="1" smtClean="0"/>
              <a:t>barplot</a:t>
            </a:r>
            <a:endParaRPr lang="en-US" dirty="0" smtClean="0"/>
          </a:p>
          <a:p>
            <a:pPr lvl="1"/>
            <a:r>
              <a:rPr lang="en-US" dirty="0" err="1"/>
              <a:t>margin.table</a:t>
            </a:r>
            <a:r>
              <a:rPr lang="en-US" dirty="0"/>
              <a:t>(</a:t>
            </a:r>
            <a:r>
              <a:rPr lang="en-US" dirty="0" err="1"/>
              <a:t>UCBAdmissions</a:t>
            </a:r>
            <a:r>
              <a:rPr lang="en-US" dirty="0"/>
              <a:t>, 3</a:t>
            </a:r>
            <a:r>
              <a:rPr lang="en-US" dirty="0" smtClean="0"/>
              <a:t>)</a:t>
            </a:r>
          </a:p>
          <a:p>
            <a:pPr lvl="1"/>
            <a:r>
              <a:rPr lang="en-US" dirty="0" err="1"/>
              <a:t>margin.table</a:t>
            </a:r>
            <a:r>
              <a:rPr lang="en-US" dirty="0"/>
              <a:t>(UCBAdmissions,3) -&gt; </a:t>
            </a:r>
            <a:r>
              <a:rPr lang="en-US" dirty="0" smtClean="0"/>
              <a:t>Department</a:t>
            </a:r>
          </a:p>
          <a:p>
            <a:pPr lvl="1"/>
            <a:r>
              <a:rPr lang="en-US" dirty="0"/>
              <a:t>pie(Department</a:t>
            </a:r>
            <a:r>
              <a:rPr lang="en-US" dirty="0" smtClean="0"/>
              <a:t>)</a:t>
            </a:r>
          </a:p>
          <a:p>
            <a:pPr lvl="1"/>
            <a:r>
              <a:rPr lang="en-US" dirty="0"/>
              <a:t>names(Department)=c("</a:t>
            </a:r>
            <a:r>
              <a:rPr lang="en-US" dirty="0" err="1"/>
              <a:t>ct</a:t>
            </a:r>
            <a:r>
              <a:rPr lang="en-US" dirty="0"/>
              <a:t>","</a:t>
            </a:r>
            <a:r>
              <a:rPr lang="en-US" dirty="0" err="1"/>
              <a:t>et","me","cv","el","it</a:t>
            </a:r>
            <a:r>
              <a:rPr lang="en-US" dirty="0" smtClean="0"/>
              <a:t>")</a:t>
            </a:r>
          </a:p>
          <a:p>
            <a:pPr lvl="1"/>
            <a:r>
              <a:rPr lang="en-US" dirty="0"/>
              <a:t>pie(Department)</a:t>
            </a:r>
          </a:p>
          <a:p>
            <a:pPr lvl="1"/>
            <a:r>
              <a:rPr lang="en-US" dirty="0" smtClean="0"/>
              <a:t>pie(Department,</a:t>
            </a:r>
            <a:r>
              <a:rPr lang="en-US" sz="2400" b="1" dirty="0">
                <a:solidFill>
                  <a:schemeClr val="tx2">
                    <a:lumMod val="60000"/>
                    <a:lumOff val="40000"/>
                  </a:schemeClr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n-US" dirty="0"/>
              <a:t>col=c("</a:t>
            </a:r>
            <a:r>
              <a:rPr lang="en-US" dirty="0" err="1"/>
              <a:t>green","blue","red","pink","light</a:t>
            </a:r>
            <a:r>
              <a:rPr lang="en-US" dirty="0"/>
              <a:t> </a:t>
            </a:r>
            <a:r>
              <a:rPr lang="en-US" dirty="0" err="1"/>
              <a:t>blue","black</a:t>
            </a:r>
            <a:r>
              <a:rPr lang="en-US" dirty="0"/>
              <a:t>")</a:t>
            </a:r>
            <a:r>
              <a:rPr lang="en-US" dirty="0" smtClean="0"/>
              <a:t>)</a:t>
            </a:r>
            <a:endParaRPr lang="en-US" dirty="0"/>
          </a:p>
          <a:p>
            <a:pPr lvl="1"/>
            <a:endParaRPr lang="en-US" dirty="0" smtClean="0"/>
          </a:p>
          <a:p>
            <a:pPr lvl="1"/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4C9F97-4B11-4EF3-A227-EC3010DDDC4C}" type="slidenum">
              <a:rPr lang="en-US" smtClean="0"/>
              <a:pPr/>
              <a:t>15</a:t>
            </a:fld>
            <a:endParaRPr lang="en-US"/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smtClean="0"/>
              <a:t>CT </a:t>
            </a:r>
            <a:r>
              <a:rPr lang="en-US" dirty="0" err="1" smtClean="0"/>
              <a:t>Dept</a:t>
            </a:r>
            <a:r>
              <a:rPr lang="en-US" dirty="0" smtClean="0"/>
              <a:t>, YCCE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578409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 err="1"/>
              <a:t>Barplots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1"/>
            <a:r>
              <a:rPr lang="en-US" dirty="0" err="1"/>
              <a:t>barplot</a:t>
            </a:r>
            <a:r>
              <a:rPr lang="en-US" dirty="0"/>
              <a:t>(Department, </a:t>
            </a:r>
            <a:r>
              <a:rPr lang="en-US" dirty="0" err="1"/>
              <a:t>xlab</a:t>
            </a:r>
            <a:r>
              <a:rPr lang="en-US" dirty="0"/>
              <a:t>="Department", </a:t>
            </a:r>
            <a:r>
              <a:rPr lang="en-US" dirty="0" err="1"/>
              <a:t>ylab</a:t>
            </a:r>
            <a:r>
              <a:rPr lang="en-US" dirty="0"/>
              <a:t>="frequency</a:t>
            </a:r>
            <a:r>
              <a:rPr lang="en-US" dirty="0" smtClean="0"/>
              <a:t>")</a:t>
            </a:r>
          </a:p>
          <a:p>
            <a:pPr lvl="1"/>
            <a:r>
              <a:rPr lang="en-US" dirty="0"/>
              <a:t>names(Department)=c("</a:t>
            </a:r>
            <a:r>
              <a:rPr lang="en-US" dirty="0" err="1"/>
              <a:t>ct</a:t>
            </a:r>
            <a:r>
              <a:rPr lang="en-US" dirty="0"/>
              <a:t>","</a:t>
            </a:r>
            <a:r>
              <a:rPr lang="en-US" dirty="0" err="1"/>
              <a:t>et","me","cv","el","it</a:t>
            </a:r>
            <a:r>
              <a:rPr lang="en-US" dirty="0"/>
              <a:t>")</a:t>
            </a:r>
          </a:p>
          <a:p>
            <a:pPr lvl="1"/>
            <a:r>
              <a:rPr lang="en-US" dirty="0" err="1"/>
              <a:t>barplot</a:t>
            </a:r>
            <a:r>
              <a:rPr lang="en-US" dirty="0"/>
              <a:t>(Department, </a:t>
            </a:r>
            <a:r>
              <a:rPr lang="en-US" dirty="0" err="1"/>
              <a:t>xlab</a:t>
            </a:r>
            <a:r>
              <a:rPr lang="en-US" dirty="0"/>
              <a:t>="Department", </a:t>
            </a:r>
            <a:r>
              <a:rPr lang="en-US" dirty="0" err="1"/>
              <a:t>ylab</a:t>
            </a:r>
            <a:r>
              <a:rPr lang="en-US" dirty="0"/>
              <a:t>="frequency")</a:t>
            </a:r>
          </a:p>
          <a:p>
            <a:pPr lvl="1"/>
            <a:endParaRPr lang="en-US" dirty="0" smtClean="0"/>
          </a:p>
          <a:p>
            <a:pPr lvl="1"/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4C9F97-4B11-4EF3-A227-EC3010DDDC4C}" type="slidenum">
              <a:rPr lang="en-US" smtClean="0"/>
              <a:pPr/>
              <a:t>16</a:t>
            </a:fld>
            <a:endParaRPr lang="en-US"/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CT Dept, YCCE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4928066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 err="1"/>
              <a:t>Barplots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If you want to look at two categorical variables at once, a stacked </a:t>
            </a:r>
            <a:r>
              <a:rPr lang="en-US" dirty="0" err="1"/>
              <a:t>barplot</a:t>
            </a:r>
            <a:r>
              <a:rPr lang="en-US" dirty="0"/>
              <a:t>, or better yet, a side-by-side </a:t>
            </a:r>
            <a:r>
              <a:rPr lang="en-US" dirty="0" err="1"/>
              <a:t>barplot</a:t>
            </a:r>
            <a:r>
              <a:rPr lang="en-US" dirty="0"/>
              <a:t> is </a:t>
            </a:r>
            <a:r>
              <a:rPr lang="en-US" dirty="0" smtClean="0"/>
              <a:t>usually </a:t>
            </a:r>
            <a:r>
              <a:rPr lang="en-US" dirty="0"/>
              <a:t>the way to </a:t>
            </a:r>
            <a:r>
              <a:rPr lang="en-US" dirty="0" smtClean="0"/>
              <a:t>go</a:t>
            </a:r>
          </a:p>
          <a:p>
            <a:pPr lvl="1"/>
            <a:r>
              <a:rPr lang="en-US" dirty="0" err="1"/>
              <a:t>margin.table</a:t>
            </a:r>
            <a:r>
              <a:rPr lang="en-US" dirty="0"/>
              <a:t>(</a:t>
            </a:r>
            <a:r>
              <a:rPr lang="en-US" dirty="0" err="1"/>
              <a:t>UCBAdmissions</a:t>
            </a:r>
            <a:r>
              <a:rPr lang="en-US" dirty="0"/>
              <a:t>, c(1,3)) -&gt; </a:t>
            </a:r>
            <a:r>
              <a:rPr lang="en-US" dirty="0" err="1" smtClean="0"/>
              <a:t>Admit.by.Dept</a:t>
            </a:r>
            <a:endParaRPr lang="en-US" dirty="0" smtClean="0"/>
          </a:p>
          <a:p>
            <a:pPr lvl="1"/>
            <a:r>
              <a:rPr lang="en-US" dirty="0" err="1"/>
              <a:t>barplot</a:t>
            </a:r>
            <a:r>
              <a:rPr lang="en-US" dirty="0"/>
              <a:t>(</a:t>
            </a:r>
            <a:r>
              <a:rPr lang="en-US" dirty="0" err="1"/>
              <a:t>Admit.by.Dept</a:t>
            </a:r>
            <a:r>
              <a:rPr lang="en-US" dirty="0" smtClean="0"/>
              <a:t>)</a:t>
            </a:r>
          </a:p>
          <a:p>
            <a:r>
              <a:rPr lang="en-US" dirty="0"/>
              <a:t>stacked </a:t>
            </a:r>
            <a:r>
              <a:rPr lang="en-US" dirty="0" err="1"/>
              <a:t>barplot</a:t>
            </a:r>
            <a:r>
              <a:rPr lang="en-US" dirty="0"/>
              <a:t> is the default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4C9F97-4B11-4EF3-A227-EC3010DDDC4C}" type="slidenum">
              <a:rPr lang="en-US" smtClean="0"/>
              <a:pPr/>
              <a:t>17</a:t>
            </a:fld>
            <a:endParaRPr lang="en-US"/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CT Dept, YCCE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723620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 err="1"/>
              <a:t>Barplots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1"/>
            <a:r>
              <a:rPr lang="en-US" dirty="0" err="1"/>
              <a:t>barplot</a:t>
            </a:r>
            <a:r>
              <a:rPr lang="en-US" dirty="0"/>
              <a:t>(</a:t>
            </a:r>
            <a:r>
              <a:rPr lang="en-US" dirty="0" err="1"/>
              <a:t>Admit.by.Dept</a:t>
            </a:r>
            <a:r>
              <a:rPr lang="en-US" dirty="0"/>
              <a:t>, beside=T, </a:t>
            </a:r>
            <a:r>
              <a:rPr lang="en-US" dirty="0" err="1" smtClean="0"/>
              <a:t>ylim</a:t>
            </a:r>
            <a:r>
              <a:rPr lang="en-US" dirty="0" smtClean="0"/>
              <a:t>=c(0,1000), legend=T,</a:t>
            </a:r>
            <a:endParaRPr lang="en-US" dirty="0"/>
          </a:p>
          <a:p>
            <a:pPr marL="537210" lvl="1" indent="0">
              <a:buNone/>
            </a:pPr>
            <a:r>
              <a:rPr lang="en-US" dirty="0" smtClean="0"/>
              <a:t>   </a:t>
            </a:r>
            <a:r>
              <a:rPr lang="en-US" dirty="0" smtClean="0"/>
              <a:t>        </a:t>
            </a:r>
            <a:r>
              <a:rPr lang="en-US" dirty="0"/>
              <a:t>main="Admissions by Department</a:t>
            </a:r>
            <a:r>
              <a:rPr lang="en-US" dirty="0" smtClean="0"/>
              <a:t>")</a:t>
            </a:r>
          </a:p>
          <a:p>
            <a:r>
              <a:rPr lang="en-US" dirty="0"/>
              <a:t>set the "beside=" option to </a:t>
            </a:r>
            <a:r>
              <a:rPr lang="en-US" dirty="0" smtClean="0"/>
              <a:t>TRUE, to change the stacked </a:t>
            </a:r>
            <a:r>
              <a:rPr lang="en-US" dirty="0" err="1" smtClean="0"/>
              <a:t>barplot</a:t>
            </a:r>
            <a:endParaRPr lang="en-US" dirty="0"/>
          </a:p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4C9F97-4B11-4EF3-A227-EC3010DDDC4C}" type="slidenum">
              <a:rPr lang="en-US" smtClean="0"/>
              <a:pPr/>
              <a:t>18</a:t>
            </a:fld>
            <a:endParaRPr lang="en-US"/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CT Dept, YCCE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688983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Histograms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524000"/>
            <a:ext cx="8229600" cy="5181600"/>
          </a:xfrm>
        </p:spPr>
        <p:txBody>
          <a:bodyPr>
            <a:normAutofit lnSpcReduction="10000"/>
          </a:bodyPr>
          <a:lstStyle/>
          <a:p>
            <a:pPr marL="457200" indent="-457200">
              <a:defRPr/>
            </a:pPr>
            <a:r>
              <a:rPr lang="en-US" dirty="0"/>
              <a:t>A Histogram is a vertical bar chart that depicts the distribution of a set of data</a:t>
            </a:r>
            <a:r>
              <a:rPr lang="en-US" dirty="0" smtClean="0"/>
              <a:t>.</a:t>
            </a:r>
          </a:p>
          <a:p>
            <a:pPr marL="457200" indent="-457200">
              <a:defRPr/>
            </a:pPr>
            <a:r>
              <a:rPr lang="en-US" dirty="0" smtClean="0"/>
              <a:t>Histograms </a:t>
            </a:r>
            <a:r>
              <a:rPr lang="en-US" dirty="0"/>
              <a:t>are used to organize and interpret data.</a:t>
            </a:r>
          </a:p>
          <a:p>
            <a:pPr marL="457200" indent="-457200">
              <a:defRPr/>
            </a:pPr>
            <a:r>
              <a:rPr lang="en-US" dirty="0"/>
              <a:t>Histograms are often used with frequency tables to give a more visual view of the data.</a:t>
            </a:r>
          </a:p>
          <a:p>
            <a:pPr marL="457200" indent="-457200">
              <a:defRPr/>
            </a:pPr>
            <a:r>
              <a:rPr lang="en-US" dirty="0"/>
              <a:t>Each bar represents an interval that contains data.</a:t>
            </a:r>
          </a:p>
          <a:p>
            <a:pPr marL="457200" indent="-457200">
              <a:defRPr/>
            </a:pPr>
            <a:r>
              <a:rPr lang="en-US" dirty="0"/>
              <a:t>The height of the bar indicates the frequency of the data.</a:t>
            </a:r>
          </a:p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4C9F97-4B11-4EF3-A227-EC3010DDDC4C}" type="slidenum">
              <a:rPr lang="en-US" smtClean="0"/>
              <a:pPr/>
              <a:t>19</a:t>
            </a:fld>
            <a:endParaRPr lang="en-US"/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CT Dept, YCCE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7055964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Constructing a histogram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10000"/>
          </a:bodyPr>
          <a:lstStyle/>
          <a:p>
            <a:r>
              <a:rPr lang="en-US" sz="3200" dirty="0"/>
              <a:t>Step 1 - Count number of data points</a:t>
            </a:r>
          </a:p>
          <a:p>
            <a:r>
              <a:rPr lang="en-US" sz="3200" dirty="0"/>
              <a:t>Step 2 - Summarize on a tally sheet</a:t>
            </a:r>
          </a:p>
          <a:p>
            <a:r>
              <a:rPr lang="en-US" sz="3200" dirty="0"/>
              <a:t>Step 3 - Compute the range</a:t>
            </a:r>
          </a:p>
          <a:p>
            <a:r>
              <a:rPr lang="en-US" sz="3200" dirty="0"/>
              <a:t>Step 4 - Determine number of intervals</a:t>
            </a:r>
          </a:p>
          <a:p>
            <a:r>
              <a:rPr lang="en-US" sz="3200" dirty="0"/>
              <a:t>Step 5 - Compute interval width</a:t>
            </a:r>
          </a:p>
          <a:p>
            <a:r>
              <a:rPr lang="en-US" sz="3200" dirty="0"/>
              <a:t>Step 6 - Determine interval starting  points</a:t>
            </a:r>
          </a:p>
          <a:p>
            <a:r>
              <a:rPr lang="en-US" sz="3200" dirty="0"/>
              <a:t>Step 7 - Count number of points in each interval</a:t>
            </a:r>
          </a:p>
          <a:p>
            <a:r>
              <a:rPr lang="en-US" sz="3200" dirty="0"/>
              <a:t>Step 8 - Plot the data</a:t>
            </a:r>
          </a:p>
          <a:p>
            <a:r>
              <a:rPr lang="en-US" sz="3200" dirty="0"/>
              <a:t>Step 9 - Add title and legend</a:t>
            </a:r>
          </a:p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4C9F97-4B11-4EF3-A227-EC3010DDDC4C}" type="slidenum">
              <a:rPr lang="en-US" smtClean="0"/>
              <a:pPr/>
              <a:t>20</a:t>
            </a:fld>
            <a:endParaRPr lang="en-US"/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CT Dept, YCCE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068460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Example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371600"/>
            <a:ext cx="8229600" cy="5257800"/>
          </a:xfrm>
        </p:spPr>
        <p:txBody>
          <a:bodyPr>
            <a:normAutofit fontScale="55000" lnSpcReduction="20000"/>
          </a:bodyPr>
          <a:lstStyle/>
          <a:p>
            <a:r>
              <a:rPr lang="en-US" sz="3900" dirty="0"/>
              <a:t>Step1: Take a object age enter ages</a:t>
            </a:r>
            <a:br>
              <a:rPr lang="en-US" sz="3900" dirty="0"/>
            </a:br>
            <a:endParaRPr lang="en-US" sz="3900" dirty="0"/>
          </a:p>
          <a:p>
            <a:pPr lvl="1"/>
            <a:r>
              <a:rPr lang="en-US" sz="3500" dirty="0"/>
              <a:t>age =</a:t>
            </a:r>
            <a:r>
              <a:rPr lang="en-US" sz="3500" dirty="0" smtClean="0"/>
              <a:t>c(83,51,66,61,82,65,54,56,92,60,65,87,68,64,51, 70, </a:t>
            </a:r>
            <a:r>
              <a:rPr lang="en-US" sz="3500" dirty="0" smtClean="0"/>
              <a:t>75, </a:t>
            </a:r>
            <a:r>
              <a:rPr lang="en-US" sz="3500" dirty="0" smtClean="0"/>
              <a:t>66, 74, 68, 44, 55,78, 69, 98, 67, 82, 77, 79, 62, 38, 88, 76, </a:t>
            </a:r>
            <a:r>
              <a:rPr lang="en-US" sz="3500" dirty="0" smtClean="0"/>
              <a:t>99, </a:t>
            </a:r>
            <a:r>
              <a:rPr lang="en-US" sz="3500" dirty="0" smtClean="0"/>
              <a:t>84, 47, 60, 42, 66, 74, 91, 71, 83, 80, 68, 65, 51, 56, 73, </a:t>
            </a:r>
            <a:r>
              <a:rPr lang="en-US" sz="3500" dirty="0"/>
              <a:t>55)</a:t>
            </a:r>
          </a:p>
          <a:p>
            <a:endParaRPr lang="en-US" sz="3900" dirty="0"/>
          </a:p>
          <a:p>
            <a:r>
              <a:rPr lang="en-US" sz="3900" dirty="0"/>
              <a:t>Step2:Break the ages in  interval of 10</a:t>
            </a:r>
          </a:p>
          <a:p>
            <a:pPr marL="64008" indent="0">
              <a:buNone/>
            </a:pPr>
            <a:r>
              <a:rPr lang="en-US" sz="3900" dirty="0"/>
              <a:t>                     </a:t>
            </a:r>
          </a:p>
          <a:p>
            <a:pPr lvl="1"/>
            <a:r>
              <a:rPr lang="en-US" sz="3500" dirty="0" smtClean="0"/>
              <a:t>breaks=</a:t>
            </a:r>
            <a:r>
              <a:rPr lang="en-US" sz="3500" dirty="0" err="1" smtClean="0"/>
              <a:t>seq</a:t>
            </a:r>
            <a:r>
              <a:rPr lang="en-US" sz="3500" dirty="0" smtClean="0"/>
              <a:t>(30,100,10</a:t>
            </a:r>
            <a:r>
              <a:rPr lang="en-US" sz="3500" dirty="0"/>
              <a:t>)</a:t>
            </a:r>
          </a:p>
          <a:p>
            <a:endParaRPr lang="en-US" sz="3900" dirty="0" smtClean="0"/>
          </a:p>
          <a:p>
            <a:r>
              <a:rPr lang="en-US" sz="3900" dirty="0" smtClean="0"/>
              <a:t>Step3:Use </a:t>
            </a:r>
            <a:r>
              <a:rPr lang="en-US" sz="3900" dirty="0" err="1"/>
              <a:t>cbind</a:t>
            </a:r>
            <a:r>
              <a:rPr lang="en-US" sz="3900" dirty="0"/>
              <a:t>() to print age in class interval and frequency.</a:t>
            </a:r>
          </a:p>
          <a:p>
            <a:pPr lvl="1"/>
            <a:r>
              <a:rPr lang="en-US" sz="3500" dirty="0" smtClean="0"/>
              <a:t> </a:t>
            </a:r>
            <a:r>
              <a:rPr lang="en-US" sz="3500" dirty="0" err="1"/>
              <a:t>cbind</a:t>
            </a:r>
            <a:r>
              <a:rPr lang="en-US" sz="3500" dirty="0"/>
              <a:t>(table(cut(</a:t>
            </a:r>
            <a:r>
              <a:rPr lang="en-US" sz="3500" dirty="0" err="1"/>
              <a:t>age,breaks</a:t>
            </a:r>
            <a:r>
              <a:rPr lang="en-US" sz="3500" dirty="0" smtClean="0"/>
              <a:t>)))</a:t>
            </a:r>
          </a:p>
          <a:p>
            <a:endParaRPr lang="en-US" sz="3800" dirty="0" smtClean="0"/>
          </a:p>
          <a:p>
            <a:r>
              <a:rPr lang="en-US" sz="3800" dirty="0" smtClean="0"/>
              <a:t>Step4</a:t>
            </a:r>
            <a:r>
              <a:rPr lang="en-US" sz="3800" dirty="0"/>
              <a:t>: Use </a:t>
            </a:r>
            <a:r>
              <a:rPr lang="en-US" sz="3800" dirty="0" err="1"/>
              <a:t>hist</a:t>
            </a:r>
            <a:r>
              <a:rPr lang="en-US" sz="3800" dirty="0"/>
              <a:t>() with attribute age and  </a:t>
            </a:r>
            <a:r>
              <a:rPr lang="en-US" sz="3800" dirty="0" smtClean="0"/>
              <a:t>breaks</a:t>
            </a:r>
          </a:p>
          <a:p>
            <a:pPr lvl="1"/>
            <a:r>
              <a:rPr lang="en-US" sz="3400" dirty="0" smtClean="0"/>
              <a:t> </a:t>
            </a:r>
            <a:r>
              <a:rPr lang="en-US" sz="3400" dirty="0" err="1"/>
              <a:t>hist</a:t>
            </a:r>
            <a:r>
              <a:rPr lang="en-US" sz="3400" dirty="0"/>
              <a:t>(</a:t>
            </a:r>
            <a:r>
              <a:rPr lang="en-US" sz="3400" dirty="0" err="1"/>
              <a:t>age,breaks</a:t>
            </a:r>
            <a:r>
              <a:rPr lang="en-US" sz="3400" dirty="0"/>
              <a:t>)</a:t>
            </a:r>
          </a:p>
          <a:p>
            <a:endParaRPr lang="en-US" sz="3900" dirty="0"/>
          </a:p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4C9F97-4B11-4EF3-A227-EC3010DDDC4C}" type="slidenum">
              <a:rPr lang="en-US" smtClean="0"/>
              <a:pPr/>
              <a:t>21</a:t>
            </a:fld>
            <a:endParaRPr lang="en-US"/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CT Dept, YCCE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922021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Histograms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 smtClean="0"/>
              <a:t>If you want to analyze already stored data</a:t>
            </a:r>
          </a:p>
          <a:p>
            <a:pPr lvl="1"/>
            <a:r>
              <a:rPr lang="en-US" dirty="0"/>
              <a:t>attach(faithful</a:t>
            </a:r>
            <a:r>
              <a:rPr lang="en-US" dirty="0" smtClean="0"/>
              <a:t>)</a:t>
            </a:r>
          </a:p>
          <a:p>
            <a:pPr lvl="1"/>
            <a:r>
              <a:rPr lang="en-US" dirty="0" err="1"/>
              <a:t>hist</a:t>
            </a:r>
            <a:r>
              <a:rPr lang="en-US" dirty="0"/>
              <a:t>(waiting</a:t>
            </a:r>
            <a:r>
              <a:rPr lang="en-US" dirty="0" smtClean="0"/>
              <a:t>)</a:t>
            </a:r>
          </a:p>
          <a:p>
            <a:r>
              <a:rPr lang="en-US" dirty="0"/>
              <a:t>If you want more or fewer bars, you can refine your plot by using the "breaks=" option and defining your own </a:t>
            </a:r>
            <a:r>
              <a:rPr lang="en-US" dirty="0" smtClean="0"/>
              <a:t>breakpoints</a:t>
            </a:r>
          </a:p>
          <a:p>
            <a:pPr lvl="1"/>
            <a:r>
              <a:rPr lang="en-US" dirty="0"/>
              <a:t>range(waiting</a:t>
            </a:r>
            <a:r>
              <a:rPr lang="en-US" dirty="0" smtClean="0"/>
              <a:t>)</a:t>
            </a:r>
          </a:p>
          <a:p>
            <a:pPr lvl="1"/>
            <a:r>
              <a:rPr lang="en-US" dirty="0" err="1"/>
              <a:t>hist</a:t>
            </a:r>
            <a:r>
              <a:rPr lang="en-US" dirty="0"/>
              <a:t>(waiting, breaks=</a:t>
            </a:r>
            <a:r>
              <a:rPr lang="en-US" dirty="0" err="1"/>
              <a:t>seq</a:t>
            </a:r>
            <a:r>
              <a:rPr lang="en-US" dirty="0"/>
              <a:t>(40,100,10))</a:t>
            </a:r>
          </a:p>
          <a:p>
            <a:pPr lvl="1"/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4C9F97-4B11-4EF3-A227-EC3010DDDC4C}" type="slidenum">
              <a:rPr lang="en-US" smtClean="0"/>
              <a:pPr/>
              <a:t>22</a:t>
            </a:fld>
            <a:endParaRPr lang="en-US"/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CT Dept, YCCE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500186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Histograms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R also incorporates many functions for data </a:t>
            </a:r>
            <a:r>
              <a:rPr lang="en-US" dirty="0" smtClean="0"/>
              <a:t>smoothing</a:t>
            </a:r>
          </a:p>
          <a:p>
            <a:r>
              <a:rPr lang="en-US" dirty="0"/>
              <a:t>kernel density smoothing of </a:t>
            </a:r>
            <a:r>
              <a:rPr lang="en-US" dirty="0" smtClean="0"/>
              <a:t>histograms</a:t>
            </a:r>
          </a:p>
          <a:p>
            <a:pPr lvl="1"/>
            <a:r>
              <a:rPr lang="en-US" dirty="0"/>
              <a:t>plot(density(waiting</a:t>
            </a:r>
            <a:r>
              <a:rPr lang="en-US" dirty="0" smtClean="0"/>
              <a:t>))</a:t>
            </a:r>
          </a:p>
          <a:p>
            <a:r>
              <a:rPr lang="en-US" dirty="0" smtClean="0"/>
              <a:t>Want more fancier?</a:t>
            </a:r>
          </a:p>
          <a:p>
            <a:pPr lvl="1"/>
            <a:r>
              <a:rPr lang="en-US" dirty="0" err="1"/>
              <a:t>hist</a:t>
            </a:r>
            <a:r>
              <a:rPr lang="en-US" dirty="0"/>
              <a:t>(waiting, </a:t>
            </a:r>
            <a:r>
              <a:rPr lang="en-US" dirty="0" err="1"/>
              <a:t>prob</a:t>
            </a:r>
            <a:r>
              <a:rPr lang="en-US" dirty="0"/>
              <a:t>=T)</a:t>
            </a:r>
          </a:p>
          <a:p>
            <a:pPr lvl="1"/>
            <a:r>
              <a:rPr lang="en-US" dirty="0" smtClean="0"/>
              <a:t>lines(density(waiting</a:t>
            </a:r>
            <a:r>
              <a:rPr lang="en-US" dirty="0"/>
              <a:t>))</a:t>
            </a:r>
          </a:p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4C9F97-4B11-4EF3-A227-EC3010DDDC4C}" type="slidenum">
              <a:rPr lang="en-US" smtClean="0"/>
              <a:pPr/>
              <a:t>23</a:t>
            </a:fld>
            <a:endParaRPr lang="en-US"/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CT Dept, YCCE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0643672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Histograms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dirty="0"/>
              <a:t>The density( ) function does kernel density </a:t>
            </a:r>
            <a:r>
              <a:rPr lang="en-US" dirty="0" smtClean="0"/>
              <a:t>smoothing</a:t>
            </a:r>
          </a:p>
          <a:p>
            <a:r>
              <a:rPr lang="en-US" dirty="0"/>
              <a:t>To plot the smoothed curve on top of a histogram, set the "</a:t>
            </a:r>
            <a:r>
              <a:rPr lang="en-US" dirty="0" err="1"/>
              <a:t>prob</a:t>
            </a:r>
            <a:r>
              <a:rPr lang="en-US" dirty="0"/>
              <a:t>=" option to </a:t>
            </a:r>
            <a:r>
              <a:rPr lang="en-US" dirty="0" smtClean="0"/>
              <a:t>TRUE</a:t>
            </a:r>
          </a:p>
          <a:p>
            <a:r>
              <a:rPr lang="en-US" dirty="0"/>
              <a:t>This plots densities rather than </a:t>
            </a:r>
            <a:r>
              <a:rPr lang="en-US" dirty="0" smtClean="0"/>
              <a:t>frequencies</a:t>
            </a:r>
          </a:p>
          <a:p>
            <a:r>
              <a:rPr lang="en-US" dirty="0"/>
              <a:t>use lines( ) rather than plot( ) to plot the smoothed </a:t>
            </a:r>
            <a:r>
              <a:rPr lang="en-US" dirty="0" smtClean="0"/>
              <a:t>curve</a:t>
            </a:r>
          </a:p>
          <a:p>
            <a:r>
              <a:rPr lang="en-US" dirty="0"/>
              <a:t>This low level graphics function will add the smoothed curve to the histogram rather than drawing a new plot and thereby erasing the histogram.</a:t>
            </a:r>
          </a:p>
          <a:p>
            <a:pPr marL="64008" indent="0">
              <a:buNone/>
            </a:pP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4C9F97-4B11-4EF3-A227-EC3010DDDC4C}" type="slidenum">
              <a:rPr lang="en-US" smtClean="0"/>
              <a:pPr/>
              <a:t>24</a:t>
            </a:fld>
            <a:endParaRPr lang="en-US"/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CT Dept, YCCE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2212400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Numerical Summaries by Groups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5029200"/>
          </a:xfrm>
        </p:spPr>
        <p:txBody>
          <a:bodyPr>
            <a:normAutofit fontScale="92500" lnSpcReduction="20000"/>
          </a:bodyPr>
          <a:lstStyle/>
          <a:p>
            <a:r>
              <a:rPr lang="en-US" dirty="0"/>
              <a:t>When you have a numerical variable indexed by a categorical variable or factor, you might want a group-by-group summary in graphical </a:t>
            </a:r>
            <a:r>
              <a:rPr lang="en-US" dirty="0" smtClean="0"/>
              <a:t>form</a:t>
            </a:r>
          </a:p>
          <a:p>
            <a:r>
              <a:rPr lang="en-US" dirty="0"/>
              <a:t>The primary way R offers to achieve this is side-by-side </a:t>
            </a:r>
            <a:r>
              <a:rPr lang="en-US" dirty="0" smtClean="0"/>
              <a:t>boxplots</a:t>
            </a:r>
          </a:p>
          <a:p>
            <a:pPr lvl="1"/>
            <a:r>
              <a:rPr lang="en-US" dirty="0"/>
              <a:t>data(</a:t>
            </a:r>
            <a:r>
              <a:rPr lang="en-US" dirty="0" err="1"/>
              <a:t>chickwts</a:t>
            </a:r>
            <a:r>
              <a:rPr lang="en-US" dirty="0" smtClean="0"/>
              <a:t>)</a:t>
            </a:r>
          </a:p>
          <a:p>
            <a:pPr lvl="1"/>
            <a:r>
              <a:rPr lang="en-US" dirty="0" err="1"/>
              <a:t>str</a:t>
            </a:r>
            <a:r>
              <a:rPr lang="en-US" dirty="0"/>
              <a:t>(</a:t>
            </a:r>
            <a:r>
              <a:rPr lang="en-US" dirty="0" err="1"/>
              <a:t>chickwts</a:t>
            </a:r>
            <a:r>
              <a:rPr lang="en-US" dirty="0" smtClean="0"/>
              <a:t>)</a:t>
            </a:r>
          </a:p>
          <a:p>
            <a:pPr lvl="1"/>
            <a:r>
              <a:rPr lang="en-US" sz="2800" dirty="0" smtClean="0"/>
              <a:t>attach(</a:t>
            </a:r>
            <a:r>
              <a:rPr lang="en-US" sz="2800" dirty="0" err="1" smtClean="0"/>
              <a:t>chickwts</a:t>
            </a:r>
            <a:r>
              <a:rPr lang="en-US" sz="2800" dirty="0"/>
              <a:t>)</a:t>
            </a:r>
            <a:endParaRPr lang="en-US" sz="3600" dirty="0"/>
          </a:p>
          <a:p>
            <a:pPr lvl="1"/>
            <a:r>
              <a:rPr lang="en-US" sz="2800" dirty="0" smtClean="0"/>
              <a:t>plot(feed</a:t>
            </a:r>
            <a:r>
              <a:rPr lang="en-US" sz="2800" dirty="0"/>
              <a:t>, weight)</a:t>
            </a:r>
            <a:endParaRPr lang="en-US" sz="3600" dirty="0"/>
          </a:p>
          <a:p>
            <a:pPr lvl="1"/>
            <a:r>
              <a:rPr lang="en-US" sz="2800" dirty="0" smtClean="0"/>
              <a:t>title(main</a:t>
            </a:r>
            <a:r>
              <a:rPr lang="en-US" sz="2800" dirty="0"/>
              <a:t>="Body Weight of Chicks by Type of Diet")</a:t>
            </a:r>
            <a:endParaRPr lang="en-US" sz="3600" dirty="0"/>
          </a:p>
          <a:p>
            <a:pPr lvl="1"/>
            <a:r>
              <a:rPr lang="en-US" sz="2800" dirty="0" smtClean="0"/>
              <a:t>detach(</a:t>
            </a:r>
            <a:r>
              <a:rPr lang="en-US" sz="2800" dirty="0" err="1" smtClean="0"/>
              <a:t>chickwts</a:t>
            </a:r>
            <a:r>
              <a:rPr lang="en-US" sz="2800" dirty="0"/>
              <a:t>)</a:t>
            </a:r>
            <a:endParaRPr lang="en-US" sz="3600" dirty="0"/>
          </a:p>
          <a:p>
            <a:pPr lvl="1"/>
            <a:endParaRPr lang="en-US" dirty="0" smtClean="0"/>
          </a:p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4C9F97-4B11-4EF3-A227-EC3010DDDC4C}" type="slidenum">
              <a:rPr lang="en-US" smtClean="0"/>
              <a:pPr/>
              <a:t>25</a:t>
            </a:fld>
            <a:endParaRPr lang="en-US"/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CT Dept, YCCE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92696945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Boxplot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55000" lnSpcReduction="20000"/>
          </a:bodyPr>
          <a:lstStyle/>
          <a:p>
            <a:pPr>
              <a:buFont typeface="Wingdings" pitchFamily="2" charset="2"/>
              <a:buChar char="Ø"/>
            </a:pPr>
            <a:r>
              <a:rPr lang="en-US" sz="4000" dirty="0"/>
              <a:t>A boxplot splits the data set into </a:t>
            </a:r>
            <a:r>
              <a:rPr lang="en-US" sz="4000" dirty="0">
                <a:hlinkClick r:id="rId2"/>
              </a:rPr>
              <a:t>quartiles</a:t>
            </a:r>
            <a:r>
              <a:rPr lang="en-US" sz="4000" dirty="0"/>
              <a:t>. </a:t>
            </a:r>
          </a:p>
          <a:p>
            <a:pPr>
              <a:buFont typeface="Wingdings" pitchFamily="2" charset="2"/>
              <a:buChar char="Ø"/>
            </a:pPr>
            <a:endParaRPr lang="en-US" sz="4000" dirty="0"/>
          </a:p>
          <a:p>
            <a:pPr>
              <a:buFont typeface="Wingdings" pitchFamily="2" charset="2"/>
              <a:buChar char="Ø"/>
            </a:pPr>
            <a:r>
              <a:rPr lang="en-US" sz="4000" dirty="0"/>
              <a:t>The body of the boxplot consists of a "box" , which goes from the first quartile (Q1) to the third quartile (Q3).</a:t>
            </a:r>
          </a:p>
          <a:p>
            <a:pPr marL="0" indent="0">
              <a:buNone/>
            </a:pPr>
            <a:endParaRPr lang="en-US" sz="4000" dirty="0"/>
          </a:p>
          <a:p>
            <a:pPr>
              <a:buFont typeface="Wingdings" pitchFamily="2" charset="2"/>
              <a:buChar char="Ø"/>
            </a:pPr>
            <a:r>
              <a:rPr lang="en-US" sz="4000" dirty="0"/>
              <a:t>Within the box, a vertical line is drawn at the Q2, the </a:t>
            </a:r>
            <a:r>
              <a:rPr lang="en-US" sz="4000" dirty="0">
                <a:hlinkClick r:id="rId3"/>
              </a:rPr>
              <a:t>median</a:t>
            </a:r>
            <a:r>
              <a:rPr lang="en-US" sz="4000" dirty="0"/>
              <a:t> of the data set. </a:t>
            </a:r>
          </a:p>
          <a:p>
            <a:pPr>
              <a:buFont typeface="Wingdings" pitchFamily="2" charset="2"/>
              <a:buChar char="Ø"/>
            </a:pPr>
            <a:endParaRPr lang="en-US" sz="4000" dirty="0"/>
          </a:p>
          <a:p>
            <a:pPr>
              <a:buFont typeface="Wingdings" pitchFamily="2" charset="2"/>
              <a:buChar char="Ø"/>
            </a:pPr>
            <a:r>
              <a:rPr lang="en-US" sz="4000" dirty="0"/>
              <a:t>Two horizontal lines, called whiskers, extend from the front and back of the box.</a:t>
            </a:r>
          </a:p>
          <a:p>
            <a:pPr>
              <a:buFont typeface="Wingdings" pitchFamily="2" charset="2"/>
              <a:buChar char="Ø"/>
            </a:pPr>
            <a:endParaRPr lang="en-US" sz="4000" dirty="0"/>
          </a:p>
          <a:p>
            <a:pPr>
              <a:buFont typeface="Wingdings" pitchFamily="2" charset="2"/>
              <a:buChar char="Ø"/>
            </a:pPr>
            <a:r>
              <a:rPr lang="en-US" sz="4000" dirty="0"/>
              <a:t> The front whisker goes from Q1 to the smallest non-outlier in the data set, and the back whisker goes from Q3 to the largest non-outlier.</a:t>
            </a:r>
          </a:p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4C9F97-4B11-4EF3-A227-EC3010DDDC4C}" type="slidenum">
              <a:rPr lang="en-US" smtClean="0"/>
              <a:pPr/>
              <a:t>26</a:t>
            </a:fld>
            <a:endParaRPr lang="en-US"/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CT Dept, YCCE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530504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Boxplot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 function boxplot( ), which takes a formula </a:t>
            </a:r>
            <a:r>
              <a:rPr lang="en-US" dirty="0" smtClean="0"/>
              <a:t>interface</a:t>
            </a:r>
          </a:p>
          <a:p>
            <a:pPr lvl="1"/>
            <a:r>
              <a:rPr lang="en-US" dirty="0"/>
              <a:t>boxplot(weight ~ feed, data = </a:t>
            </a:r>
            <a:r>
              <a:rPr lang="en-US" dirty="0" err="1"/>
              <a:t>chickwts</a:t>
            </a:r>
            <a:r>
              <a:rPr lang="en-US" dirty="0"/>
              <a:t>, col = "</a:t>
            </a:r>
            <a:r>
              <a:rPr lang="en-US" dirty="0" err="1"/>
              <a:t>lightgray</a:t>
            </a:r>
            <a:r>
              <a:rPr lang="en-US" dirty="0"/>
              <a:t>",</a:t>
            </a:r>
          </a:p>
          <a:p>
            <a:pPr marL="537210" lvl="1" indent="0">
              <a:buNone/>
            </a:pPr>
            <a:r>
              <a:rPr lang="en-US" dirty="0" smtClean="0"/>
              <a:t>   +     </a:t>
            </a:r>
            <a:r>
              <a:rPr lang="en-US" dirty="0" err="1"/>
              <a:t>varwidth</a:t>
            </a:r>
            <a:r>
              <a:rPr lang="en-US" dirty="0"/>
              <a:t> = TRUE, notch = TRUE, main = </a:t>
            </a:r>
            <a:r>
              <a:rPr lang="en-US" dirty="0" smtClean="0"/>
              <a:t> </a:t>
            </a:r>
            <a:br>
              <a:rPr lang="en-US" dirty="0" smtClean="0"/>
            </a:br>
            <a:r>
              <a:rPr lang="en-US" dirty="0" smtClean="0"/>
              <a:t>    "</a:t>
            </a:r>
            <a:r>
              <a:rPr lang="en-US" dirty="0" err="1"/>
              <a:t>chickwt</a:t>
            </a:r>
            <a:r>
              <a:rPr lang="en-US" dirty="0"/>
              <a:t> data",</a:t>
            </a:r>
          </a:p>
          <a:p>
            <a:pPr marL="537210" lvl="1" indent="0">
              <a:buNone/>
            </a:pPr>
            <a:r>
              <a:rPr lang="en-US" dirty="0" smtClean="0"/>
              <a:t>   +     </a:t>
            </a:r>
            <a:r>
              <a:rPr lang="en-US" dirty="0" err="1"/>
              <a:t>ylab</a:t>
            </a:r>
            <a:r>
              <a:rPr lang="en-US" dirty="0"/>
              <a:t> = "Weight at six weeks (</a:t>
            </a:r>
            <a:r>
              <a:rPr lang="en-US" dirty="0" err="1"/>
              <a:t>gm</a:t>
            </a:r>
            <a:r>
              <a:rPr lang="en-US" dirty="0"/>
              <a:t>)")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4C9F97-4B11-4EF3-A227-EC3010DDDC4C}" type="slidenum">
              <a:rPr lang="en-US" smtClean="0"/>
              <a:pPr/>
              <a:t>27</a:t>
            </a:fld>
            <a:endParaRPr lang="en-US"/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CT Dept, YCCE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436606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Bubble Plot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14282" y="1357298"/>
            <a:ext cx="8929718" cy="5097510"/>
          </a:xfrm>
        </p:spPr>
        <p:txBody>
          <a:bodyPr>
            <a:normAutofit/>
          </a:bodyPr>
          <a:lstStyle/>
          <a:p>
            <a:r>
              <a:rPr lang="en-IN" dirty="0" smtClean="0"/>
              <a:t>Two quantitative variables are mapped to the x and y axes, and a third quantitative variables is mapped to the size of each point</a:t>
            </a:r>
          </a:p>
          <a:p>
            <a:r>
              <a:rPr lang="en-IN" b="1" dirty="0" smtClean="0"/>
              <a:t>Uses</a:t>
            </a:r>
          </a:p>
          <a:p>
            <a:pPr lvl="1"/>
            <a:r>
              <a:rPr lang="en-IN" dirty="0" smtClean="0"/>
              <a:t>Bubble charts are used when you want to compare data points on three quantitative variables. </a:t>
            </a:r>
          </a:p>
          <a:p>
            <a:pPr lvl="1"/>
            <a:r>
              <a:rPr lang="en-IN" dirty="0" smtClean="0"/>
              <a:t>The x and y position represent the magnitude of two of the quantitative variables, and the area of the bubble represents the magnitude of the third quantitative variable.</a:t>
            </a:r>
          </a:p>
          <a:p>
            <a:endParaRPr lang="en-IN" dirty="0" smtClean="0"/>
          </a:p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4C9F97-4B11-4EF3-A227-EC3010DDDC4C}" type="slidenum">
              <a:rPr lang="en-US" smtClean="0"/>
              <a:pPr/>
              <a:t>28</a:t>
            </a:fld>
            <a:endParaRPr lang="en-US"/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CT Dept, YCCE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13887261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Bubble Plot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14282" y="1357298"/>
            <a:ext cx="8715436" cy="5097510"/>
          </a:xfrm>
        </p:spPr>
        <p:txBody>
          <a:bodyPr>
            <a:normAutofit fontScale="92500" lnSpcReduction="10000"/>
          </a:bodyPr>
          <a:lstStyle/>
          <a:p>
            <a:pPr>
              <a:buNone/>
            </a:pPr>
            <a:r>
              <a:rPr lang="en-IN" sz="1800" dirty="0" smtClean="0"/>
              <a:t># 1. create '</a:t>
            </a:r>
            <a:r>
              <a:rPr lang="en-IN" sz="1800" dirty="0" err="1" smtClean="0"/>
              <a:t>x_var</a:t>
            </a:r>
            <a:r>
              <a:rPr lang="en-IN" sz="1800" dirty="0" smtClean="0"/>
              <a:t>' as 15 random, normally distributed numbers (using </a:t>
            </a:r>
            <a:r>
              <a:rPr lang="en-IN" sz="1800" dirty="0" err="1" smtClean="0"/>
              <a:t>rnorm</a:t>
            </a:r>
            <a:r>
              <a:rPr lang="en-IN" sz="1800" dirty="0" smtClean="0"/>
              <a:t>) </a:t>
            </a:r>
          </a:p>
          <a:p>
            <a:pPr>
              <a:buNone/>
            </a:pPr>
            <a:r>
              <a:rPr lang="en-IN" sz="1800" dirty="0" smtClean="0"/>
              <a:t># 2. create '</a:t>
            </a:r>
            <a:r>
              <a:rPr lang="en-IN" sz="1800" dirty="0" err="1" smtClean="0"/>
              <a:t>y_var</a:t>
            </a:r>
            <a:r>
              <a:rPr lang="en-IN" sz="1800" dirty="0" smtClean="0"/>
              <a:t>' as 15 random, normally distributed numbers (using </a:t>
            </a:r>
            <a:r>
              <a:rPr lang="en-IN" sz="1800" dirty="0" err="1" smtClean="0"/>
              <a:t>rnorm</a:t>
            </a:r>
            <a:r>
              <a:rPr lang="en-IN" sz="1800" dirty="0" smtClean="0"/>
              <a:t>) </a:t>
            </a:r>
          </a:p>
          <a:p>
            <a:pPr>
              <a:buNone/>
            </a:pPr>
            <a:r>
              <a:rPr lang="en-IN" sz="1800" dirty="0" smtClean="0"/>
              <a:t># 3. create '</a:t>
            </a:r>
            <a:r>
              <a:rPr lang="en-IN" sz="1800" dirty="0" err="1" smtClean="0"/>
              <a:t>size_var</a:t>
            </a:r>
            <a:r>
              <a:rPr lang="en-IN" sz="1800" dirty="0" smtClean="0"/>
              <a:t>' as a random number between 1 and 10 </a:t>
            </a:r>
          </a:p>
          <a:p>
            <a:r>
              <a:rPr lang="en-IN" dirty="0" err="1" smtClean="0"/>
              <a:t>x_var</a:t>
            </a:r>
            <a:r>
              <a:rPr lang="en-IN" dirty="0" smtClean="0"/>
              <a:t> &lt;- </a:t>
            </a:r>
            <a:r>
              <a:rPr lang="en-IN" dirty="0" err="1" smtClean="0"/>
              <a:t>rnorm</a:t>
            </a:r>
            <a:r>
              <a:rPr lang="en-IN" dirty="0" smtClean="0"/>
              <a:t>( n = 15, mean = 5, </a:t>
            </a:r>
            <a:r>
              <a:rPr lang="en-IN" dirty="0" err="1" smtClean="0"/>
              <a:t>sd</a:t>
            </a:r>
            <a:r>
              <a:rPr lang="en-IN" dirty="0" smtClean="0"/>
              <a:t> = 2)</a:t>
            </a:r>
          </a:p>
          <a:p>
            <a:r>
              <a:rPr lang="en-IN" dirty="0" smtClean="0"/>
              <a:t> </a:t>
            </a:r>
            <a:r>
              <a:rPr lang="en-IN" dirty="0" err="1" smtClean="0"/>
              <a:t>y_var</a:t>
            </a:r>
            <a:r>
              <a:rPr lang="en-IN" dirty="0" smtClean="0"/>
              <a:t> &lt;- </a:t>
            </a:r>
            <a:r>
              <a:rPr lang="en-IN" dirty="0" err="1" smtClean="0"/>
              <a:t>x_var</a:t>
            </a:r>
            <a:r>
              <a:rPr lang="en-IN" dirty="0" smtClean="0"/>
              <a:t> + </a:t>
            </a:r>
            <a:r>
              <a:rPr lang="en-IN" dirty="0" err="1" smtClean="0"/>
              <a:t>rnorm</a:t>
            </a:r>
            <a:r>
              <a:rPr lang="en-IN" dirty="0" smtClean="0"/>
              <a:t>(n = 15, mean = 5, </a:t>
            </a:r>
            <a:r>
              <a:rPr lang="en-IN" dirty="0" err="1" smtClean="0"/>
              <a:t>sd</a:t>
            </a:r>
            <a:r>
              <a:rPr lang="en-IN" dirty="0" smtClean="0"/>
              <a:t> =4)</a:t>
            </a:r>
          </a:p>
          <a:p>
            <a:r>
              <a:rPr lang="en-IN" dirty="0" smtClean="0"/>
              <a:t> </a:t>
            </a:r>
            <a:r>
              <a:rPr lang="en-IN" dirty="0" err="1" smtClean="0"/>
              <a:t>size_var</a:t>
            </a:r>
            <a:r>
              <a:rPr lang="en-IN" dirty="0" smtClean="0"/>
              <a:t> &lt;- </a:t>
            </a:r>
            <a:r>
              <a:rPr lang="en-IN" dirty="0" err="1" smtClean="0"/>
              <a:t>runif</a:t>
            </a:r>
            <a:r>
              <a:rPr lang="en-IN" dirty="0" smtClean="0"/>
              <a:t>(15, 1,10)</a:t>
            </a:r>
            <a:endParaRPr lang="en-US" dirty="0" smtClean="0"/>
          </a:p>
          <a:p>
            <a:r>
              <a:rPr lang="en-US" dirty="0" smtClean="0"/>
              <a:t>u </a:t>
            </a:r>
            <a:r>
              <a:rPr lang="en-US" dirty="0"/>
              <a:t>&lt;- </a:t>
            </a:r>
            <a:r>
              <a:rPr lang="en-US" b="1" dirty="0"/>
              <a:t>sample</a:t>
            </a:r>
            <a:r>
              <a:rPr lang="en-US" dirty="0"/>
              <a:t>( </a:t>
            </a:r>
            <a:r>
              <a:rPr lang="en-US" b="1" dirty="0"/>
              <a:t>c</a:t>
            </a:r>
            <a:r>
              <a:rPr lang="en-US" dirty="0"/>
              <a:t>("</a:t>
            </a:r>
            <a:r>
              <a:rPr lang="en-US" dirty="0" err="1"/>
              <a:t>pink","green","lightblue</a:t>
            </a:r>
            <a:r>
              <a:rPr lang="en-US" dirty="0" smtClean="0"/>
              <a:t>"),15,replace=T)</a:t>
            </a:r>
          </a:p>
          <a:p>
            <a:r>
              <a:rPr lang="en-US" b="1" dirty="0" smtClean="0"/>
              <a:t>plot</a:t>
            </a:r>
            <a:r>
              <a:rPr lang="en-US" dirty="0" smtClean="0"/>
              <a:t>(</a:t>
            </a:r>
            <a:r>
              <a:rPr lang="en-IN" dirty="0" err="1" smtClean="0"/>
              <a:t>x_var</a:t>
            </a:r>
            <a:r>
              <a:rPr lang="en-IN" dirty="0" smtClean="0"/>
              <a:t> </a:t>
            </a:r>
            <a:r>
              <a:rPr lang="en-US" dirty="0" smtClean="0"/>
              <a:t>, </a:t>
            </a:r>
            <a:r>
              <a:rPr lang="en-IN" dirty="0" err="1" smtClean="0"/>
              <a:t>y_var</a:t>
            </a:r>
            <a:r>
              <a:rPr lang="en-IN" dirty="0" smtClean="0"/>
              <a:t> </a:t>
            </a:r>
            <a:r>
              <a:rPr lang="en-US" dirty="0" smtClean="0"/>
              <a:t>, </a:t>
            </a:r>
            <a:r>
              <a:rPr lang="en-US" dirty="0" err="1"/>
              <a:t>cex</a:t>
            </a:r>
            <a:r>
              <a:rPr lang="en-US" dirty="0"/>
              <a:t> = </a:t>
            </a:r>
            <a:r>
              <a:rPr lang="en-IN" dirty="0" err="1" smtClean="0"/>
              <a:t>size_var</a:t>
            </a:r>
            <a:r>
              <a:rPr lang="en-IN" dirty="0" smtClean="0"/>
              <a:t> </a:t>
            </a:r>
            <a:r>
              <a:rPr lang="en-US" dirty="0" smtClean="0"/>
              <a:t>, </a:t>
            </a:r>
            <a:r>
              <a:rPr lang="en-US" dirty="0"/>
              <a:t>type="</a:t>
            </a:r>
            <a:r>
              <a:rPr lang="en-US" dirty="0" err="1"/>
              <a:t>p",xlab</a:t>
            </a:r>
            <a:r>
              <a:rPr lang="en-US" dirty="0"/>
              <a:t> = "", </a:t>
            </a:r>
            <a:r>
              <a:rPr lang="en-US" dirty="0" err="1"/>
              <a:t>ylab</a:t>
            </a:r>
            <a:r>
              <a:rPr lang="en-US" dirty="0"/>
              <a:t> = "", </a:t>
            </a:r>
            <a:r>
              <a:rPr lang="en-US" dirty="0" err="1" smtClean="0"/>
              <a:t>pch</a:t>
            </a:r>
            <a:r>
              <a:rPr lang="en-US" dirty="0" smtClean="0"/>
              <a:t>=16,main </a:t>
            </a:r>
            <a:r>
              <a:rPr lang="en-US" dirty="0"/>
              <a:t>= "Bubble plot", col=u</a:t>
            </a:r>
            <a:r>
              <a:rPr lang="en-US" dirty="0" smtClean="0"/>
              <a:t>)</a:t>
            </a:r>
          </a:p>
          <a:p>
            <a:r>
              <a:rPr lang="en-US" b="1" dirty="0" smtClean="0"/>
              <a:t>points</a:t>
            </a:r>
            <a:r>
              <a:rPr lang="en-US" dirty="0" smtClean="0"/>
              <a:t>(</a:t>
            </a:r>
            <a:r>
              <a:rPr lang="en-US" dirty="0" err="1" smtClean="0"/>
              <a:t>x_var</a:t>
            </a:r>
            <a:r>
              <a:rPr lang="en-US" dirty="0" smtClean="0"/>
              <a:t>, </a:t>
            </a:r>
            <a:r>
              <a:rPr lang="en-US" dirty="0" err="1" smtClean="0"/>
              <a:t>y_var</a:t>
            </a:r>
            <a:r>
              <a:rPr lang="en-US" dirty="0" smtClean="0"/>
              <a:t>, </a:t>
            </a:r>
            <a:r>
              <a:rPr lang="en-US" dirty="0" err="1"/>
              <a:t>cex</a:t>
            </a:r>
            <a:r>
              <a:rPr lang="en-US" dirty="0"/>
              <a:t> = </a:t>
            </a:r>
            <a:r>
              <a:rPr lang="en-US" dirty="0" err="1" smtClean="0"/>
              <a:t>size_var</a:t>
            </a:r>
            <a:r>
              <a:rPr lang="en-US" dirty="0" smtClean="0"/>
              <a:t>)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4C9F97-4B11-4EF3-A227-EC3010DDDC4C}" type="slidenum">
              <a:rPr lang="en-US" smtClean="0"/>
              <a:pPr/>
              <a:t>29</a:t>
            </a:fld>
            <a:endParaRPr lang="en-US"/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CT Dept, YCCE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13887261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Bubble Plot</a:t>
            </a:r>
          </a:p>
        </p:txBody>
      </p:sp>
      <p:pic>
        <p:nvPicPr>
          <p:cNvPr id="2050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95400" y="1882774"/>
            <a:ext cx="6629400" cy="48228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4C9F97-4B11-4EF3-A227-EC3010DDDC4C}" type="slidenum">
              <a:rPr lang="en-US" smtClean="0"/>
              <a:pPr/>
              <a:t>30</a:t>
            </a:fld>
            <a:endParaRPr lang="en-US"/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CT Dept, YCCE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3138248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Scatterplots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For examining the relationship between two numerical variables, you can't beat a </a:t>
            </a:r>
            <a:r>
              <a:rPr lang="en-US" dirty="0" smtClean="0"/>
              <a:t>scatterplot</a:t>
            </a:r>
          </a:p>
          <a:p>
            <a:pPr lvl="1"/>
            <a:r>
              <a:rPr lang="en-US" dirty="0"/>
              <a:t>data(mammals, package="MASS</a:t>
            </a:r>
            <a:r>
              <a:rPr lang="en-US" dirty="0" smtClean="0"/>
              <a:t>")</a:t>
            </a:r>
          </a:p>
          <a:p>
            <a:pPr lvl="1"/>
            <a:r>
              <a:rPr lang="en-US" dirty="0" err="1"/>
              <a:t>str</a:t>
            </a:r>
            <a:r>
              <a:rPr lang="en-US" dirty="0"/>
              <a:t>(mammals</a:t>
            </a:r>
            <a:r>
              <a:rPr lang="en-US" dirty="0" smtClean="0"/>
              <a:t>)</a:t>
            </a:r>
          </a:p>
          <a:p>
            <a:pPr lvl="1"/>
            <a:r>
              <a:rPr lang="en-US" dirty="0"/>
              <a:t>attach(mammals)</a:t>
            </a:r>
          </a:p>
          <a:p>
            <a:pPr lvl="1"/>
            <a:r>
              <a:rPr lang="en-US" dirty="0" smtClean="0"/>
              <a:t>plot(log(body</a:t>
            </a:r>
            <a:r>
              <a:rPr lang="en-US" dirty="0"/>
              <a:t>), log(brain</a:t>
            </a:r>
            <a:r>
              <a:rPr lang="en-US" dirty="0" smtClean="0"/>
              <a:t>))</a:t>
            </a:r>
          </a:p>
          <a:p>
            <a:pPr lvl="1"/>
            <a:r>
              <a:rPr lang="en-US" dirty="0" err="1"/>
              <a:t>scatter.smooth</a:t>
            </a:r>
            <a:r>
              <a:rPr lang="en-US" dirty="0"/>
              <a:t>(log(body), log(brain))</a:t>
            </a:r>
          </a:p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4C9F97-4B11-4EF3-A227-EC3010DDDC4C}" type="slidenum">
              <a:rPr lang="en-US" smtClean="0"/>
              <a:pPr/>
              <a:t>31</a:t>
            </a:fld>
            <a:endParaRPr lang="en-US"/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CT Dept, YCCE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5762250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Scatterplots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1028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24400" y="1724025"/>
            <a:ext cx="4114800" cy="47529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029" name="Picture 5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3400" y="1724025"/>
            <a:ext cx="4190999" cy="47529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8" name="Slide Number Placeholder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4C9F97-4B11-4EF3-A227-EC3010DDDC4C}" type="slidenum">
              <a:rPr lang="en-US" smtClean="0"/>
              <a:pPr/>
              <a:t>32</a:t>
            </a:fld>
            <a:endParaRPr lang="en-US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CT Dept, YCCE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30485649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Scatterplots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In the given example the </a:t>
            </a:r>
            <a:r>
              <a:rPr lang="en-US" dirty="0"/>
              <a:t>data frame contains brain and body weights from 62 species of land </a:t>
            </a:r>
            <a:r>
              <a:rPr lang="en-US" dirty="0" smtClean="0"/>
              <a:t>mammals</a:t>
            </a:r>
          </a:p>
          <a:p>
            <a:r>
              <a:rPr lang="en-US" dirty="0"/>
              <a:t>T</a:t>
            </a:r>
            <a:r>
              <a:rPr lang="en-US" dirty="0" smtClean="0"/>
              <a:t>o </a:t>
            </a:r>
            <a:r>
              <a:rPr lang="en-US" dirty="0"/>
              <a:t>produce a linear plot, </a:t>
            </a:r>
            <a:r>
              <a:rPr lang="en-US" dirty="0" smtClean="0"/>
              <a:t>need </a:t>
            </a:r>
            <a:r>
              <a:rPr lang="en-US" dirty="0"/>
              <a:t>to do a log transform on both </a:t>
            </a:r>
            <a:r>
              <a:rPr lang="en-US" dirty="0" smtClean="0"/>
              <a:t>variables</a:t>
            </a:r>
          </a:p>
          <a:p>
            <a:r>
              <a:rPr lang="en-US" dirty="0" smtClean="0"/>
              <a:t>The </a:t>
            </a:r>
            <a:r>
              <a:rPr lang="en-US" dirty="0" err="1"/>
              <a:t>scatter.smooth</a:t>
            </a:r>
            <a:r>
              <a:rPr lang="en-US" dirty="0"/>
              <a:t>( ) function also plots a smoothed, nonparametric regression line on the </a:t>
            </a:r>
            <a:r>
              <a:rPr lang="en-US" dirty="0" smtClean="0"/>
              <a:t>plot</a:t>
            </a:r>
          </a:p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4C9F97-4B11-4EF3-A227-EC3010DDDC4C}" type="slidenum">
              <a:rPr lang="en-US" smtClean="0"/>
              <a:pPr/>
              <a:t>33</a:t>
            </a:fld>
            <a:endParaRPr lang="en-US"/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CT Dept, YCCE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7260724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Scatterplots 3D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pPr marL="0" indent="0" latinLnBrk="1">
              <a:buNone/>
            </a:pPr>
            <a:r>
              <a:rPr lang="en-US" sz="3200" dirty="0">
                <a:latin typeface="Arial" pitchFamily="34" charset="0"/>
                <a:cs typeface="Arial" pitchFamily="34" charset="0"/>
              </a:rPr>
              <a:t>Step1: Install package scatterplot3d first using</a:t>
            </a:r>
          </a:p>
          <a:p>
            <a:pPr marL="0" indent="0" latinLnBrk="1">
              <a:buNone/>
            </a:pPr>
            <a:r>
              <a:rPr lang="en-US" sz="3200" dirty="0">
                <a:latin typeface="Arial" pitchFamily="34" charset="0"/>
                <a:cs typeface="Arial" pitchFamily="34" charset="0"/>
              </a:rPr>
              <a:t> internet.</a:t>
            </a:r>
          </a:p>
          <a:p>
            <a:pPr marL="0" indent="0" latinLnBrk="1">
              <a:buNone/>
            </a:pPr>
            <a:r>
              <a:rPr lang="en-US" sz="3200" b="1" dirty="0">
                <a:solidFill>
                  <a:schemeClr val="accent1"/>
                </a:solidFill>
                <a:latin typeface="Arial" pitchFamily="34" charset="0"/>
                <a:cs typeface="Arial" pitchFamily="34" charset="0"/>
              </a:rPr>
              <a:t>      &gt;</a:t>
            </a:r>
            <a:r>
              <a:rPr lang="en-US" sz="3200" b="1" dirty="0" err="1">
                <a:solidFill>
                  <a:schemeClr val="accent1"/>
                </a:solidFill>
                <a:latin typeface="Arial" pitchFamily="34" charset="0"/>
                <a:cs typeface="Arial" pitchFamily="34" charset="0"/>
              </a:rPr>
              <a:t>install.packages</a:t>
            </a:r>
            <a:r>
              <a:rPr lang="en-US" sz="3200" b="1" dirty="0">
                <a:solidFill>
                  <a:schemeClr val="accent1"/>
                </a:solidFill>
                <a:latin typeface="Arial" pitchFamily="34" charset="0"/>
                <a:cs typeface="Arial" pitchFamily="34" charset="0"/>
              </a:rPr>
              <a:t>(“scatterplot3d”)</a:t>
            </a:r>
          </a:p>
          <a:p>
            <a:pPr marL="0" indent="0" latinLnBrk="1">
              <a:buNone/>
            </a:pPr>
            <a:endParaRPr lang="en-US" sz="3200" b="1" dirty="0">
              <a:solidFill>
                <a:schemeClr val="accent1"/>
              </a:solidFill>
              <a:latin typeface="Arial" pitchFamily="34" charset="0"/>
              <a:cs typeface="Arial" pitchFamily="34" charset="0"/>
            </a:endParaRPr>
          </a:p>
          <a:p>
            <a:pPr marL="0" indent="0" latinLnBrk="1">
              <a:buNone/>
            </a:pPr>
            <a:r>
              <a:rPr lang="en-US" sz="3200" dirty="0">
                <a:latin typeface="Arial" pitchFamily="34" charset="0"/>
                <a:cs typeface="Arial" pitchFamily="34" charset="0"/>
              </a:rPr>
              <a:t>Step2: Import from library in every session.</a:t>
            </a:r>
          </a:p>
          <a:p>
            <a:pPr marL="0" indent="0" latinLnBrk="1">
              <a:buNone/>
            </a:pPr>
            <a:r>
              <a:rPr lang="en-US" sz="3200" b="1" dirty="0">
                <a:solidFill>
                  <a:schemeClr val="accent1"/>
                </a:solidFill>
                <a:latin typeface="Arial" pitchFamily="34" charset="0"/>
                <a:cs typeface="Arial" pitchFamily="34" charset="0"/>
              </a:rPr>
              <a:t>      &gt;library(scatterplot3d)</a:t>
            </a:r>
          </a:p>
          <a:p>
            <a:pPr latinLnBrk="1">
              <a:buFont typeface="Wingdings"/>
              <a:buChar char="Ø"/>
            </a:pPr>
            <a:endParaRPr lang="en-US" sz="3200" dirty="0">
              <a:latin typeface="Arial" pitchFamily="34" charset="0"/>
              <a:cs typeface="Arial" pitchFamily="34" charset="0"/>
            </a:endParaRPr>
          </a:p>
          <a:p>
            <a:pPr marL="0" indent="0" latinLnBrk="1">
              <a:buNone/>
            </a:pPr>
            <a:r>
              <a:rPr lang="en-US" sz="3200" dirty="0">
                <a:latin typeface="Arial" pitchFamily="34" charset="0"/>
                <a:cs typeface="Arial" pitchFamily="34" charset="0"/>
              </a:rPr>
              <a:t>Step3:This means that the database is searched by </a:t>
            </a:r>
            <a:r>
              <a:rPr lang="en-US" sz="3200" b="1" dirty="0">
                <a:latin typeface="Arial" pitchFamily="34" charset="0"/>
                <a:cs typeface="Arial" pitchFamily="34" charset="0"/>
              </a:rPr>
              <a:t>R</a:t>
            </a:r>
            <a:r>
              <a:rPr lang="en-US" sz="3200" dirty="0">
                <a:latin typeface="Arial" pitchFamily="34" charset="0"/>
                <a:cs typeface="Arial" pitchFamily="34" charset="0"/>
              </a:rPr>
              <a:t> when evaluating a variable, so objects in the database can be accessed by simply giving their names.</a:t>
            </a:r>
          </a:p>
          <a:p>
            <a:pPr latinLnBrk="1"/>
            <a:endParaRPr lang="en-US" sz="3200" dirty="0">
              <a:latin typeface="Arial" pitchFamily="34" charset="0"/>
              <a:cs typeface="Arial" pitchFamily="34" charset="0"/>
            </a:endParaRPr>
          </a:p>
          <a:p>
            <a:pPr marL="0" indent="0" latinLnBrk="1">
              <a:buNone/>
            </a:pPr>
            <a:r>
              <a:rPr lang="en-US" sz="3200" dirty="0">
                <a:latin typeface="Arial" pitchFamily="34" charset="0"/>
                <a:cs typeface="Arial" pitchFamily="34" charset="0"/>
              </a:rPr>
              <a:t>      </a:t>
            </a:r>
            <a:r>
              <a:rPr lang="en-US" sz="3200" dirty="0">
                <a:solidFill>
                  <a:schemeClr val="accent1"/>
                </a:solidFill>
                <a:latin typeface="Arial" pitchFamily="34" charset="0"/>
                <a:cs typeface="Arial" pitchFamily="34" charset="0"/>
              </a:rPr>
              <a:t>&gt; </a:t>
            </a:r>
            <a:r>
              <a:rPr lang="en-US" sz="3200" b="1" dirty="0">
                <a:solidFill>
                  <a:schemeClr val="accent1"/>
                </a:solidFill>
                <a:latin typeface="Arial" pitchFamily="34" charset="0"/>
                <a:cs typeface="Arial" pitchFamily="34" charset="0"/>
              </a:rPr>
              <a:t>attach(</a:t>
            </a:r>
            <a:r>
              <a:rPr lang="en-US" sz="3200" b="1" dirty="0" err="1">
                <a:solidFill>
                  <a:schemeClr val="accent1"/>
                </a:solidFill>
                <a:latin typeface="Arial" pitchFamily="34" charset="0"/>
                <a:cs typeface="Arial" pitchFamily="34" charset="0"/>
              </a:rPr>
              <a:t>mtcars</a:t>
            </a:r>
            <a:r>
              <a:rPr lang="en-US" sz="3200" b="1" dirty="0">
                <a:solidFill>
                  <a:schemeClr val="accent1"/>
                </a:solidFill>
                <a:latin typeface="Arial" pitchFamily="34" charset="0"/>
                <a:cs typeface="Arial" pitchFamily="34" charset="0"/>
              </a:rPr>
              <a:t>)</a:t>
            </a:r>
          </a:p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4C9F97-4B11-4EF3-A227-EC3010DDDC4C}" type="slidenum">
              <a:rPr lang="en-US" smtClean="0"/>
              <a:pPr/>
              <a:t>34</a:t>
            </a:fld>
            <a:endParaRPr lang="en-US"/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CT Dept, YCCE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30205214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67494"/>
            <a:ext cx="8229600" cy="875506"/>
          </a:xfrm>
        </p:spPr>
        <p:txBody>
          <a:bodyPr/>
          <a:lstStyle/>
          <a:p>
            <a:r>
              <a:rPr lang="en-US" dirty="0"/>
              <a:t>Scatterplots 3D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066800"/>
            <a:ext cx="8229600" cy="5388008"/>
          </a:xfrm>
        </p:spPr>
        <p:txBody>
          <a:bodyPr/>
          <a:lstStyle/>
          <a:p>
            <a:pPr marL="0" indent="0">
              <a:buNone/>
            </a:pPr>
            <a:r>
              <a:rPr lang="en-US" sz="3200" dirty="0">
                <a:latin typeface="Arial" pitchFamily="34" charset="0"/>
                <a:cs typeface="Arial" pitchFamily="34" charset="0"/>
              </a:rPr>
              <a:t>Step4: Use scatterplot3d() with x , y and z axis.</a:t>
            </a:r>
          </a:p>
          <a:p>
            <a:pPr marL="0" indent="0">
              <a:buNone/>
            </a:pPr>
            <a:r>
              <a:rPr lang="en-US" sz="3200" dirty="0">
                <a:solidFill>
                  <a:schemeClr val="accent1"/>
                </a:solidFill>
                <a:latin typeface="Arial" pitchFamily="34" charset="0"/>
                <a:cs typeface="Arial" pitchFamily="34" charset="0"/>
              </a:rPr>
              <a:t>&gt; scatterplot3d(</a:t>
            </a:r>
            <a:r>
              <a:rPr lang="en-US" sz="3200" dirty="0" err="1">
                <a:solidFill>
                  <a:schemeClr val="accent1"/>
                </a:solidFill>
                <a:latin typeface="Arial" pitchFamily="34" charset="0"/>
                <a:cs typeface="Arial" pitchFamily="34" charset="0"/>
              </a:rPr>
              <a:t>wt,disp,mpg</a:t>
            </a:r>
            <a:r>
              <a:rPr lang="en-US" sz="3200" dirty="0">
                <a:solidFill>
                  <a:schemeClr val="accent1"/>
                </a:solidFill>
                <a:latin typeface="Arial" pitchFamily="34" charset="0"/>
                <a:cs typeface="Arial" pitchFamily="34" charset="0"/>
              </a:rPr>
              <a:t>, main="3D Scatterplot")</a:t>
            </a:r>
          </a:p>
          <a:p>
            <a:endParaRPr lang="en-US" dirty="0"/>
          </a:p>
        </p:txBody>
      </p:sp>
      <p:pic>
        <p:nvPicPr>
          <p:cNvPr id="4" name="Picture 3"/>
          <p:cNvPicPr/>
          <p:nvPr/>
        </p:nvPicPr>
        <p:blipFill>
          <a:blip r:embed="rId2"/>
          <a:stretch>
            <a:fillRect/>
          </a:stretch>
        </p:blipFill>
        <p:spPr>
          <a:xfrm>
            <a:off x="838200" y="3276600"/>
            <a:ext cx="7543800" cy="3505200"/>
          </a:xfrm>
          <a:prstGeom prst="rect">
            <a:avLst/>
          </a:prstGeom>
        </p:spPr>
      </p:pic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4C9F97-4B11-4EF3-A227-EC3010DDDC4C}" type="slidenum">
              <a:rPr lang="en-US" smtClean="0"/>
              <a:pPr/>
              <a:t>35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CT Dept, YCCE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95478731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HeatMaps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Heat maps enable you to do exploratory data analysis with two dimensions as the axis and the third dimension shown by intensity of color. </a:t>
            </a:r>
            <a:endParaRPr lang="en-US" dirty="0" smtClean="0"/>
          </a:p>
          <a:p>
            <a:r>
              <a:rPr lang="en-US" dirty="0" smtClean="0"/>
              <a:t>However </a:t>
            </a:r>
            <a:r>
              <a:rPr lang="en-US" dirty="0"/>
              <a:t>you need to convert the dataset to a matrix format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4C9F97-4B11-4EF3-A227-EC3010DDDC4C}" type="slidenum">
              <a:rPr lang="en-US" smtClean="0"/>
              <a:pPr/>
              <a:t>36</a:t>
            </a:fld>
            <a:endParaRPr lang="en-US"/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CT Dept, YCCE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2559214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67494"/>
            <a:ext cx="8229600" cy="1027906"/>
          </a:xfrm>
        </p:spPr>
        <p:txBody>
          <a:bodyPr/>
          <a:lstStyle/>
          <a:p>
            <a:r>
              <a:rPr lang="en-US" dirty="0" err="1"/>
              <a:t>HeatMaps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524000"/>
            <a:ext cx="8229600" cy="4930808"/>
          </a:xfrm>
        </p:spPr>
        <p:txBody>
          <a:bodyPr/>
          <a:lstStyle/>
          <a:p>
            <a:r>
              <a:rPr lang="en-US" dirty="0" err="1"/>
              <a:t>heatmap</a:t>
            </a:r>
            <a:r>
              <a:rPr lang="en-US" dirty="0"/>
              <a:t>(</a:t>
            </a:r>
            <a:r>
              <a:rPr lang="en-US" dirty="0" err="1"/>
              <a:t>as.matrix</a:t>
            </a:r>
            <a:r>
              <a:rPr lang="en-US" dirty="0"/>
              <a:t>(</a:t>
            </a:r>
            <a:r>
              <a:rPr lang="en-US" dirty="0" err="1"/>
              <a:t>mtcars</a:t>
            </a:r>
            <a:r>
              <a:rPr lang="en-US" dirty="0"/>
              <a:t>))</a:t>
            </a:r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95400" y="2133600"/>
            <a:ext cx="5972175" cy="472439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4C9F97-4B11-4EF3-A227-EC3010DDDC4C}" type="slidenum">
              <a:rPr lang="en-US" smtClean="0"/>
              <a:pPr/>
              <a:t>37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CT Dept, YCCE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5476939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lvl="0"/>
            <a:r>
              <a:rPr lang="en-US" dirty="0">
                <a:effectLst/>
              </a:rPr>
              <a:t>Multiple graphs on a single graphics page</a:t>
            </a:r>
            <a:br>
              <a:rPr lang="en-US" dirty="0">
                <a:effectLst/>
              </a:rPr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r>
              <a:rPr lang="en-US" dirty="0"/>
              <a:t>What par(</a:t>
            </a:r>
            <a:r>
              <a:rPr lang="en-US" dirty="0" err="1"/>
              <a:t>mfrow</a:t>
            </a:r>
            <a:r>
              <a:rPr lang="en-US" dirty="0"/>
              <a:t>=) and layout() both do is to split the </a:t>
            </a:r>
            <a:r>
              <a:rPr lang="en-US" dirty="0" err="1"/>
              <a:t>ploting</a:t>
            </a:r>
            <a:r>
              <a:rPr lang="en-US" dirty="0"/>
              <a:t> window based on grids.</a:t>
            </a:r>
          </a:p>
          <a:p>
            <a:r>
              <a:rPr lang="en-US" dirty="0"/>
              <a:t>The difference is that par(</a:t>
            </a:r>
            <a:r>
              <a:rPr lang="en-US" dirty="0" err="1"/>
              <a:t>mfrow</a:t>
            </a:r>
            <a:r>
              <a:rPr lang="en-US" dirty="0"/>
              <a:t>=) always sets the grids to be of equal widths and </a:t>
            </a:r>
            <a:r>
              <a:rPr lang="en-US" dirty="0" err="1"/>
              <a:t>hights</a:t>
            </a:r>
            <a:r>
              <a:rPr lang="en-US" dirty="0"/>
              <a:t>, </a:t>
            </a:r>
            <a:r>
              <a:rPr lang="en-US" dirty="0" smtClean="0"/>
              <a:t>and multiple </a:t>
            </a:r>
            <a:r>
              <a:rPr lang="en-US" dirty="0"/>
              <a:t>plots are put into the cells accordingly (by row</a:t>
            </a:r>
            <a:r>
              <a:rPr lang="en-US" dirty="0" smtClean="0"/>
              <a:t>).</a:t>
            </a:r>
          </a:p>
          <a:p>
            <a:r>
              <a:rPr lang="en-US" dirty="0" smtClean="0"/>
              <a:t> </a:t>
            </a:r>
            <a:r>
              <a:rPr lang="en-US" dirty="0"/>
              <a:t>while layout() can set the grids to </a:t>
            </a:r>
            <a:r>
              <a:rPr lang="en-US" dirty="0" smtClean="0"/>
              <a:t>be of </a:t>
            </a:r>
            <a:r>
              <a:rPr lang="en-US" dirty="0"/>
              <a:t>different proportions, and multiple plots can </a:t>
            </a:r>
            <a:r>
              <a:rPr lang="en-US" dirty="0" smtClean="0"/>
              <a:t>be </a:t>
            </a:r>
            <a:r>
              <a:rPr lang="en-US" dirty="0"/>
              <a:t>put into arbitrary positions of the grid cells.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4C9F97-4B11-4EF3-A227-EC3010DDDC4C}" type="slidenum">
              <a:rPr lang="en-US" smtClean="0"/>
              <a:pPr/>
              <a:t>38</a:t>
            </a:fld>
            <a:endParaRPr lang="en-US"/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CT Dept, YCCE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66626595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Verve">
  <a:themeElements>
    <a:clrScheme name="Pushpin">
      <a:dk1>
        <a:sysClr val="windowText" lastClr="000000"/>
      </a:dk1>
      <a:lt1>
        <a:sysClr val="window" lastClr="FFFFFF"/>
      </a:lt1>
      <a:dk2>
        <a:srgbClr val="465E9C"/>
      </a:dk2>
      <a:lt2>
        <a:srgbClr val="CCDDEA"/>
      </a:lt2>
      <a:accent1>
        <a:srgbClr val="FDA023"/>
      </a:accent1>
      <a:accent2>
        <a:srgbClr val="AA2B1E"/>
      </a:accent2>
      <a:accent3>
        <a:srgbClr val="71685C"/>
      </a:accent3>
      <a:accent4>
        <a:srgbClr val="64A73B"/>
      </a:accent4>
      <a:accent5>
        <a:srgbClr val="EB5605"/>
      </a:accent5>
      <a:accent6>
        <a:srgbClr val="B9CA1A"/>
      </a:accent6>
      <a:hlink>
        <a:srgbClr val="D83E2C"/>
      </a:hlink>
      <a:folHlink>
        <a:srgbClr val="ED7D27"/>
      </a:folHlink>
    </a:clrScheme>
    <a:fontScheme name="Verve">
      <a:majorFont>
        <a:latin typeface="Century Gothic"/>
        <a:ea typeface=""/>
        <a:cs typeface=""/>
        <a:font script="Jpan" typeface="HGｺﾞｼｯｸM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Verve">
      <a:fillStyleLst>
        <a:solidFill>
          <a:schemeClr val="phClr"/>
        </a:solidFill>
        <a:gradFill rotWithShape="1">
          <a:gsLst>
            <a:gs pos="0">
              <a:schemeClr val="phClr">
                <a:tint val="10000"/>
                <a:satMod val="300000"/>
              </a:schemeClr>
            </a:gs>
            <a:gs pos="34000">
              <a:schemeClr val="phClr">
                <a:tint val="13500"/>
                <a:satMod val="250000"/>
              </a:schemeClr>
            </a:gs>
            <a:gs pos="100000">
              <a:schemeClr val="phClr">
                <a:tint val="60000"/>
                <a:satMod val="200000"/>
              </a:schemeClr>
            </a:gs>
          </a:gsLst>
          <a:path path="circle">
            <a:fillToRect l="50000" t="155000" r="50000" b="-55000"/>
          </a:path>
        </a:gradFill>
        <a:gradFill rotWithShape="1">
          <a:gsLst>
            <a:gs pos="0">
              <a:schemeClr val="phClr">
                <a:tint val="60000"/>
                <a:satMod val="160000"/>
              </a:schemeClr>
            </a:gs>
            <a:gs pos="46000">
              <a:schemeClr val="phClr">
                <a:tint val="86000"/>
                <a:satMod val="160000"/>
              </a:schemeClr>
            </a:gs>
            <a:gs pos="100000">
              <a:schemeClr val="phClr">
                <a:shade val="40000"/>
                <a:satMod val="160000"/>
              </a:schemeClr>
            </a:gs>
          </a:gsLst>
          <a:path path="circle">
            <a:fillToRect l="50000" t="155000" r="50000" b="-55000"/>
          </a:path>
        </a:gradFill>
      </a:fillStyleLst>
      <a:lnStyleLst>
        <a:ln w="9525" cap="flat" cmpd="sng" algn="ctr">
          <a:solidFill>
            <a:schemeClr val="phClr">
              <a:satMod val="120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63500" dist="25400" dir="14700000" algn="t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50800" dist="38100" dir="14700000" algn="t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50800" dist="38100" dir="14700000" algn="t" rotWithShape="0">
              <a:srgbClr val="000000">
                <a:alpha val="60000"/>
              </a:srgbClr>
            </a:outerShdw>
          </a:effectLst>
          <a:scene3d>
            <a:camera prst="orthographicFront" fov="0">
              <a:rot lat="0" lon="0" rev="0"/>
            </a:camera>
            <a:lightRig rig="contrasting" dir="t">
              <a:rot lat="0" lon="0" rev="3600000"/>
            </a:lightRig>
          </a:scene3d>
          <a:sp3d prstMaterial="plastic">
            <a:bevelT w="127000" h="38200" prst="relaxedInset"/>
            <a:contourClr>
              <a:schemeClr val="phClr"/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shade val="48000"/>
                <a:satMod val="230000"/>
              </a:schemeClr>
            </a:gs>
            <a:gs pos="60000">
              <a:schemeClr val="phClr">
                <a:shade val="92000"/>
                <a:satMod val="230000"/>
              </a:schemeClr>
            </a:gs>
            <a:gs pos="100000">
              <a:schemeClr val="phClr">
                <a:tint val="85000"/>
                <a:satMod val="400000"/>
              </a:schemeClr>
            </a:gs>
          </a:gsLst>
          <a:lin ang="5400000" scaled="0"/>
        </a:gradFill>
        <a:blipFill>
          <a:blip xmlns:r="http://schemas.openxmlformats.org/officeDocument/2006/relationships" r:embed="rId1">
            <a:duotone>
              <a:schemeClr val="phClr">
                <a:shade val="1200"/>
                <a:satMod val="150000"/>
              </a:schemeClr>
              <a:schemeClr val="phClr">
                <a:tint val="90000"/>
                <a:satMod val="150000"/>
              </a:schemeClr>
            </a:duotone>
          </a:blip>
          <a:tile tx="0" ty="0" sx="70000" sy="70000" flip="none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Override1.xml><?xml version="1.0" encoding="utf-8"?>
<a:themeOverride xmlns:a="http://schemas.openxmlformats.org/drawingml/2006/main">
  <a:clrScheme name="Pushpin">
    <a:dk1>
      <a:sysClr val="windowText" lastClr="000000"/>
    </a:dk1>
    <a:lt1>
      <a:sysClr val="window" lastClr="FFFFFF"/>
    </a:lt1>
    <a:dk2>
      <a:srgbClr val="465E9C"/>
    </a:dk2>
    <a:lt2>
      <a:srgbClr val="CCDDEA"/>
    </a:lt2>
    <a:accent1>
      <a:srgbClr val="FDA023"/>
    </a:accent1>
    <a:accent2>
      <a:srgbClr val="AA2B1E"/>
    </a:accent2>
    <a:accent3>
      <a:srgbClr val="71685C"/>
    </a:accent3>
    <a:accent4>
      <a:srgbClr val="64A73B"/>
    </a:accent4>
    <a:accent5>
      <a:srgbClr val="EB5605"/>
    </a:accent5>
    <a:accent6>
      <a:srgbClr val="B9CA1A"/>
    </a:accent6>
    <a:hlink>
      <a:srgbClr val="D83E2C"/>
    </a:hlink>
    <a:folHlink>
      <a:srgbClr val="ED7D27"/>
    </a:folHlink>
  </a:clr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1369</TotalTime>
  <Words>1668</Words>
  <Application>Microsoft Office PowerPoint</Application>
  <PresentationFormat>On-screen Show (4:3)</PresentationFormat>
  <Paragraphs>337</Paragraphs>
  <Slides>38</Slides>
  <Notes>1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38</vt:i4>
      </vt:variant>
    </vt:vector>
  </HeadingPairs>
  <TitlesOfParts>
    <vt:vector size="39" baseType="lpstr">
      <vt:lpstr>Verve</vt:lpstr>
      <vt:lpstr>Data Visualization Using ‘R’</vt:lpstr>
      <vt:lpstr>Numbers do not speak…</vt:lpstr>
      <vt:lpstr>Graphs does…</vt:lpstr>
      <vt:lpstr>Data visualization</vt:lpstr>
      <vt:lpstr>Common Techniques</vt:lpstr>
      <vt:lpstr>Data visualization using ‘R’</vt:lpstr>
      <vt:lpstr>Low Level Plotting Functions </vt:lpstr>
      <vt:lpstr>Low Level Plotting Functions</vt:lpstr>
      <vt:lpstr>Low Level Plotting Functions</vt:lpstr>
      <vt:lpstr>Low Level Plotting Functions</vt:lpstr>
      <vt:lpstr>Low Level Plotting Functions</vt:lpstr>
      <vt:lpstr>Low Level Plotting Functions</vt:lpstr>
      <vt:lpstr>High Level Plotting Functions </vt:lpstr>
      <vt:lpstr>Line Chart</vt:lpstr>
      <vt:lpstr>Piecharts </vt:lpstr>
      <vt:lpstr>Barplots</vt:lpstr>
      <vt:lpstr>Barplots</vt:lpstr>
      <vt:lpstr>Barplots</vt:lpstr>
      <vt:lpstr>Histograms</vt:lpstr>
      <vt:lpstr>Constructing a histogram</vt:lpstr>
      <vt:lpstr>Example</vt:lpstr>
      <vt:lpstr>Histograms</vt:lpstr>
      <vt:lpstr>Histograms</vt:lpstr>
      <vt:lpstr>Histograms</vt:lpstr>
      <vt:lpstr>Numerical Summaries by Groups</vt:lpstr>
      <vt:lpstr>Boxplot</vt:lpstr>
      <vt:lpstr>Boxplot</vt:lpstr>
      <vt:lpstr>Bubble Plot</vt:lpstr>
      <vt:lpstr>Bubble Plot</vt:lpstr>
      <vt:lpstr>Bubble Plot</vt:lpstr>
      <vt:lpstr>Scatterplots</vt:lpstr>
      <vt:lpstr>Scatterplots</vt:lpstr>
      <vt:lpstr>Scatterplots</vt:lpstr>
      <vt:lpstr>Scatterplots 3D</vt:lpstr>
      <vt:lpstr>Scatterplots 3D</vt:lpstr>
      <vt:lpstr>HeatMaps</vt:lpstr>
      <vt:lpstr>HeatMaps</vt:lpstr>
      <vt:lpstr>Multiple graphs on a single graphics page 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lenovo</dc:creator>
  <cp:lastModifiedBy>Acer</cp:lastModifiedBy>
  <cp:revision>69</cp:revision>
  <dcterms:created xsi:type="dcterms:W3CDTF">2016-04-24T08:37:36Z</dcterms:created>
  <dcterms:modified xsi:type="dcterms:W3CDTF">2018-01-26T07:05:28Z</dcterms:modified>
</cp:coreProperties>
</file>