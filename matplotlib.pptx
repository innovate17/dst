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58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937E15B-D45F-4B36-BF41-28C98D8B46CE}" type="datetimeFigureOut">
              <a:rPr lang="en-IN" smtClean="0"/>
              <a:pPr/>
              <a:t>30-12-2017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BD0B6-BFEA-42B7-85E6-0F72039B6328}"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37E15B-D45F-4B36-BF41-28C98D8B46CE}" type="datetimeFigureOut">
              <a:rPr lang="en-IN" smtClean="0"/>
              <a:pPr/>
              <a:t>30-12-2017</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CBD0B6-BFEA-42B7-85E6-0F72039B6328}"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ypi.python.org/pypi/matplotlib/"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https://www.labri.fr/perso/nrougier/teaching/matplotlib/figures/ticks-AutoLocator.png" TargetMode="External"/><Relationship Id="rId3" Type="http://schemas.openxmlformats.org/officeDocument/2006/relationships/image" Target="https://www.labri.fr/perso/nrougier/teaching/matplotlib/figures/ticks-NullLocator.png" TargetMode="External"/><Relationship Id="rId7" Type="http://schemas.openxmlformats.org/officeDocument/2006/relationships/image" Target="https://www.labri.fr/perso/nrougier/teaching/matplotlib/figures/ticks-FixedLocator.png" TargetMode="External"/><Relationship Id="rId12"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https://www.labri.fr/perso/nrougier/teaching/matplotlib/figures/ticks-MultipleLocator.png" TargetMode="External"/><Relationship Id="rId5" Type="http://schemas.openxmlformats.org/officeDocument/2006/relationships/image" Target="https://www.labri.fr/perso/nrougier/teaching/matplotlib/figures/ticks-IndexLocator.png" TargetMode="External"/><Relationship Id="rId15" Type="http://schemas.openxmlformats.org/officeDocument/2006/relationships/image" Target="https://www.labri.fr/perso/nrougier/teaching/matplotlib/figures/ticks-LogLocator.png" TargetMode="External"/><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https://www.labri.fr/perso/nrougier/teaching/matplotlib/figures/ticks-LinearLocator.png" TargetMode="External"/><Relationship Id="rId1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err="1" smtClean="0"/>
              <a:t>Matplotlib</a:t>
            </a:r>
            <a:endParaRPr lang="en-IN" dirty="0"/>
          </a:p>
        </p:txBody>
      </p:sp>
      <p:sp>
        <p:nvSpPr>
          <p:cNvPr id="3" name="Subtitle 2"/>
          <p:cNvSpPr>
            <a:spLocks noGrp="1"/>
          </p:cNvSpPr>
          <p:nvPr>
            <p:ph type="subTitle" idx="1"/>
          </p:nvPr>
        </p:nvSpPr>
        <p:spPr>
          <a:xfrm>
            <a:off x="971600" y="3886200"/>
            <a:ext cx="7416824" cy="1752600"/>
          </a:xfrm>
        </p:spPr>
        <p:txBody>
          <a:bodyPr>
            <a:normAutofit fontScale="92500"/>
          </a:bodyPr>
          <a:lstStyle/>
          <a:p>
            <a:r>
              <a:rPr lang="en-IN" dirty="0" smtClean="0"/>
              <a:t>Dr. </a:t>
            </a:r>
            <a:r>
              <a:rPr lang="en-IN" dirty="0" err="1" smtClean="0"/>
              <a:t>Latesh</a:t>
            </a:r>
            <a:r>
              <a:rPr lang="en-IN" dirty="0" smtClean="0"/>
              <a:t> </a:t>
            </a:r>
            <a:r>
              <a:rPr lang="en-IN" dirty="0" err="1" smtClean="0"/>
              <a:t>Bhagat</a:t>
            </a:r>
            <a:endParaRPr lang="en-IN" dirty="0" smtClean="0"/>
          </a:p>
          <a:p>
            <a:r>
              <a:rPr lang="en-IN" dirty="0" smtClean="0"/>
              <a:t>Associate Professor &amp; Head</a:t>
            </a:r>
          </a:p>
          <a:p>
            <a:r>
              <a:rPr lang="en-IN" dirty="0" smtClean="0"/>
              <a:t>Government College of Engineering, Nagpur</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Installing </a:t>
            </a:r>
            <a:r>
              <a:rPr lang="en-IN" b="1" dirty="0" err="1"/>
              <a:t>Matplotlib</a:t>
            </a:r>
            <a:r>
              <a:rPr lang="en-IN" b="1" dirty="0"/>
              <a:t> on Linux</a:t>
            </a:r>
            <a:br>
              <a:rPr lang="en-IN" b="1" dirty="0"/>
            </a:br>
            <a:endParaRPr lang="en-IN" dirty="0"/>
          </a:p>
        </p:txBody>
      </p:sp>
      <p:sp>
        <p:nvSpPr>
          <p:cNvPr id="3" name="Content Placeholder 2"/>
          <p:cNvSpPr>
            <a:spLocks noGrp="1"/>
          </p:cNvSpPr>
          <p:nvPr>
            <p:ph idx="1"/>
          </p:nvPr>
        </p:nvSpPr>
        <p:spPr/>
        <p:txBody>
          <a:bodyPr>
            <a:normAutofit/>
          </a:bodyPr>
          <a:lstStyle/>
          <a:p>
            <a:pPr>
              <a:buNone/>
            </a:pPr>
            <a:r>
              <a:rPr lang="en-IN" dirty="0" smtClean="0"/>
              <a:t>$ </a:t>
            </a:r>
            <a:r>
              <a:rPr lang="en-IN" dirty="0" err="1" smtClean="0"/>
              <a:t>sudo</a:t>
            </a:r>
            <a:r>
              <a:rPr lang="en-IN" dirty="0" smtClean="0"/>
              <a:t> apt-get install python3-matplotlib</a:t>
            </a:r>
          </a:p>
          <a:p>
            <a:pPr>
              <a:buNone/>
            </a:pPr>
            <a:r>
              <a:rPr lang="en-IN" dirty="0" smtClean="0"/>
              <a:t>$ pip install --user </a:t>
            </a:r>
            <a:r>
              <a:rPr lang="en-IN" dirty="0" err="1" smtClean="0"/>
              <a:t>matplotlib</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Installing </a:t>
            </a:r>
            <a:r>
              <a:rPr lang="en-IN" b="1" dirty="0" err="1"/>
              <a:t>matplotlib</a:t>
            </a:r>
            <a:r>
              <a:rPr lang="en-IN" b="1" dirty="0"/>
              <a:t> on Windows</a:t>
            </a:r>
            <a:br>
              <a:rPr lang="en-IN" b="1" dirty="0"/>
            </a:br>
            <a:endParaRPr lang="en-IN" dirty="0"/>
          </a:p>
        </p:txBody>
      </p:sp>
      <p:sp>
        <p:nvSpPr>
          <p:cNvPr id="3" name="Content Placeholder 2"/>
          <p:cNvSpPr>
            <a:spLocks noGrp="1"/>
          </p:cNvSpPr>
          <p:nvPr>
            <p:ph idx="1"/>
          </p:nvPr>
        </p:nvSpPr>
        <p:spPr/>
        <p:txBody>
          <a:bodyPr/>
          <a:lstStyle/>
          <a:p>
            <a:pPr>
              <a:buNone/>
            </a:pPr>
            <a:r>
              <a:rPr lang="en-IN" dirty="0"/>
              <a:t>First download </a:t>
            </a:r>
            <a:r>
              <a:rPr lang="en-IN" dirty="0" err="1"/>
              <a:t>matplot</a:t>
            </a:r>
            <a:r>
              <a:rPr lang="en-IN" dirty="0"/>
              <a:t> library from  </a:t>
            </a:r>
            <a:r>
              <a:rPr lang="en-IN" u="sng" dirty="0">
                <a:hlinkClick r:id="rId2"/>
              </a:rPr>
              <a:t>https://pypi.python.org/pypi/matplotlib/</a:t>
            </a:r>
            <a:r>
              <a:rPr lang="en-IN" dirty="0"/>
              <a:t> and look for a wheel file </a:t>
            </a:r>
            <a:r>
              <a:rPr lang="en-IN" dirty="0" smtClean="0"/>
              <a:t>.</a:t>
            </a:r>
          </a:p>
          <a:p>
            <a:pPr>
              <a:buNone/>
            </a:pPr>
            <a:r>
              <a:rPr lang="en-IN" i="1" dirty="0"/>
              <a:t>pip install </a:t>
            </a:r>
            <a:r>
              <a:rPr lang="en-IN" i="1" dirty="0" err="1"/>
              <a:t>matplotlib</a:t>
            </a:r>
            <a:endParaRPr lang="en-IN" dirty="0"/>
          </a:p>
          <a:p>
            <a:pPr>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Introduction to </a:t>
            </a:r>
            <a:r>
              <a:rPr lang="en-IN" b="1" dirty="0" err="1" smtClean="0"/>
              <a:t>Matplotlib</a:t>
            </a:r>
            <a:endParaRPr lang="en-IN" dirty="0"/>
          </a:p>
        </p:txBody>
      </p:sp>
      <p:sp>
        <p:nvSpPr>
          <p:cNvPr id="3" name="Content Placeholder 2"/>
          <p:cNvSpPr>
            <a:spLocks noGrp="1"/>
          </p:cNvSpPr>
          <p:nvPr>
            <p:ph idx="1"/>
          </p:nvPr>
        </p:nvSpPr>
        <p:spPr>
          <a:xfrm>
            <a:off x="457200" y="1600201"/>
            <a:ext cx="8229600" cy="1684784"/>
          </a:xfrm>
        </p:spPr>
        <p:txBody>
          <a:bodyPr/>
          <a:lstStyle/>
          <a:p>
            <a:pPr algn="just">
              <a:spcAft>
                <a:spcPts val="0"/>
              </a:spcAft>
            </a:pPr>
            <a:r>
              <a:rPr lang="en-IN" dirty="0" err="1" smtClean="0">
                <a:solidFill>
                  <a:srgbClr val="333333"/>
                </a:solidFill>
                <a:latin typeface="Times New Roman"/>
                <a:ea typeface="Times New Roman"/>
              </a:rPr>
              <a:t>Matplotlib</a:t>
            </a:r>
            <a:r>
              <a:rPr lang="en-IN" dirty="0" smtClean="0">
                <a:solidFill>
                  <a:srgbClr val="333333"/>
                </a:solidFill>
                <a:latin typeface="Times New Roman"/>
                <a:ea typeface="Times New Roman"/>
              </a:rPr>
              <a:t> in a Python is 2D plotting library which generates quality figures for publication and interactive environments across platforms. </a:t>
            </a:r>
            <a:endParaRPr lang="en-IN" dirty="0" smtClean="0">
              <a:latin typeface="Times New Roman"/>
              <a:ea typeface="Times New Roman"/>
            </a:endParaRPr>
          </a:p>
          <a:p>
            <a:pPr algn="just">
              <a:lnSpc>
                <a:spcPct val="115000"/>
              </a:lnSpc>
              <a:spcAft>
                <a:spcPts val="0"/>
              </a:spcAft>
              <a:buNone/>
            </a:pPr>
            <a:endParaRPr lang="en-IN" sz="2800" dirty="0">
              <a:ea typeface="Calibri"/>
              <a:cs typeface="Mangal"/>
            </a:endParaRPr>
          </a:p>
          <a:p>
            <a:pPr>
              <a:buNone/>
            </a:pPr>
            <a:endParaRPr lang="en-IN" dirty="0"/>
          </a:p>
        </p:txBody>
      </p:sp>
      <p:pic>
        <p:nvPicPr>
          <p:cNvPr id="1026" name="Picture 2" descr="screenshots"/>
          <p:cNvPicPr>
            <a:picLocks noChangeAspect="1" noChangeArrowheads="1"/>
          </p:cNvPicPr>
          <p:nvPr/>
        </p:nvPicPr>
        <p:blipFill>
          <a:blip r:embed="rId2" cstate="print"/>
          <a:srcRect/>
          <a:stretch>
            <a:fillRect/>
          </a:stretch>
        </p:blipFill>
        <p:spPr bwMode="auto">
          <a:xfrm>
            <a:off x="179512" y="3284984"/>
            <a:ext cx="1301750" cy="1068388"/>
          </a:xfrm>
          <a:prstGeom prst="rect">
            <a:avLst/>
          </a:prstGeom>
          <a:noFill/>
          <a:ln w="9525">
            <a:noFill/>
            <a:miter lim="800000"/>
            <a:headEnd/>
            <a:tailEnd/>
          </a:ln>
        </p:spPr>
      </p:pic>
      <p:pic>
        <p:nvPicPr>
          <p:cNvPr id="1027" name="Picture 3" descr="screenshots"/>
          <p:cNvPicPr>
            <a:picLocks noChangeAspect="1" noChangeArrowheads="1"/>
          </p:cNvPicPr>
          <p:nvPr/>
        </p:nvPicPr>
        <p:blipFill>
          <a:blip r:embed="rId3" cstate="print"/>
          <a:srcRect/>
          <a:stretch>
            <a:fillRect/>
          </a:stretch>
        </p:blipFill>
        <p:spPr bwMode="auto">
          <a:xfrm>
            <a:off x="1691680" y="3284984"/>
            <a:ext cx="1301750" cy="1068388"/>
          </a:xfrm>
          <a:prstGeom prst="rect">
            <a:avLst/>
          </a:prstGeom>
          <a:noFill/>
          <a:ln w="9525">
            <a:noFill/>
            <a:miter lim="800000"/>
            <a:headEnd/>
            <a:tailEnd/>
          </a:ln>
        </p:spPr>
      </p:pic>
      <p:pic>
        <p:nvPicPr>
          <p:cNvPr id="1028" name="Picture 4" descr="screenshots"/>
          <p:cNvPicPr>
            <a:picLocks noChangeAspect="1" noChangeArrowheads="1"/>
          </p:cNvPicPr>
          <p:nvPr/>
        </p:nvPicPr>
        <p:blipFill>
          <a:blip r:embed="rId4" cstate="print"/>
          <a:srcRect/>
          <a:stretch>
            <a:fillRect/>
          </a:stretch>
        </p:blipFill>
        <p:spPr bwMode="auto">
          <a:xfrm>
            <a:off x="3347864" y="3284984"/>
            <a:ext cx="1301750" cy="1068388"/>
          </a:xfrm>
          <a:prstGeom prst="rect">
            <a:avLst/>
          </a:prstGeom>
          <a:noFill/>
          <a:ln w="9525">
            <a:noFill/>
            <a:miter lim="800000"/>
            <a:headEnd/>
            <a:tailEnd/>
          </a:ln>
        </p:spPr>
      </p:pic>
      <p:pic>
        <p:nvPicPr>
          <p:cNvPr id="1029" name="Picture 5" descr="screenshots"/>
          <p:cNvPicPr>
            <a:picLocks noChangeAspect="1" noChangeArrowheads="1"/>
          </p:cNvPicPr>
          <p:nvPr/>
        </p:nvPicPr>
        <p:blipFill>
          <a:blip r:embed="rId5" cstate="print"/>
          <a:srcRect/>
          <a:stretch>
            <a:fillRect/>
          </a:stretch>
        </p:blipFill>
        <p:spPr bwMode="auto">
          <a:xfrm>
            <a:off x="5364088" y="3284984"/>
            <a:ext cx="1301750" cy="106838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lstStyle/>
          <a:p>
            <a:r>
              <a:rPr lang="en-IN" dirty="0" err="1"/>
              <a:t>Matplotlib</a:t>
            </a:r>
            <a:r>
              <a:rPr lang="en-IN" dirty="0"/>
              <a:t>  can generate plots, </a:t>
            </a:r>
            <a:r>
              <a:rPr lang="en-IN" dirty="0" err="1"/>
              <a:t>scatterplots,histograms</a:t>
            </a:r>
            <a:r>
              <a:rPr lang="en-IN" dirty="0"/>
              <a:t>, power spectra, bar charts, </a:t>
            </a:r>
            <a:r>
              <a:rPr lang="en-IN" dirty="0" err="1"/>
              <a:t>errorcharts</a:t>
            </a:r>
            <a:r>
              <a:rPr lang="en-IN" dirty="0"/>
              <a:t>, etc.,. </a:t>
            </a:r>
          </a:p>
          <a:p>
            <a:r>
              <a:rPr lang="en-IN" dirty="0"/>
              <a:t>For simple plotting the </a:t>
            </a:r>
            <a:r>
              <a:rPr lang="en-IN" dirty="0" err="1"/>
              <a:t>pyplot</a:t>
            </a:r>
            <a:r>
              <a:rPr lang="en-IN" dirty="0"/>
              <a:t> provides a an interface to the </a:t>
            </a:r>
            <a:r>
              <a:rPr lang="en-IN" dirty="0" err="1"/>
              <a:t>matplotlib</a:t>
            </a:r>
            <a:r>
              <a:rPr lang="en-IN" dirty="0"/>
              <a:t> object-oriented plotting library. </a:t>
            </a:r>
            <a:endParaRPr lang="en-IN" dirty="0" smtClean="0"/>
          </a:p>
          <a:p>
            <a:r>
              <a:rPr lang="en-IN" dirty="0" smtClean="0"/>
              <a:t>It </a:t>
            </a:r>
            <a:r>
              <a:rPr lang="en-IN" dirty="0"/>
              <a:t>gives  full control of  axes properties, line styles, font properties, etc, to the programmer.</a:t>
            </a:r>
          </a:p>
          <a:p>
            <a:pPr>
              <a:buNone/>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Simple </a:t>
            </a:r>
            <a:r>
              <a:rPr lang="en-IN" b="1" dirty="0" smtClean="0"/>
              <a:t>plot</a:t>
            </a:r>
            <a:endParaRPr lang="en-IN" dirty="0"/>
          </a:p>
        </p:txBody>
      </p:sp>
      <p:sp>
        <p:nvSpPr>
          <p:cNvPr id="3" name="Content Placeholder 2"/>
          <p:cNvSpPr>
            <a:spLocks noGrp="1"/>
          </p:cNvSpPr>
          <p:nvPr>
            <p:ph idx="1"/>
          </p:nvPr>
        </p:nvSpPr>
        <p:spPr/>
        <p:txBody>
          <a:bodyPr/>
          <a:lstStyle/>
          <a:p>
            <a:r>
              <a:rPr lang="en-IN" dirty="0"/>
              <a:t>To use functions defined in </a:t>
            </a:r>
            <a:r>
              <a:rPr lang="en-IN" dirty="0" err="1"/>
              <a:t>pyplot</a:t>
            </a:r>
            <a:r>
              <a:rPr lang="en-IN" dirty="0"/>
              <a:t> , you have to import specific module  </a:t>
            </a:r>
            <a:r>
              <a:rPr lang="en-IN" dirty="0" err="1"/>
              <a:t>pyplot</a:t>
            </a:r>
            <a:r>
              <a:rPr lang="en-IN" dirty="0"/>
              <a:t> of </a:t>
            </a:r>
            <a:r>
              <a:rPr lang="en-IN" dirty="0" err="1"/>
              <a:t>Matplotlib</a:t>
            </a:r>
            <a:r>
              <a:rPr lang="en-IN" dirty="0"/>
              <a:t> instead of all  modules of </a:t>
            </a:r>
            <a:r>
              <a:rPr lang="en-IN" dirty="0" err="1"/>
              <a:t>Matplotlib</a:t>
            </a:r>
            <a:r>
              <a:rPr lang="en-IN" dirty="0"/>
              <a:t>. This saves  memory space</a:t>
            </a:r>
            <a:r>
              <a:rPr lang="en-IN" dirty="0" smtClean="0"/>
              <a:t>.</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fontScale="92500" lnSpcReduction="20000"/>
          </a:bodyPr>
          <a:lstStyle/>
          <a:p>
            <a:pPr fontAlgn="base"/>
            <a:r>
              <a:rPr lang="en-IN" dirty="0"/>
              <a:t>Example: Generate values and calculate its sin() and </a:t>
            </a:r>
            <a:r>
              <a:rPr lang="en-IN" dirty="0" err="1"/>
              <a:t>cos</a:t>
            </a:r>
            <a:r>
              <a:rPr lang="en-IN" dirty="0"/>
              <a:t>() and plot.</a:t>
            </a:r>
          </a:p>
          <a:p>
            <a:pPr>
              <a:buNone/>
            </a:pPr>
            <a:r>
              <a:rPr lang="en-IN" dirty="0"/>
              <a:t>import </a:t>
            </a:r>
            <a:r>
              <a:rPr lang="en-IN" dirty="0" err="1"/>
              <a:t>numpy</a:t>
            </a:r>
            <a:r>
              <a:rPr lang="en-IN" dirty="0"/>
              <a:t> as </a:t>
            </a:r>
            <a:r>
              <a:rPr lang="en-IN" dirty="0" err="1"/>
              <a:t>npimport</a:t>
            </a:r>
            <a:r>
              <a:rPr lang="en-IN" dirty="0"/>
              <a:t> </a:t>
            </a:r>
            <a:endParaRPr lang="en-IN" dirty="0" smtClean="0"/>
          </a:p>
          <a:p>
            <a:pPr>
              <a:buNone/>
            </a:pPr>
            <a:r>
              <a:rPr lang="en-IN" dirty="0" err="1" smtClean="0"/>
              <a:t>matplotlib.pyplot</a:t>
            </a:r>
            <a:r>
              <a:rPr lang="en-IN" dirty="0" smtClean="0"/>
              <a:t> </a:t>
            </a:r>
            <a:r>
              <a:rPr lang="en-IN" dirty="0"/>
              <a:t>as </a:t>
            </a:r>
            <a:r>
              <a:rPr lang="en-IN" dirty="0" smtClean="0"/>
              <a:t>pl</a:t>
            </a:r>
          </a:p>
          <a:p>
            <a:pPr>
              <a:buNone/>
            </a:pPr>
            <a:r>
              <a:rPr lang="en-IN" dirty="0" smtClean="0"/>
              <a:t>#</a:t>
            </a:r>
            <a:r>
              <a:rPr lang="en-IN" dirty="0"/>
              <a:t>generate 256 values from -3.14 to +3.14 </a:t>
            </a:r>
            <a:endParaRPr lang="en-IN" dirty="0" smtClean="0"/>
          </a:p>
          <a:p>
            <a:pPr>
              <a:buNone/>
            </a:pPr>
            <a:r>
              <a:rPr lang="en-IN" dirty="0" smtClean="0"/>
              <a:t>X </a:t>
            </a:r>
            <a:r>
              <a:rPr lang="en-IN" dirty="0"/>
              <a:t>= </a:t>
            </a:r>
            <a:r>
              <a:rPr lang="en-IN" dirty="0" err="1"/>
              <a:t>np.linspace</a:t>
            </a:r>
            <a:r>
              <a:rPr lang="en-IN" dirty="0"/>
              <a:t>(-</a:t>
            </a:r>
            <a:r>
              <a:rPr lang="en-IN" dirty="0" err="1"/>
              <a:t>np.pi</a:t>
            </a:r>
            <a:r>
              <a:rPr lang="en-IN" dirty="0"/>
              <a:t>, </a:t>
            </a:r>
            <a:r>
              <a:rPr lang="en-IN" dirty="0" err="1"/>
              <a:t>np.pi</a:t>
            </a:r>
            <a:r>
              <a:rPr lang="en-IN" dirty="0"/>
              <a:t>, 256, endpoint=True)   </a:t>
            </a:r>
            <a:endParaRPr lang="en-IN" dirty="0" smtClean="0"/>
          </a:p>
          <a:p>
            <a:pPr>
              <a:buNone/>
            </a:pPr>
            <a:r>
              <a:rPr lang="en-IN" dirty="0" smtClean="0"/>
              <a:t>print(X)</a:t>
            </a:r>
          </a:p>
          <a:p>
            <a:pPr>
              <a:buNone/>
            </a:pPr>
            <a:r>
              <a:rPr lang="en-IN" dirty="0" smtClean="0"/>
              <a:t>CP </a:t>
            </a:r>
            <a:r>
              <a:rPr lang="en-IN" dirty="0"/>
              <a:t>= np.cos(X</a:t>
            </a:r>
            <a:r>
              <a:rPr lang="en-IN" dirty="0" smtClean="0"/>
              <a:t>)</a:t>
            </a:r>
          </a:p>
          <a:p>
            <a:pPr>
              <a:buNone/>
            </a:pPr>
            <a:r>
              <a:rPr lang="en-IN" dirty="0" smtClean="0"/>
              <a:t>SP</a:t>
            </a:r>
            <a:r>
              <a:rPr lang="en-IN" dirty="0"/>
              <a:t>= np.sin(X</a:t>
            </a:r>
            <a:r>
              <a:rPr lang="en-IN" dirty="0" smtClean="0"/>
              <a:t>)</a:t>
            </a:r>
          </a:p>
          <a:p>
            <a:pPr>
              <a:buNone/>
            </a:pPr>
            <a:r>
              <a:rPr lang="en-IN" dirty="0" err="1" smtClean="0"/>
              <a:t>pl.plot</a:t>
            </a:r>
            <a:r>
              <a:rPr lang="en-IN" dirty="0" smtClean="0"/>
              <a:t>(X,CP)</a:t>
            </a:r>
          </a:p>
          <a:p>
            <a:pPr>
              <a:buNone/>
            </a:pPr>
            <a:r>
              <a:rPr lang="en-IN" dirty="0" err="1" smtClean="0"/>
              <a:t>pl.plot</a:t>
            </a:r>
            <a:r>
              <a:rPr lang="en-IN" dirty="0" smtClean="0"/>
              <a:t>(X,SP)</a:t>
            </a:r>
          </a:p>
          <a:p>
            <a:pPr>
              <a:buNone/>
            </a:pPr>
            <a:r>
              <a:rPr lang="en-IN" dirty="0" err="1" smtClean="0"/>
              <a:t>pl.show</a:t>
            </a:r>
            <a:r>
              <a:rPr lang="en-IN" dirty="0"/>
              <a:t>()</a:t>
            </a:r>
            <a:endParaRPr lang="en-IN" dirty="0" smtClean="0"/>
          </a:p>
          <a:p>
            <a:pPr>
              <a:buNone/>
            </a:pP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ure_1"/>
          <p:cNvPicPr>
            <a:picLocks noChangeAspect="1" noChangeArrowheads="1"/>
          </p:cNvPicPr>
          <p:nvPr/>
        </p:nvPicPr>
        <p:blipFill>
          <a:blip r:embed="rId2" cstate="print"/>
          <a:srcRect/>
          <a:stretch>
            <a:fillRect/>
          </a:stretch>
        </p:blipFill>
        <p:spPr bwMode="auto">
          <a:xfrm>
            <a:off x="1259633" y="381602"/>
            <a:ext cx="7101910" cy="4199526"/>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Changing </a:t>
            </a:r>
            <a:r>
              <a:rPr lang="en-IN" b="1" dirty="0" err="1"/>
              <a:t>Colors</a:t>
            </a:r>
            <a:r>
              <a:rPr lang="en-IN" b="1" dirty="0"/>
              <a:t> and Line Width</a:t>
            </a:r>
            <a:r>
              <a:rPr lang="en-IN" dirty="0"/>
              <a:t/>
            </a:r>
            <a:br>
              <a:rPr lang="en-IN" dirty="0"/>
            </a:br>
            <a:endParaRPr lang="en-IN" dirty="0"/>
          </a:p>
        </p:txBody>
      </p:sp>
      <p:sp>
        <p:nvSpPr>
          <p:cNvPr id="3" name="Content Placeholder 2"/>
          <p:cNvSpPr>
            <a:spLocks noGrp="1"/>
          </p:cNvSpPr>
          <p:nvPr>
            <p:ph idx="1"/>
          </p:nvPr>
        </p:nvSpPr>
        <p:spPr>
          <a:xfrm>
            <a:off x="179512" y="980729"/>
            <a:ext cx="8507288" cy="1656184"/>
          </a:xfrm>
        </p:spPr>
        <p:txBody>
          <a:bodyPr/>
          <a:lstStyle/>
          <a:p>
            <a:pPr>
              <a:buNone/>
            </a:pPr>
            <a:r>
              <a:rPr lang="en-IN" sz="2800" dirty="0" err="1"/>
              <a:t>pl.figure</a:t>
            </a:r>
            <a:r>
              <a:rPr lang="en-IN" sz="2800" dirty="0"/>
              <a:t>(</a:t>
            </a:r>
            <a:r>
              <a:rPr lang="en-IN" sz="2800" dirty="0" err="1"/>
              <a:t>figsize</a:t>
            </a:r>
            <a:r>
              <a:rPr lang="en-IN" sz="2800" dirty="0"/>
              <a:t>=(10,6), dpi=80</a:t>
            </a:r>
            <a:r>
              <a:rPr lang="en-IN" sz="2800" dirty="0" smtClean="0"/>
              <a:t>)</a:t>
            </a:r>
          </a:p>
          <a:p>
            <a:pPr>
              <a:buNone/>
            </a:pPr>
            <a:r>
              <a:rPr lang="en-IN" sz="2800" dirty="0" err="1" smtClean="0"/>
              <a:t>pl.plot</a:t>
            </a:r>
            <a:r>
              <a:rPr lang="en-IN" sz="2800" dirty="0" smtClean="0"/>
              <a:t>(X</a:t>
            </a:r>
            <a:r>
              <a:rPr lang="en-IN" sz="2800" dirty="0"/>
              <a:t>, CP, </a:t>
            </a:r>
            <a:r>
              <a:rPr lang="en-IN" sz="2800" dirty="0" err="1"/>
              <a:t>color</a:t>
            </a:r>
            <a:r>
              <a:rPr lang="en-IN" sz="2800" dirty="0"/>
              <a:t>="blue", </a:t>
            </a:r>
            <a:r>
              <a:rPr lang="en-IN" sz="2800" dirty="0" err="1"/>
              <a:t>linewidth</a:t>
            </a:r>
            <a:r>
              <a:rPr lang="en-IN" sz="2800" dirty="0"/>
              <a:t>=2.5, </a:t>
            </a:r>
            <a:r>
              <a:rPr lang="en-IN" sz="2800" dirty="0" err="1"/>
              <a:t>linestyle</a:t>
            </a:r>
            <a:r>
              <a:rPr lang="en-IN" sz="2800" dirty="0" smtClean="0"/>
              <a:t>="-")</a:t>
            </a:r>
          </a:p>
          <a:p>
            <a:pPr>
              <a:buNone/>
            </a:pPr>
            <a:r>
              <a:rPr lang="en-IN" sz="2800" dirty="0" err="1" smtClean="0"/>
              <a:t>pl.plot</a:t>
            </a:r>
            <a:r>
              <a:rPr lang="en-IN" sz="2800" dirty="0" smtClean="0"/>
              <a:t>(X</a:t>
            </a:r>
            <a:r>
              <a:rPr lang="en-IN" sz="2800" dirty="0"/>
              <a:t>, SP, </a:t>
            </a:r>
            <a:r>
              <a:rPr lang="en-IN" sz="2800" dirty="0" err="1"/>
              <a:t>color</a:t>
            </a:r>
            <a:r>
              <a:rPr lang="en-IN" sz="2800" dirty="0"/>
              <a:t>="red",  </a:t>
            </a:r>
            <a:r>
              <a:rPr lang="en-IN" sz="2800" dirty="0" err="1"/>
              <a:t>linewidth</a:t>
            </a:r>
            <a:r>
              <a:rPr lang="en-IN" sz="2800" dirty="0"/>
              <a:t>=2.5, </a:t>
            </a:r>
            <a:r>
              <a:rPr lang="en-IN" sz="2800" dirty="0" err="1"/>
              <a:t>linestyle</a:t>
            </a:r>
            <a:r>
              <a:rPr lang="en-IN" sz="2800" dirty="0"/>
              <a:t>="-")</a:t>
            </a:r>
            <a:endParaRPr lang="en-IN" sz="2800" dirty="0" smtClean="0"/>
          </a:p>
          <a:p>
            <a:pPr>
              <a:buNone/>
            </a:pPr>
            <a:endParaRPr lang="en-IN" dirty="0"/>
          </a:p>
        </p:txBody>
      </p:sp>
      <p:pic>
        <p:nvPicPr>
          <p:cNvPr id="3074" name="Picture 2" descr="figure_1-2"/>
          <p:cNvPicPr>
            <a:picLocks noChangeAspect="1" noChangeArrowheads="1"/>
          </p:cNvPicPr>
          <p:nvPr/>
        </p:nvPicPr>
        <p:blipFill>
          <a:blip r:embed="rId2" cstate="print"/>
          <a:srcRect/>
          <a:stretch>
            <a:fillRect/>
          </a:stretch>
        </p:blipFill>
        <p:spPr bwMode="auto">
          <a:xfrm>
            <a:off x="1763687" y="2636912"/>
            <a:ext cx="6283410" cy="3672408"/>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Setting Limits</a:t>
            </a:r>
            <a:endParaRPr lang="en-IN" dirty="0"/>
          </a:p>
        </p:txBody>
      </p:sp>
      <p:sp>
        <p:nvSpPr>
          <p:cNvPr id="3" name="Content Placeholder 2"/>
          <p:cNvSpPr>
            <a:spLocks noGrp="1"/>
          </p:cNvSpPr>
          <p:nvPr>
            <p:ph idx="1"/>
          </p:nvPr>
        </p:nvSpPr>
        <p:spPr>
          <a:xfrm>
            <a:off x="251520" y="1268760"/>
            <a:ext cx="8435280" cy="2880321"/>
          </a:xfrm>
        </p:spPr>
        <p:txBody>
          <a:bodyPr>
            <a:normAutofit fontScale="92500" lnSpcReduction="10000"/>
          </a:bodyPr>
          <a:lstStyle/>
          <a:p>
            <a:pPr fontAlgn="base"/>
            <a:r>
              <a:rPr lang="en-IN" dirty="0"/>
              <a:t>Current limits of the figure are a bit too tight and we want to make some space in order to clearly see all data </a:t>
            </a:r>
            <a:r>
              <a:rPr lang="en-IN" dirty="0" err="1"/>
              <a:t>points.X</a:t>
            </a:r>
            <a:r>
              <a:rPr lang="en-IN" dirty="0"/>
              <a:t> axis and Y axis starts from 1.5 and 1.5 of default limits.</a:t>
            </a:r>
          </a:p>
          <a:p>
            <a:pPr>
              <a:buNone/>
            </a:pPr>
            <a:r>
              <a:rPr lang="en-IN" dirty="0" err="1" smtClean="0"/>
              <a:t>pl.xlim</a:t>
            </a:r>
            <a:r>
              <a:rPr lang="en-IN" dirty="0" smtClean="0"/>
              <a:t>(X.min</a:t>
            </a:r>
            <a:r>
              <a:rPr lang="en-IN" dirty="0"/>
              <a:t>()*1.5, X.max()*</a:t>
            </a:r>
            <a:r>
              <a:rPr lang="en-IN" dirty="0" smtClean="0"/>
              <a:t>1.5)</a:t>
            </a:r>
          </a:p>
          <a:p>
            <a:pPr>
              <a:buNone/>
            </a:pPr>
            <a:r>
              <a:rPr lang="en-IN" dirty="0" err="1" smtClean="0"/>
              <a:t>pl.ylim</a:t>
            </a:r>
            <a:r>
              <a:rPr lang="en-IN" dirty="0" smtClean="0"/>
              <a:t>(CP.min</a:t>
            </a:r>
            <a:r>
              <a:rPr lang="en-IN" dirty="0"/>
              <a:t>()*1.5, CP.max()*1.5)...</a:t>
            </a:r>
            <a:endParaRPr lang="en-IN" dirty="0" smtClean="0"/>
          </a:p>
          <a:p>
            <a:endParaRPr lang="en-IN" dirty="0"/>
          </a:p>
        </p:txBody>
      </p:sp>
      <p:pic>
        <p:nvPicPr>
          <p:cNvPr id="4098" name="Picture 2" descr="figure_1-5"/>
          <p:cNvPicPr>
            <a:picLocks noChangeAspect="1" noChangeArrowheads="1"/>
          </p:cNvPicPr>
          <p:nvPr/>
        </p:nvPicPr>
        <p:blipFill>
          <a:blip r:embed="rId2" cstate="print"/>
          <a:srcRect/>
          <a:stretch>
            <a:fillRect/>
          </a:stretch>
        </p:blipFill>
        <p:spPr bwMode="auto">
          <a:xfrm>
            <a:off x="1547664" y="3860298"/>
            <a:ext cx="5328592" cy="2593038"/>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Setting </a:t>
            </a:r>
            <a:r>
              <a:rPr lang="en-IN" dirty="0" smtClean="0"/>
              <a:t>Ticks</a:t>
            </a:r>
            <a:endParaRPr lang="en-IN" dirty="0"/>
          </a:p>
        </p:txBody>
      </p:sp>
      <p:sp>
        <p:nvSpPr>
          <p:cNvPr id="3" name="Content Placeholder 2"/>
          <p:cNvSpPr>
            <a:spLocks noGrp="1"/>
          </p:cNvSpPr>
          <p:nvPr>
            <p:ph idx="1"/>
          </p:nvPr>
        </p:nvSpPr>
        <p:spPr/>
        <p:txBody>
          <a:bodyPr/>
          <a:lstStyle/>
          <a:p>
            <a:pPr>
              <a:buNone/>
            </a:pPr>
            <a:r>
              <a:rPr lang="en-IN" dirty="0"/>
              <a:t>Current ticks (Values on X and Y axis)  are not ideal because they do not show the  values (+/-π,+/-π/2) for sine and cosine. We can change them by using </a:t>
            </a:r>
            <a:r>
              <a:rPr lang="en-IN" dirty="0" err="1"/>
              <a:t>xticks</a:t>
            </a:r>
            <a:r>
              <a:rPr lang="en-IN" dirty="0"/>
              <a:t>() and </a:t>
            </a:r>
            <a:r>
              <a:rPr lang="en-IN" dirty="0" err="1"/>
              <a:t>yticks</a:t>
            </a:r>
            <a:r>
              <a:rPr lang="en-IN" dirty="0" smtClean="0"/>
              <a:t>()</a:t>
            </a:r>
          </a:p>
          <a:p>
            <a:pPr>
              <a:buNone/>
            </a:pPr>
            <a:r>
              <a:rPr lang="en-IN" dirty="0" err="1"/>
              <a:t>pl.xticks</a:t>
            </a:r>
            <a:r>
              <a:rPr lang="en-IN" dirty="0"/>
              <a:t>( [-</a:t>
            </a:r>
            <a:r>
              <a:rPr lang="en-IN" dirty="0" err="1"/>
              <a:t>np.pi</a:t>
            </a:r>
            <a:r>
              <a:rPr lang="en-IN" dirty="0"/>
              <a:t>, -</a:t>
            </a:r>
            <a:r>
              <a:rPr lang="en-IN" dirty="0" err="1"/>
              <a:t>np.pi</a:t>
            </a:r>
            <a:r>
              <a:rPr lang="en-IN" dirty="0"/>
              <a:t>/2, 0, </a:t>
            </a:r>
            <a:r>
              <a:rPr lang="en-IN" dirty="0" err="1"/>
              <a:t>np.pi</a:t>
            </a:r>
            <a:r>
              <a:rPr lang="en-IN" dirty="0"/>
              <a:t>/2, </a:t>
            </a:r>
            <a:r>
              <a:rPr lang="en-IN" dirty="0" err="1"/>
              <a:t>np.pi</a:t>
            </a:r>
            <a:r>
              <a:rPr lang="en-IN" dirty="0" smtClean="0"/>
              <a:t>]) </a:t>
            </a:r>
            <a:r>
              <a:rPr lang="en-IN" dirty="0" err="1" smtClean="0"/>
              <a:t>pl.yticks</a:t>
            </a:r>
            <a:r>
              <a:rPr lang="en-IN" dirty="0"/>
              <a:t>([-1, 0, +1])</a:t>
            </a:r>
            <a:endParaRPr lang="en-IN" dirty="0" smtClean="0"/>
          </a:p>
          <a:p>
            <a:pPr>
              <a:buNone/>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figure_1-6"/>
          <p:cNvPicPr>
            <a:picLocks noChangeAspect="1" noChangeArrowheads="1"/>
          </p:cNvPicPr>
          <p:nvPr/>
        </p:nvPicPr>
        <p:blipFill>
          <a:blip r:embed="rId2" cstate="print"/>
          <a:srcRect/>
          <a:stretch>
            <a:fillRect/>
          </a:stretch>
        </p:blipFill>
        <p:spPr bwMode="auto">
          <a:xfrm>
            <a:off x="899592" y="1556792"/>
            <a:ext cx="5976664" cy="3549799"/>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Setting Tick </a:t>
            </a:r>
            <a:r>
              <a:rPr lang="en-IN" dirty="0" smtClean="0"/>
              <a:t>Labels</a:t>
            </a:r>
            <a:endParaRPr lang="en-IN" dirty="0"/>
          </a:p>
        </p:txBody>
      </p:sp>
      <p:sp>
        <p:nvSpPr>
          <p:cNvPr id="3" name="Content Placeholder 2"/>
          <p:cNvSpPr>
            <a:spLocks noGrp="1"/>
          </p:cNvSpPr>
          <p:nvPr>
            <p:ph idx="1"/>
          </p:nvPr>
        </p:nvSpPr>
        <p:spPr/>
        <p:txBody>
          <a:bodyPr/>
          <a:lstStyle/>
          <a:p>
            <a:pPr>
              <a:buNone/>
            </a:pPr>
            <a:r>
              <a:rPr lang="en-IN" dirty="0" err="1"/>
              <a:t>pl.xticks</a:t>
            </a:r>
            <a:r>
              <a:rPr lang="en-IN" dirty="0"/>
              <a:t>([-</a:t>
            </a:r>
            <a:r>
              <a:rPr lang="en-IN" dirty="0" err="1"/>
              <a:t>np.pi</a:t>
            </a:r>
            <a:r>
              <a:rPr lang="en-IN" dirty="0"/>
              <a:t>, -</a:t>
            </a:r>
            <a:r>
              <a:rPr lang="en-IN" dirty="0" err="1"/>
              <a:t>np.pi</a:t>
            </a:r>
            <a:r>
              <a:rPr lang="en-IN" dirty="0"/>
              <a:t>/2, 0, </a:t>
            </a:r>
            <a:r>
              <a:rPr lang="en-IN" dirty="0" err="1"/>
              <a:t>np.pi</a:t>
            </a:r>
            <a:r>
              <a:rPr lang="en-IN" dirty="0"/>
              <a:t>/2, </a:t>
            </a:r>
            <a:r>
              <a:rPr lang="en-IN" dirty="0" err="1"/>
              <a:t>np.pi</a:t>
            </a:r>
            <a:r>
              <a:rPr lang="en-IN" dirty="0"/>
              <a:t>],       [r'$-\pi$', r'$-\pi/2$', r'$0$', r'$+\pi/2$', r'$+\pi$']) </a:t>
            </a:r>
            <a:endParaRPr lang="en-IN" dirty="0" smtClean="0"/>
          </a:p>
          <a:p>
            <a:pPr>
              <a:buNone/>
            </a:pPr>
            <a:r>
              <a:rPr lang="en-IN" dirty="0" err="1" smtClean="0"/>
              <a:t>pl.yticks</a:t>
            </a:r>
            <a:r>
              <a:rPr lang="en-IN" dirty="0"/>
              <a:t>([-1, 0, +1],       [r'$-1$', r'$0$', r'$+1$'])</a:t>
            </a:r>
            <a:endParaRPr lang="en-IN" dirty="0" smtClean="0"/>
          </a:p>
          <a:p>
            <a:pPr>
              <a:buNone/>
            </a:pP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igures/exercice_6.png"/>
          <p:cNvPicPr>
            <a:picLocks noChangeAspect="1" noChangeArrowheads="1"/>
          </p:cNvPicPr>
          <p:nvPr/>
        </p:nvPicPr>
        <p:blipFill>
          <a:blip r:embed="rId2" cstate="print"/>
          <a:srcRect/>
          <a:stretch>
            <a:fillRect/>
          </a:stretch>
        </p:blipFill>
        <p:spPr bwMode="auto">
          <a:xfrm>
            <a:off x="467544" y="692696"/>
            <a:ext cx="6408712" cy="396044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IN" b="1" dirty="0"/>
              <a:t>Moving </a:t>
            </a:r>
            <a:r>
              <a:rPr lang="en-IN" b="1" dirty="0" smtClean="0"/>
              <a:t>Spines</a:t>
            </a:r>
            <a:endParaRPr lang="en-IN" dirty="0"/>
          </a:p>
        </p:txBody>
      </p:sp>
      <p:sp>
        <p:nvSpPr>
          <p:cNvPr id="3" name="Content Placeholder 2"/>
          <p:cNvSpPr>
            <a:spLocks noGrp="1"/>
          </p:cNvSpPr>
          <p:nvPr>
            <p:ph idx="1"/>
          </p:nvPr>
        </p:nvSpPr>
        <p:spPr>
          <a:xfrm>
            <a:off x="457200" y="1052736"/>
            <a:ext cx="8229600" cy="5073427"/>
          </a:xfrm>
        </p:spPr>
        <p:txBody>
          <a:bodyPr>
            <a:normAutofit fontScale="92500" lnSpcReduction="10000"/>
          </a:bodyPr>
          <a:lstStyle/>
          <a:p>
            <a:pPr>
              <a:buNone/>
            </a:pPr>
            <a:r>
              <a:rPr lang="en-IN" dirty="0"/>
              <a:t>we can discard the top and right by setting their </a:t>
            </a:r>
            <a:r>
              <a:rPr lang="en-IN" dirty="0" err="1"/>
              <a:t>color</a:t>
            </a:r>
            <a:r>
              <a:rPr lang="en-IN" dirty="0"/>
              <a:t> to none and will move the bottom and left ones to coordinate 0 in data space coordinates</a:t>
            </a:r>
            <a:r>
              <a:rPr lang="en-IN" dirty="0" smtClean="0"/>
              <a:t>.</a:t>
            </a:r>
          </a:p>
          <a:p>
            <a:pPr>
              <a:buNone/>
            </a:pPr>
            <a:r>
              <a:rPr lang="en-IN" dirty="0" err="1"/>
              <a:t>axs</a:t>
            </a:r>
            <a:r>
              <a:rPr lang="en-IN" dirty="0"/>
              <a:t> = pl.gca()</a:t>
            </a:r>
            <a:r>
              <a:rPr lang="en-IN" dirty="0" err="1"/>
              <a:t>axs.spines</a:t>
            </a:r>
            <a:r>
              <a:rPr lang="en-IN" dirty="0"/>
              <a:t>['right'].</a:t>
            </a:r>
            <a:r>
              <a:rPr lang="en-IN" dirty="0" err="1"/>
              <a:t>set_color</a:t>
            </a:r>
            <a:r>
              <a:rPr lang="en-IN" dirty="0"/>
              <a:t>(</a:t>
            </a:r>
            <a:r>
              <a:rPr lang="en-IN" dirty="0" smtClean="0"/>
              <a:t>'none‘)</a:t>
            </a:r>
          </a:p>
          <a:p>
            <a:pPr>
              <a:buNone/>
            </a:pPr>
            <a:r>
              <a:rPr lang="en-IN" dirty="0" err="1" smtClean="0"/>
              <a:t>axs.spines</a:t>
            </a:r>
            <a:r>
              <a:rPr lang="en-IN" dirty="0"/>
              <a:t>['top'].</a:t>
            </a:r>
            <a:r>
              <a:rPr lang="en-IN" dirty="0" err="1"/>
              <a:t>set_color</a:t>
            </a:r>
            <a:r>
              <a:rPr lang="en-IN" dirty="0"/>
              <a:t>('none</a:t>
            </a:r>
            <a:r>
              <a:rPr lang="en-IN" dirty="0" smtClean="0"/>
              <a:t>')</a:t>
            </a:r>
          </a:p>
          <a:p>
            <a:pPr>
              <a:buNone/>
            </a:pPr>
            <a:r>
              <a:rPr lang="en-IN" dirty="0" err="1" smtClean="0"/>
              <a:t>axs.xaxis.set_ticks_position</a:t>
            </a:r>
            <a:r>
              <a:rPr lang="en-IN" dirty="0"/>
              <a:t>('bottom</a:t>
            </a:r>
            <a:r>
              <a:rPr lang="en-IN" dirty="0" smtClean="0"/>
              <a:t>')</a:t>
            </a:r>
          </a:p>
          <a:p>
            <a:pPr>
              <a:buNone/>
            </a:pPr>
            <a:r>
              <a:rPr lang="en-IN" dirty="0" err="1" smtClean="0"/>
              <a:t>axs.spines</a:t>
            </a:r>
            <a:r>
              <a:rPr lang="en-IN" dirty="0"/>
              <a:t>['bottom'].</a:t>
            </a:r>
            <a:r>
              <a:rPr lang="en-IN" dirty="0" err="1"/>
              <a:t>set_position</a:t>
            </a:r>
            <a:r>
              <a:rPr lang="en-IN" dirty="0"/>
              <a:t>(('data',0))     #Place x axis on </a:t>
            </a:r>
            <a:r>
              <a:rPr lang="en-IN" dirty="0" smtClean="0"/>
              <a:t>centre </a:t>
            </a:r>
            <a:r>
              <a:rPr lang="en-IN" dirty="0" err="1" smtClean="0"/>
              <a:t>axs.yaxis.set_ticks_position</a:t>
            </a:r>
            <a:r>
              <a:rPr lang="en-IN" dirty="0"/>
              <a:t>('left</a:t>
            </a:r>
            <a:r>
              <a:rPr lang="en-IN" dirty="0" smtClean="0"/>
              <a:t>') </a:t>
            </a:r>
            <a:r>
              <a:rPr lang="en-IN" dirty="0" err="1" smtClean="0"/>
              <a:t>axs.spines</a:t>
            </a:r>
            <a:r>
              <a:rPr lang="en-IN" dirty="0"/>
              <a:t>['left'].</a:t>
            </a:r>
            <a:r>
              <a:rPr lang="en-IN" dirty="0" err="1"/>
              <a:t>set_position</a:t>
            </a:r>
            <a:r>
              <a:rPr lang="en-IN" dirty="0"/>
              <a:t>(('data',0))          #Place y axis on centre</a:t>
            </a:r>
            <a:endParaRPr lang="en-IN" dirty="0" smtClean="0"/>
          </a:p>
          <a:p>
            <a:pPr>
              <a:buNone/>
            </a:pPr>
            <a:endParaRPr lang="en-IN" dirty="0"/>
          </a:p>
          <a:p>
            <a:pPr>
              <a:buNone/>
            </a:pP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figures/exercice_7.png"/>
          <p:cNvPicPr>
            <a:picLocks noChangeAspect="1" noChangeArrowheads="1"/>
          </p:cNvPicPr>
          <p:nvPr/>
        </p:nvPicPr>
        <p:blipFill>
          <a:blip r:embed="rId2" cstate="print"/>
          <a:srcRect/>
          <a:stretch>
            <a:fillRect/>
          </a:stretch>
        </p:blipFill>
        <p:spPr bwMode="auto">
          <a:xfrm>
            <a:off x="1835697" y="476672"/>
            <a:ext cx="6340962" cy="432048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Adding a </a:t>
            </a:r>
            <a:r>
              <a:rPr lang="en-IN" dirty="0" smtClean="0"/>
              <a:t>legend</a:t>
            </a:r>
            <a:endParaRPr lang="en-IN" dirty="0"/>
          </a:p>
        </p:txBody>
      </p:sp>
      <p:sp>
        <p:nvSpPr>
          <p:cNvPr id="3" name="Content Placeholder 2"/>
          <p:cNvSpPr>
            <a:spLocks noGrp="1"/>
          </p:cNvSpPr>
          <p:nvPr>
            <p:ph idx="1"/>
          </p:nvPr>
        </p:nvSpPr>
        <p:spPr/>
        <p:txBody>
          <a:bodyPr>
            <a:normAutofit/>
          </a:bodyPr>
          <a:lstStyle/>
          <a:p>
            <a:pPr>
              <a:buNone/>
            </a:pPr>
            <a:r>
              <a:rPr lang="en-IN" dirty="0"/>
              <a:t>We can add a legend in the upper left corner. This is required for  adding the keyword argument label  to the plot commands.</a:t>
            </a:r>
          </a:p>
          <a:p>
            <a:pPr>
              <a:buNone/>
            </a:pPr>
            <a:r>
              <a:rPr lang="en-IN" dirty="0" err="1"/>
              <a:t>plt.plot</a:t>
            </a:r>
            <a:r>
              <a:rPr lang="en-IN" dirty="0"/>
              <a:t>(X, CP, </a:t>
            </a:r>
            <a:r>
              <a:rPr lang="en-IN" dirty="0" err="1"/>
              <a:t>color</a:t>
            </a:r>
            <a:r>
              <a:rPr lang="en-IN" dirty="0"/>
              <a:t>="blue", </a:t>
            </a:r>
            <a:r>
              <a:rPr lang="en-IN" dirty="0" err="1"/>
              <a:t>linewidth</a:t>
            </a:r>
            <a:r>
              <a:rPr lang="en-IN" dirty="0"/>
              <a:t>=2.5, </a:t>
            </a:r>
            <a:r>
              <a:rPr lang="en-IN" dirty="0" err="1"/>
              <a:t>linestyle</a:t>
            </a:r>
            <a:r>
              <a:rPr lang="en-IN" dirty="0"/>
              <a:t>="-", label="cosine</a:t>
            </a:r>
            <a:r>
              <a:rPr lang="en-IN" dirty="0" smtClean="0"/>
              <a:t>")</a:t>
            </a:r>
          </a:p>
          <a:p>
            <a:pPr>
              <a:buNone/>
            </a:pPr>
            <a:r>
              <a:rPr lang="en-IN" dirty="0" err="1" smtClean="0"/>
              <a:t>plt.plot</a:t>
            </a:r>
            <a:r>
              <a:rPr lang="en-IN" dirty="0" smtClean="0"/>
              <a:t>(X</a:t>
            </a:r>
            <a:r>
              <a:rPr lang="en-IN" dirty="0"/>
              <a:t>, SP, </a:t>
            </a:r>
            <a:r>
              <a:rPr lang="en-IN" dirty="0" err="1"/>
              <a:t>color</a:t>
            </a:r>
            <a:r>
              <a:rPr lang="en-IN" dirty="0"/>
              <a:t>="red",  </a:t>
            </a:r>
            <a:r>
              <a:rPr lang="en-IN" dirty="0" err="1"/>
              <a:t>linewidth</a:t>
            </a:r>
            <a:r>
              <a:rPr lang="en-IN" dirty="0"/>
              <a:t>=2.5, </a:t>
            </a:r>
            <a:r>
              <a:rPr lang="en-IN" dirty="0" err="1"/>
              <a:t>linestyle</a:t>
            </a:r>
            <a:r>
              <a:rPr lang="en-IN" dirty="0"/>
              <a:t>="-", label="sine</a:t>
            </a:r>
            <a:r>
              <a:rPr lang="en-IN" dirty="0" smtClean="0"/>
              <a:t>")</a:t>
            </a:r>
          </a:p>
          <a:p>
            <a:pPr>
              <a:buNone/>
            </a:pPr>
            <a:r>
              <a:rPr lang="en-IN" dirty="0" err="1" smtClean="0"/>
              <a:t>plt.legend</a:t>
            </a:r>
            <a:r>
              <a:rPr lang="en-IN" dirty="0" smtClean="0"/>
              <a:t>(loc</a:t>
            </a:r>
            <a:r>
              <a:rPr lang="en-IN" dirty="0"/>
              <a:t>='upper left', </a:t>
            </a:r>
            <a:r>
              <a:rPr lang="en-IN" dirty="0" err="1"/>
              <a:t>frameon</a:t>
            </a:r>
            <a:r>
              <a:rPr lang="en-IN" dirty="0"/>
              <a:t>=False)...</a:t>
            </a:r>
            <a:endParaRPr lang="en-IN" dirty="0" smtClean="0"/>
          </a:p>
          <a:p>
            <a:pPr>
              <a:buNone/>
            </a:pP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figures/exercice_8.png"/>
          <p:cNvPicPr>
            <a:picLocks noChangeAspect="1" noChangeArrowheads="1"/>
          </p:cNvPicPr>
          <p:nvPr/>
        </p:nvPicPr>
        <p:blipFill>
          <a:blip r:embed="rId2" cstate="print"/>
          <a:srcRect/>
          <a:stretch>
            <a:fillRect/>
          </a:stretch>
        </p:blipFill>
        <p:spPr bwMode="auto">
          <a:xfrm>
            <a:off x="971600" y="1196752"/>
            <a:ext cx="7326272" cy="4608512"/>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fontScale="92500" lnSpcReduction="20000"/>
          </a:bodyPr>
          <a:lstStyle/>
          <a:p>
            <a:pPr>
              <a:buNone/>
            </a:pPr>
            <a:r>
              <a:rPr lang="en-IN" dirty="0"/>
              <a:t>import </a:t>
            </a:r>
            <a:r>
              <a:rPr lang="en-IN" dirty="0" err="1"/>
              <a:t>numpy</a:t>
            </a:r>
            <a:r>
              <a:rPr lang="en-IN" dirty="0"/>
              <a:t> as </a:t>
            </a:r>
            <a:r>
              <a:rPr lang="en-IN" dirty="0" err="1"/>
              <a:t>np</a:t>
            </a:r>
            <a:endParaRPr lang="en-IN" dirty="0"/>
          </a:p>
          <a:p>
            <a:pPr>
              <a:buNone/>
            </a:pPr>
            <a:r>
              <a:rPr lang="en-IN" dirty="0"/>
              <a:t>import </a:t>
            </a:r>
            <a:r>
              <a:rPr lang="en-IN" dirty="0" err="1"/>
              <a:t>matplotlib.pyplot</a:t>
            </a:r>
            <a:r>
              <a:rPr lang="en-IN" dirty="0"/>
              <a:t> as pl</a:t>
            </a:r>
          </a:p>
          <a:p>
            <a:pPr>
              <a:buNone/>
            </a:pPr>
            <a:r>
              <a:rPr lang="en-IN" dirty="0"/>
              <a:t>X = </a:t>
            </a:r>
            <a:r>
              <a:rPr lang="en-IN" dirty="0" err="1"/>
              <a:t>np.linspace</a:t>
            </a:r>
            <a:r>
              <a:rPr lang="en-IN" dirty="0"/>
              <a:t>(-</a:t>
            </a:r>
            <a:r>
              <a:rPr lang="en-IN" dirty="0" err="1"/>
              <a:t>np.pi</a:t>
            </a:r>
            <a:r>
              <a:rPr lang="en-IN" dirty="0"/>
              <a:t>, </a:t>
            </a:r>
            <a:r>
              <a:rPr lang="en-IN" dirty="0" err="1"/>
              <a:t>np.pi</a:t>
            </a:r>
            <a:r>
              <a:rPr lang="en-IN" dirty="0"/>
              <a:t>, 256, endpoint=True)</a:t>
            </a:r>
          </a:p>
          <a:p>
            <a:pPr>
              <a:buNone/>
            </a:pPr>
            <a:r>
              <a:rPr lang="en-IN" dirty="0"/>
              <a:t> </a:t>
            </a:r>
          </a:p>
          <a:p>
            <a:pPr>
              <a:buNone/>
            </a:pPr>
            <a:r>
              <a:rPr lang="en-IN" dirty="0"/>
              <a:t>CP = np.cos(X)</a:t>
            </a:r>
          </a:p>
          <a:p>
            <a:pPr>
              <a:buNone/>
            </a:pPr>
            <a:r>
              <a:rPr lang="en-IN" dirty="0"/>
              <a:t>SP= np.sin(X)</a:t>
            </a:r>
          </a:p>
          <a:p>
            <a:pPr>
              <a:buNone/>
            </a:pPr>
            <a:r>
              <a:rPr lang="en-IN" dirty="0" err="1"/>
              <a:t>pl.figure</a:t>
            </a:r>
            <a:r>
              <a:rPr lang="en-IN" dirty="0"/>
              <a:t>(</a:t>
            </a:r>
            <a:r>
              <a:rPr lang="en-IN" dirty="0" err="1"/>
              <a:t>figsize</a:t>
            </a:r>
            <a:r>
              <a:rPr lang="en-IN" dirty="0"/>
              <a:t>=(10,6), dpi=80)</a:t>
            </a:r>
          </a:p>
          <a:p>
            <a:pPr>
              <a:buNone/>
            </a:pPr>
            <a:r>
              <a:rPr lang="en-IN" dirty="0" err="1"/>
              <a:t>pl.xlim</a:t>
            </a:r>
            <a:r>
              <a:rPr lang="en-IN" dirty="0"/>
              <a:t>(X.min()*1.5, X.max()*1.5)</a:t>
            </a:r>
          </a:p>
          <a:p>
            <a:pPr>
              <a:buNone/>
            </a:pPr>
            <a:r>
              <a:rPr lang="en-IN" dirty="0" err="1"/>
              <a:t>pl.ylim</a:t>
            </a:r>
            <a:r>
              <a:rPr lang="en-IN" dirty="0"/>
              <a:t>(CP.min()*1.5, CP.max()*1.5)</a:t>
            </a:r>
          </a:p>
          <a:p>
            <a:pPr>
              <a:buNone/>
            </a:pPr>
            <a:r>
              <a:rPr lang="en-IN" dirty="0" err="1"/>
              <a:t>pl.xticks</a:t>
            </a:r>
            <a:r>
              <a:rPr lang="en-IN" dirty="0"/>
              <a:t>([-</a:t>
            </a:r>
            <a:r>
              <a:rPr lang="en-IN" dirty="0" err="1"/>
              <a:t>np.pi</a:t>
            </a:r>
            <a:r>
              <a:rPr lang="en-IN" dirty="0"/>
              <a:t>, -</a:t>
            </a:r>
            <a:r>
              <a:rPr lang="en-IN" dirty="0" err="1"/>
              <a:t>np.pi</a:t>
            </a:r>
            <a:r>
              <a:rPr lang="en-IN" dirty="0"/>
              <a:t>/2, 0, </a:t>
            </a:r>
            <a:r>
              <a:rPr lang="en-IN" dirty="0" err="1"/>
              <a:t>np.pi</a:t>
            </a:r>
            <a:r>
              <a:rPr lang="en-IN" dirty="0"/>
              <a:t>/2, </a:t>
            </a:r>
            <a:r>
              <a:rPr lang="en-IN" dirty="0" err="1"/>
              <a:t>np.pi</a:t>
            </a:r>
            <a:r>
              <a:rPr lang="en-IN" dirty="0"/>
              <a:t>],</a:t>
            </a:r>
          </a:p>
          <a:p>
            <a:pPr>
              <a:buNone/>
            </a:pPr>
            <a:r>
              <a:rPr lang="en-IN" dirty="0"/>
              <a:t>       [r'$-\pi$', r'$-\pi/2$', r'$0$', r'$+\pi/2$', r'$+\pi$'])</a:t>
            </a:r>
          </a:p>
          <a:p>
            <a:pPr>
              <a:buNone/>
            </a:pP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fontScale="70000" lnSpcReduction="20000"/>
          </a:bodyPr>
          <a:lstStyle/>
          <a:p>
            <a:pPr>
              <a:buNone/>
            </a:pPr>
            <a:r>
              <a:rPr lang="en-IN" dirty="0" err="1"/>
              <a:t>pl.yticks</a:t>
            </a:r>
            <a:r>
              <a:rPr lang="en-IN" dirty="0"/>
              <a:t>([-1, 0, +1],</a:t>
            </a:r>
          </a:p>
          <a:p>
            <a:pPr>
              <a:buNone/>
            </a:pPr>
            <a:r>
              <a:rPr lang="en-IN" dirty="0"/>
              <a:t>       [r'$-1$', r'$0$', r'$+1$'])</a:t>
            </a:r>
          </a:p>
          <a:p>
            <a:pPr>
              <a:buNone/>
            </a:pPr>
            <a:r>
              <a:rPr lang="en-IN" dirty="0" err="1"/>
              <a:t>axs</a:t>
            </a:r>
            <a:r>
              <a:rPr lang="en-IN" dirty="0"/>
              <a:t> = pl.gca()</a:t>
            </a:r>
          </a:p>
          <a:p>
            <a:pPr>
              <a:buNone/>
            </a:pPr>
            <a:r>
              <a:rPr lang="en-IN" dirty="0" err="1"/>
              <a:t>axs.spines</a:t>
            </a:r>
            <a:r>
              <a:rPr lang="en-IN" dirty="0"/>
              <a:t>['right'].</a:t>
            </a:r>
            <a:r>
              <a:rPr lang="en-IN" dirty="0" err="1"/>
              <a:t>set_color</a:t>
            </a:r>
            <a:r>
              <a:rPr lang="en-IN" dirty="0"/>
              <a:t>('none')</a:t>
            </a:r>
          </a:p>
          <a:p>
            <a:pPr>
              <a:buNone/>
            </a:pPr>
            <a:r>
              <a:rPr lang="en-IN" dirty="0" err="1"/>
              <a:t>axs.spines</a:t>
            </a:r>
            <a:r>
              <a:rPr lang="en-IN" dirty="0"/>
              <a:t>['top'].</a:t>
            </a:r>
            <a:r>
              <a:rPr lang="en-IN" dirty="0" err="1"/>
              <a:t>set_color</a:t>
            </a:r>
            <a:r>
              <a:rPr lang="en-IN" dirty="0"/>
              <a:t>('none')</a:t>
            </a:r>
          </a:p>
          <a:p>
            <a:pPr>
              <a:buNone/>
            </a:pPr>
            <a:r>
              <a:rPr lang="en-IN" dirty="0" err="1"/>
              <a:t>axs.xaxis.set_ticks_position</a:t>
            </a:r>
            <a:r>
              <a:rPr lang="en-IN" dirty="0"/>
              <a:t>('bottom')</a:t>
            </a:r>
          </a:p>
          <a:p>
            <a:pPr>
              <a:buNone/>
            </a:pPr>
            <a:r>
              <a:rPr lang="en-IN" dirty="0" err="1"/>
              <a:t>axs.spines</a:t>
            </a:r>
            <a:r>
              <a:rPr lang="en-IN" dirty="0"/>
              <a:t>['bottom'].</a:t>
            </a:r>
            <a:r>
              <a:rPr lang="en-IN" dirty="0" err="1"/>
              <a:t>set_position</a:t>
            </a:r>
            <a:r>
              <a:rPr lang="en-IN" dirty="0"/>
              <a:t>(('data',0))</a:t>
            </a:r>
          </a:p>
          <a:p>
            <a:pPr>
              <a:buNone/>
            </a:pPr>
            <a:r>
              <a:rPr lang="en-IN" dirty="0" err="1"/>
              <a:t>axs.yaxis.set_ticks_position</a:t>
            </a:r>
            <a:r>
              <a:rPr lang="en-IN" dirty="0"/>
              <a:t>('left')</a:t>
            </a:r>
          </a:p>
          <a:p>
            <a:pPr>
              <a:buNone/>
            </a:pPr>
            <a:r>
              <a:rPr lang="en-IN" dirty="0" err="1"/>
              <a:t>axs.spines</a:t>
            </a:r>
            <a:r>
              <a:rPr lang="en-IN" dirty="0"/>
              <a:t>['left'].</a:t>
            </a:r>
            <a:r>
              <a:rPr lang="en-IN" dirty="0" err="1"/>
              <a:t>set_position</a:t>
            </a:r>
            <a:r>
              <a:rPr lang="en-IN" dirty="0"/>
              <a:t>(('data',0))</a:t>
            </a:r>
          </a:p>
          <a:p>
            <a:pPr>
              <a:buNone/>
            </a:pPr>
            <a:r>
              <a:rPr lang="en-IN" dirty="0"/>
              <a:t> </a:t>
            </a:r>
          </a:p>
          <a:p>
            <a:pPr>
              <a:buNone/>
            </a:pPr>
            <a:r>
              <a:rPr lang="en-IN" dirty="0" err="1"/>
              <a:t>pl.plot</a:t>
            </a:r>
            <a:r>
              <a:rPr lang="en-IN" dirty="0"/>
              <a:t>(X, CP, </a:t>
            </a:r>
            <a:r>
              <a:rPr lang="en-IN" dirty="0" err="1"/>
              <a:t>color</a:t>
            </a:r>
            <a:r>
              <a:rPr lang="en-IN" dirty="0"/>
              <a:t>="blue", </a:t>
            </a:r>
            <a:r>
              <a:rPr lang="en-IN" dirty="0" err="1"/>
              <a:t>linewidth</a:t>
            </a:r>
            <a:r>
              <a:rPr lang="en-IN" dirty="0"/>
              <a:t>=2.5, </a:t>
            </a:r>
            <a:r>
              <a:rPr lang="en-IN" dirty="0" err="1"/>
              <a:t>linestyle</a:t>
            </a:r>
            <a:r>
              <a:rPr lang="en-IN" dirty="0"/>
              <a:t>="-", label="cosine")</a:t>
            </a:r>
          </a:p>
          <a:p>
            <a:pPr>
              <a:buNone/>
            </a:pPr>
            <a:r>
              <a:rPr lang="en-IN" dirty="0" err="1"/>
              <a:t>pl.plot</a:t>
            </a:r>
            <a:r>
              <a:rPr lang="en-IN" dirty="0"/>
              <a:t>(X, SP, </a:t>
            </a:r>
            <a:r>
              <a:rPr lang="en-IN" dirty="0" err="1"/>
              <a:t>color</a:t>
            </a:r>
            <a:r>
              <a:rPr lang="en-IN" dirty="0"/>
              <a:t>="red",  </a:t>
            </a:r>
            <a:r>
              <a:rPr lang="en-IN" dirty="0" err="1"/>
              <a:t>linewidth</a:t>
            </a:r>
            <a:r>
              <a:rPr lang="en-IN" dirty="0"/>
              <a:t>=2.5, </a:t>
            </a:r>
            <a:r>
              <a:rPr lang="en-IN" dirty="0" err="1"/>
              <a:t>linestyle</a:t>
            </a:r>
            <a:r>
              <a:rPr lang="en-IN" dirty="0"/>
              <a:t>="-", label="sine")</a:t>
            </a:r>
          </a:p>
          <a:p>
            <a:pPr>
              <a:buNone/>
            </a:pPr>
            <a:r>
              <a:rPr lang="en-IN" dirty="0" err="1"/>
              <a:t>pl.legend</a:t>
            </a:r>
            <a:r>
              <a:rPr lang="en-IN" dirty="0"/>
              <a:t>(loc='upper left', </a:t>
            </a:r>
            <a:r>
              <a:rPr lang="en-IN" dirty="0" err="1"/>
              <a:t>frameon</a:t>
            </a:r>
            <a:r>
              <a:rPr lang="en-IN" dirty="0"/>
              <a:t>=False)</a:t>
            </a:r>
          </a:p>
          <a:p>
            <a:pPr>
              <a:buNone/>
            </a:pPr>
            <a:r>
              <a:rPr lang="en-IN" dirty="0"/>
              <a:t> </a:t>
            </a:r>
          </a:p>
          <a:p>
            <a:pPr>
              <a:buNone/>
            </a:pPr>
            <a:r>
              <a:rPr lang="en-IN" dirty="0" err="1"/>
              <a:t>pl.show</a:t>
            </a:r>
            <a:r>
              <a:rPr lang="en-IN" dirty="0"/>
              <a:t>()</a:t>
            </a:r>
          </a:p>
          <a:p>
            <a:pPr>
              <a:buNone/>
            </a:pP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Figures, Subplots, Axes and Ticks</a:t>
            </a:r>
            <a:br>
              <a:rPr lang="en-IN" b="1" dirty="0"/>
            </a:br>
            <a:endParaRPr lang="en-IN" dirty="0"/>
          </a:p>
        </p:txBody>
      </p:sp>
      <p:sp>
        <p:nvSpPr>
          <p:cNvPr id="3" name="Content Placeholder 2"/>
          <p:cNvSpPr>
            <a:spLocks noGrp="1"/>
          </p:cNvSpPr>
          <p:nvPr>
            <p:ph idx="1"/>
          </p:nvPr>
        </p:nvSpPr>
        <p:spPr/>
        <p:txBody>
          <a:bodyPr>
            <a:normAutofit fontScale="92500" lnSpcReduction="20000"/>
          </a:bodyPr>
          <a:lstStyle/>
          <a:p>
            <a:pPr fontAlgn="base"/>
            <a:r>
              <a:rPr lang="en-IN" dirty="0"/>
              <a:t>A figure in </a:t>
            </a:r>
            <a:r>
              <a:rPr lang="en-IN" dirty="0" err="1"/>
              <a:t>matplotlib</a:t>
            </a:r>
            <a:r>
              <a:rPr lang="en-IN" dirty="0"/>
              <a:t> means the whole window where plot is displayed in the user interface.  </a:t>
            </a:r>
          </a:p>
          <a:p>
            <a:pPr fontAlgn="base"/>
            <a:r>
              <a:rPr lang="en-IN" dirty="0"/>
              <a:t>Within this figure there can be one or more subplots. Default is subplot (111).This means only one subplot in figure can be drawn. Subplot positions the plots in  regular grid</a:t>
            </a:r>
            <a:r>
              <a:rPr lang="en-IN" dirty="0" smtClean="0"/>
              <a:t>.</a:t>
            </a:r>
          </a:p>
          <a:p>
            <a:pPr fontAlgn="base"/>
            <a:r>
              <a:rPr lang="en-IN" dirty="0"/>
              <a:t>Axes allows the placement of subplots .The values (scale) displayed on axis is called ticks. When we call plot, </a:t>
            </a:r>
            <a:r>
              <a:rPr lang="en-IN" dirty="0" err="1"/>
              <a:t>matplotlib</a:t>
            </a:r>
            <a:r>
              <a:rPr lang="en-IN" dirty="0"/>
              <a:t> calls </a:t>
            </a:r>
            <a:r>
              <a:rPr lang="en-IN" dirty="0" err="1"/>
              <a:t>gca</a:t>
            </a:r>
            <a:r>
              <a:rPr lang="en-IN" dirty="0"/>
              <a:t>() to get the current axes and </a:t>
            </a:r>
            <a:r>
              <a:rPr lang="en-IN" dirty="0" err="1"/>
              <a:t>gca</a:t>
            </a:r>
            <a:r>
              <a:rPr lang="en-IN" dirty="0"/>
              <a:t> in turn calls </a:t>
            </a:r>
            <a:r>
              <a:rPr lang="en-IN" dirty="0" err="1"/>
              <a:t>gcf</a:t>
            </a:r>
            <a:r>
              <a:rPr lang="en-IN" dirty="0"/>
              <a:t>() to get the current figure. </a:t>
            </a:r>
          </a:p>
          <a:p>
            <a:pPr fontAlgn="base"/>
            <a:endParaRPr lang="en-IN" dirty="0"/>
          </a:p>
          <a:p>
            <a:pPr>
              <a:buNone/>
            </a:pP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i="1" dirty="0" smtClean="0"/>
              <a:t>Figure</a:t>
            </a:r>
            <a:endParaRPr lang="en-IN" dirty="0"/>
          </a:p>
        </p:txBody>
      </p:sp>
      <p:sp>
        <p:nvSpPr>
          <p:cNvPr id="3" name="Content Placeholder 2"/>
          <p:cNvSpPr>
            <a:spLocks noGrp="1"/>
          </p:cNvSpPr>
          <p:nvPr>
            <p:ph idx="1"/>
          </p:nvPr>
        </p:nvSpPr>
        <p:spPr>
          <a:xfrm>
            <a:off x="457200" y="1600201"/>
            <a:ext cx="8229600" cy="1180728"/>
          </a:xfrm>
        </p:spPr>
        <p:txBody>
          <a:bodyPr>
            <a:normAutofit fontScale="92500"/>
          </a:bodyPr>
          <a:lstStyle/>
          <a:p>
            <a:pPr>
              <a:buNone/>
            </a:pPr>
            <a:r>
              <a:rPr lang="en-IN" dirty="0"/>
              <a:t>A figure is the interface in </a:t>
            </a:r>
            <a:r>
              <a:rPr lang="en-IN" dirty="0" err="1"/>
              <a:t>Matplotlib</a:t>
            </a:r>
            <a:r>
              <a:rPr lang="en-IN" dirty="0"/>
              <a:t> has "Figure #" as title. Figures are numbered starting from 1</a:t>
            </a:r>
          </a:p>
        </p:txBody>
      </p:sp>
      <p:graphicFrame>
        <p:nvGraphicFramePr>
          <p:cNvPr id="4" name="Table 3"/>
          <p:cNvGraphicFramePr>
            <a:graphicFrameLocks noGrp="1"/>
          </p:cNvGraphicFramePr>
          <p:nvPr/>
        </p:nvGraphicFramePr>
        <p:xfrm>
          <a:off x="755576" y="2564902"/>
          <a:ext cx="6840759" cy="3725864"/>
        </p:xfrm>
        <a:graphic>
          <a:graphicData uri="http://schemas.openxmlformats.org/drawingml/2006/table">
            <a:tbl>
              <a:tblPr/>
              <a:tblGrid>
                <a:gridCol w="2280253"/>
                <a:gridCol w="2280253"/>
                <a:gridCol w="2280253"/>
              </a:tblGrid>
              <a:tr h="325525">
                <a:tc>
                  <a:txBody>
                    <a:bodyPr/>
                    <a:lstStyle/>
                    <a:p>
                      <a:pPr>
                        <a:lnSpc>
                          <a:spcPct val="115000"/>
                        </a:lnSpc>
                        <a:spcAft>
                          <a:spcPts val="0"/>
                        </a:spcAft>
                      </a:pPr>
                      <a:r>
                        <a:rPr lang="en-IN" sz="1600" b="1" dirty="0">
                          <a:latin typeface="Times New Roman"/>
                          <a:ea typeface="Calibri"/>
                          <a:cs typeface="Mangal"/>
                        </a:rPr>
                        <a:t>Argument</a:t>
                      </a:r>
                      <a:endParaRPr lang="en-IN" sz="16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b="1">
                          <a:latin typeface="Times New Roman"/>
                          <a:ea typeface="Calibri"/>
                          <a:cs typeface="Mangal"/>
                        </a:rPr>
                        <a:t>Default</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b="1">
                          <a:latin typeface="Times New Roman"/>
                          <a:ea typeface="Calibri"/>
                          <a:cs typeface="Mangal"/>
                        </a:rPr>
                        <a:t>Description</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5525">
                <a:tc>
                  <a:txBody>
                    <a:bodyPr/>
                    <a:lstStyle/>
                    <a:p>
                      <a:pPr>
                        <a:lnSpc>
                          <a:spcPct val="115000"/>
                        </a:lnSpc>
                        <a:spcAft>
                          <a:spcPts val="0"/>
                        </a:spcAft>
                      </a:pPr>
                      <a:r>
                        <a:rPr lang="en-IN" sz="1600" dirty="0">
                          <a:latin typeface="Times New Roman"/>
                          <a:ea typeface="Calibri"/>
                          <a:cs typeface="Mangal"/>
                        </a:rPr>
                        <a:t>Num</a:t>
                      </a:r>
                      <a:endParaRPr lang="en-IN" sz="16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a:latin typeface="Times New Roman"/>
                          <a:ea typeface="Calibri"/>
                          <a:cs typeface="Mangal"/>
                        </a:rPr>
                        <a:t>1</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a:latin typeface="Times New Roman"/>
                          <a:ea typeface="Calibri"/>
                          <a:cs typeface="Mangal"/>
                        </a:rPr>
                        <a:t>number of figure in interface</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1050">
                <a:tc>
                  <a:txBody>
                    <a:bodyPr/>
                    <a:lstStyle/>
                    <a:p>
                      <a:pPr>
                        <a:lnSpc>
                          <a:spcPct val="115000"/>
                        </a:lnSpc>
                        <a:spcAft>
                          <a:spcPts val="0"/>
                        </a:spcAft>
                      </a:pPr>
                      <a:r>
                        <a:rPr lang="en-IN" sz="1600" dirty="0" err="1">
                          <a:latin typeface="Times New Roman"/>
                          <a:ea typeface="Calibri"/>
                          <a:cs typeface="Mangal"/>
                        </a:rPr>
                        <a:t>figsize</a:t>
                      </a:r>
                      <a:endParaRPr lang="en-IN" sz="16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a:latin typeface="Times New Roman"/>
                          <a:ea typeface="Calibri"/>
                          <a:cs typeface="Mangal"/>
                        </a:rPr>
                        <a:t>figure.figsize</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a:latin typeface="Times New Roman"/>
                          <a:ea typeface="Calibri"/>
                          <a:cs typeface="Mangal"/>
                        </a:rPr>
                        <a:t> Width and  height of figure size in inches</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1050">
                <a:tc>
                  <a:txBody>
                    <a:bodyPr/>
                    <a:lstStyle/>
                    <a:p>
                      <a:pPr>
                        <a:lnSpc>
                          <a:spcPct val="115000"/>
                        </a:lnSpc>
                        <a:spcAft>
                          <a:spcPts val="0"/>
                        </a:spcAft>
                      </a:pPr>
                      <a:r>
                        <a:rPr lang="en-IN" sz="1600" dirty="0">
                          <a:latin typeface="Times New Roman"/>
                          <a:ea typeface="Calibri"/>
                          <a:cs typeface="Mangal"/>
                        </a:rPr>
                        <a:t>Dpi</a:t>
                      </a:r>
                      <a:endParaRPr lang="en-IN" sz="16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a:latin typeface="Times New Roman"/>
                          <a:ea typeface="Calibri"/>
                          <a:cs typeface="Mangal"/>
                        </a:rPr>
                        <a:t>figure.dpi</a:t>
                      </a:r>
                      <a:endParaRPr lang="en-IN" sz="16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a:latin typeface="Times New Roman"/>
                          <a:ea typeface="Calibri"/>
                          <a:cs typeface="Mangal"/>
                        </a:rPr>
                        <a:t> dots per inch (resolution of figure)</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5525">
                <a:tc>
                  <a:txBody>
                    <a:bodyPr/>
                    <a:lstStyle/>
                    <a:p>
                      <a:pPr>
                        <a:lnSpc>
                          <a:spcPct val="115000"/>
                        </a:lnSpc>
                        <a:spcAft>
                          <a:spcPts val="0"/>
                        </a:spcAft>
                      </a:pPr>
                      <a:r>
                        <a:rPr lang="en-IN" sz="1600">
                          <a:latin typeface="Times New Roman"/>
                          <a:ea typeface="Calibri"/>
                          <a:cs typeface="Mangal"/>
                        </a:rPr>
                        <a:t>facecolor</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err="1">
                          <a:latin typeface="Times New Roman"/>
                          <a:ea typeface="Calibri"/>
                          <a:cs typeface="Mangal"/>
                        </a:rPr>
                        <a:t>figure.facecolor</a:t>
                      </a:r>
                      <a:endParaRPr lang="en-IN" sz="16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a:latin typeface="Times New Roman"/>
                          <a:ea typeface="Calibri"/>
                          <a:cs typeface="Mangal"/>
                        </a:rPr>
                        <a:t> Background color of interface</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1050">
                <a:tc>
                  <a:txBody>
                    <a:bodyPr/>
                    <a:lstStyle/>
                    <a:p>
                      <a:pPr>
                        <a:lnSpc>
                          <a:spcPct val="115000"/>
                        </a:lnSpc>
                        <a:spcAft>
                          <a:spcPts val="0"/>
                        </a:spcAft>
                      </a:pPr>
                      <a:r>
                        <a:rPr lang="en-IN" sz="1600">
                          <a:latin typeface="Times New Roman"/>
                          <a:ea typeface="Calibri"/>
                          <a:cs typeface="Mangal"/>
                        </a:rPr>
                        <a:t>edgecolor</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err="1">
                          <a:latin typeface="Times New Roman"/>
                          <a:ea typeface="Calibri"/>
                          <a:cs typeface="Mangal"/>
                        </a:rPr>
                        <a:t>figure.edgecolor</a:t>
                      </a:r>
                      <a:endParaRPr lang="en-IN" sz="16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err="1">
                          <a:latin typeface="Times New Roman"/>
                          <a:ea typeface="Calibri"/>
                          <a:cs typeface="Mangal"/>
                        </a:rPr>
                        <a:t>color</a:t>
                      </a:r>
                      <a:r>
                        <a:rPr lang="en-IN" sz="1600" dirty="0">
                          <a:latin typeface="Times New Roman"/>
                          <a:ea typeface="Calibri"/>
                          <a:cs typeface="Mangal"/>
                        </a:rPr>
                        <a:t> of edge around the drawing background</a:t>
                      </a:r>
                      <a:endParaRPr lang="en-IN" sz="16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5525">
                <a:tc>
                  <a:txBody>
                    <a:bodyPr/>
                    <a:lstStyle/>
                    <a:p>
                      <a:pPr>
                        <a:lnSpc>
                          <a:spcPct val="115000"/>
                        </a:lnSpc>
                        <a:spcAft>
                          <a:spcPts val="0"/>
                        </a:spcAft>
                      </a:pPr>
                      <a:r>
                        <a:rPr lang="en-IN" sz="1600">
                          <a:latin typeface="Times New Roman"/>
                          <a:ea typeface="Calibri"/>
                          <a:cs typeface="Mangal"/>
                        </a:rPr>
                        <a:t>frameon</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a:latin typeface="Times New Roman"/>
                          <a:ea typeface="Calibri"/>
                          <a:cs typeface="Mangal"/>
                        </a:rPr>
                        <a:t>True</a:t>
                      </a:r>
                      <a:endParaRPr lang="en-IN" sz="16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a:latin typeface="Times New Roman"/>
                          <a:ea typeface="Calibri"/>
                          <a:cs typeface="Mangal"/>
                        </a:rPr>
                        <a:t>draw figure frame or not</a:t>
                      </a:r>
                      <a:endParaRPr lang="en-IN" sz="16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Subplots</a:t>
            </a:r>
            <a:endParaRPr lang="en-IN" dirty="0"/>
          </a:p>
        </p:txBody>
      </p:sp>
      <p:sp>
        <p:nvSpPr>
          <p:cNvPr id="3" name="Content Placeholder 2"/>
          <p:cNvSpPr>
            <a:spLocks noGrp="1"/>
          </p:cNvSpPr>
          <p:nvPr>
            <p:ph idx="1"/>
          </p:nvPr>
        </p:nvSpPr>
        <p:spPr/>
        <p:txBody>
          <a:bodyPr>
            <a:normAutofit fontScale="70000" lnSpcReduction="20000"/>
          </a:bodyPr>
          <a:lstStyle/>
          <a:p>
            <a:pPr fontAlgn="base"/>
            <a:r>
              <a:rPr lang="en-IN" dirty="0" smtClean="0"/>
              <a:t>With subplot you can arrange plots in a regular grid. You need to specify the number of rows and columns and the number of the plot. </a:t>
            </a:r>
          </a:p>
          <a:p>
            <a:pPr>
              <a:buNone/>
            </a:pPr>
            <a:r>
              <a:rPr lang="en-IN" dirty="0" smtClean="0"/>
              <a:t>Example: Program that will draw two subplots in a figure and write heading in centre of plot.</a:t>
            </a:r>
          </a:p>
          <a:p>
            <a:pPr>
              <a:buNone/>
            </a:pPr>
            <a:r>
              <a:rPr lang="en-IN" dirty="0" smtClean="0"/>
              <a:t>from </a:t>
            </a:r>
            <a:r>
              <a:rPr lang="en-IN" dirty="0" err="1" smtClean="0"/>
              <a:t>pylab</a:t>
            </a:r>
            <a:r>
              <a:rPr lang="en-IN" dirty="0" smtClean="0"/>
              <a:t> import *</a:t>
            </a:r>
          </a:p>
          <a:p>
            <a:pPr>
              <a:buNone/>
            </a:pPr>
            <a:r>
              <a:rPr lang="en-IN" dirty="0" smtClean="0"/>
              <a:t>subplot(2,1,1)</a:t>
            </a:r>
          </a:p>
          <a:p>
            <a:pPr>
              <a:buNone/>
            </a:pPr>
            <a:r>
              <a:rPr lang="en-IN" dirty="0" err="1" smtClean="0"/>
              <a:t>xticks</a:t>
            </a:r>
            <a:r>
              <a:rPr lang="en-IN" dirty="0" smtClean="0"/>
              <a:t>([]), </a:t>
            </a:r>
            <a:r>
              <a:rPr lang="en-IN" dirty="0" err="1" smtClean="0"/>
              <a:t>yticks</a:t>
            </a:r>
            <a:r>
              <a:rPr lang="en-IN" dirty="0" smtClean="0"/>
              <a:t>([])                       #No x and y </a:t>
            </a:r>
          </a:p>
          <a:p>
            <a:pPr>
              <a:buNone/>
            </a:pPr>
            <a:r>
              <a:rPr lang="en-IN" dirty="0" err="1" smtClean="0"/>
              <a:t>tickstext</a:t>
            </a:r>
            <a:r>
              <a:rPr lang="en-IN" dirty="0" smtClean="0"/>
              <a:t>(0.5,0.5, 'subplot(2,1,1)',ha='</a:t>
            </a:r>
            <a:r>
              <a:rPr lang="en-IN" dirty="0" err="1" smtClean="0"/>
              <a:t>center',va</a:t>
            </a:r>
            <a:r>
              <a:rPr lang="en-IN" dirty="0" smtClean="0"/>
              <a:t>='</a:t>
            </a:r>
            <a:r>
              <a:rPr lang="en-IN" dirty="0" err="1" smtClean="0"/>
              <a:t>center',size</a:t>
            </a:r>
            <a:r>
              <a:rPr lang="en-IN" dirty="0" smtClean="0"/>
              <a:t>=24,alpha=.5)  </a:t>
            </a:r>
          </a:p>
          <a:p>
            <a:pPr>
              <a:buNone/>
            </a:pPr>
            <a:r>
              <a:rPr lang="en-IN" dirty="0" smtClean="0"/>
              <a:t>subplot(2,1,2)</a:t>
            </a:r>
          </a:p>
          <a:p>
            <a:pPr>
              <a:buNone/>
            </a:pPr>
            <a:r>
              <a:rPr lang="en-IN" dirty="0" err="1" smtClean="0"/>
              <a:t>xticks</a:t>
            </a:r>
            <a:r>
              <a:rPr lang="en-IN" dirty="0" smtClean="0"/>
              <a:t>([]), </a:t>
            </a:r>
            <a:r>
              <a:rPr lang="en-IN" dirty="0" err="1" smtClean="0"/>
              <a:t>yticks</a:t>
            </a:r>
            <a:r>
              <a:rPr lang="en-IN" dirty="0" smtClean="0"/>
              <a:t>([])</a:t>
            </a:r>
          </a:p>
          <a:p>
            <a:pPr>
              <a:buNone/>
            </a:pPr>
            <a:r>
              <a:rPr lang="en-IN" dirty="0" smtClean="0"/>
              <a:t>text(0.5,0.5, 'subplot(2,1,2)',ha='</a:t>
            </a:r>
            <a:r>
              <a:rPr lang="en-IN" dirty="0" err="1" smtClean="0"/>
              <a:t>center',va</a:t>
            </a:r>
            <a:r>
              <a:rPr lang="en-IN" dirty="0" smtClean="0"/>
              <a:t>='</a:t>
            </a:r>
            <a:r>
              <a:rPr lang="en-IN" dirty="0" err="1" smtClean="0"/>
              <a:t>center',size</a:t>
            </a:r>
            <a:r>
              <a:rPr lang="en-IN" dirty="0" smtClean="0"/>
              <a:t>=24,alpha=.5)show()</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ures/subplot-horizontal.png"/>
          <p:cNvPicPr>
            <a:picLocks noChangeAspect="1" noChangeArrowheads="1"/>
          </p:cNvPicPr>
          <p:nvPr/>
        </p:nvPicPr>
        <p:blipFill>
          <a:blip r:embed="rId2" cstate="print"/>
          <a:srcRect/>
          <a:stretch>
            <a:fillRect/>
          </a:stretch>
        </p:blipFill>
        <p:spPr bwMode="auto">
          <a:xfrm>
            <a:off x="1115616" y="908720"/>
            <a:ext cx="5544616" cy="3456384"/>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Axes</a:t>
            </a:r>
            <a:endParaRPr lang="en-IN" dirty="0"/>
          </a:p>
        </p:txBody>
      </p:sp>
      <p:sp>
        <p:nvSpPr>
          <p:cNvPr id="3" name="Content Placeholder 2"/>
          <p:cNvSpPr>
            <a:spLocks noGrp="1"/>
          </p:cNvSpPr>
          <p:nvPr>
            <p:ph idx="1"/>
          </p:nvPr>
        </p:nvSpPr>
        <p:spPr/>
        <p:txBody>
          <a:bodyPr/>
          <a:lstStyle/>
          <a:p>
            <a:pPr>
              <a:buNone/>
            </a:pPr>
            <a:r>
              <a:rPr lang="en-IN" dirty="0" smtClean="0"/>
              <a:t>Axes are similar to subplots but allow placement of plots at any location in the figure. So if  a smaller plot is to put inside a bigger one, we can do so this with axes.</a:t>
            </a:r>
          </a:p>
          <a:p>
            <a:pPr>
              <a:buNone/>
            </a:pP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361459"/>
          </a:xfrm>
        </p:spPr>
        <p:txBody>
          <a:bodyPr>
            <a:normAutofit fontScale="92500" lnSpcReduction="20000"/>
          </a:bodyPr>
          <a:lstStyle/>
          <a:p>
            <a:pPr>
              <a:buNone/>
            </a:pPr>
            <a:r>
              <a:rPr lang="en-IN" dirty="0" smtClean="0"/>
              <a:t>from </a:t>
            </a:r>
            <a:r>
              <a:rPr lang="en-IN" dirty="0" err="1" smtClean="0"/>
              <a:t>pylab</a:t>
            </a:r>
            <a:r>
              <a:rPr lang="en-IN" dirty="0" smtClean="0"/>
              <a:t> import * </a:t>
            </a:r>
          </a:p>
          <a:p>
            <a:pPr>
              <a:buNone/>
            </a:pPr>
            <a:r>
              <a:rPr lang="en-IN" dirty="0" smtClean="0"/>
              <a:t>axes([0.1,0.1,.8,.8])</a:t>
            </a:r>
          </a:p>
          <a:p>
            <a:pPr>
              <a:buNone/>
            </a:pPr>
            <a:r>
              <a:rPr lang="en-IN" dirty="0" err="1" smtClean="0"/>
              <a:t>xticks</a:t>
            </a:r>
            <a:r>
              <a:rPr lang="en-IN" dirty="0" smtClean="0"/>
              <a:t>([]), </a:t>
            </a:r>
            <a:r>
              <a:rPr lang="en-IN" dirty="0" err="1" smtClean="0"/>
              <a:t>yticks</a:t>
            </a:r>
            <a:r>
              <a:rPr lang="en-IN" dirty="0" smtClean="0"/>
              <a:t>([])</a:t>
            </a:r>
          </a:p>
          <a:p>
            <a:pPr>
              <a:buNone/>
            </a:pPr>
            <a:r>
              <a:rPr lang="en-IN" dirty="0" smtClean="0"/>
              <a:t>text(0.6,0.6, 'axes([0.1,0.1,.8,.8])',ha='</a:t>
            </a:r>
            <a:r>
              <a:rPr lang="en-IN" dirty="0" err="1" smtClean="0"/>
              <a:t>center',va</a:t>
            </a:r>
            <a:r>
              <a:rPr lang="en-IN" dirty="0" smtClean="0"/>
              <a:t>='</a:t>
            </a:r>
            <a:r>
              <a:rPr lang="en-IN" dirty="0" err="1" smtClean="0"/>
              <a:t>center',size</a:t>
            </a:r>
            <a:r>
              <a:rPr lang="en-IN" dirty="0" smtClean="0"/>
              <a:t>=20,alpha=.5)</a:t>
            </a:r>
          </a:p>
          <a:p>
            <a:pPr>
              <a:buNone/>
            </a:pPr>
            <a:r>
              <a:rPr lang="en-IN" dirty="0" smtClean="0"/>
              <a:t> axes([0.2,0.2,.3,.3])</a:t>
            </a:r>
          </a:p>
          <a:p>
            <a:pPr>
              <a:buNone/>
            </a:pPr>
            <a:r>
              <a:rPr lang="en-IN" dirty="0" err="1" smtClean="0"/>
              <a:t>xticks</a:t>
            </a:r>
            <a:r>
              <a:rPr lang="en-IN" dirty="0" smtClean="0"/>
              <a:t>([]), </a:t>
            </a:r>
            <a:r>
              <a:rPr lang="en-IN" dirty="0" err="1" smtClean="0"/>
              <a:t>yticks</a:t>
            </a:r>
            <a:r>
              <a:rPr lang="en-IN" dirty="0" smtClean="0"/>
              <a:t>([])</a:t>
            </a:r>
          </a:p>
          <a:p>
            <a:pPr>
              <a:buNone/>
            </a:pPr>
            <a:r>
              <a:rPr lang="en-IN" dirty="0" smtClean="0"/>
              <a:t>text(0.5,0.5, 'axes([0.2,0.2,.3,.3])',ha='</a:t>
            </a:r>
            <a:r>
              <a:rPr lang="en-IN" dirty="0" err="1" smtClean="0"/>
              <a:t>center',va</a:t>
            </a:r>
            <a:r>
              <a:rPr lang="en-IN" dirty="0" smtClean="0"/>
              <a:t>='</a:t>
            </a:r>
            <a:r>
              <a:rPr lang="en-IN" dirty="0" err="1" smtClean="0"/>
              <a:t>center',size</a:t>
            </a:r>
            <a:r>
              <a:rPr lang="en-IN" dirty="0" smtClean="0"/>
              <a:t>=16,alpha=.5)</a:t>
            </a:r>
          </a:p>
          <a:p>
            <a:pPr>
              <a:buNone/>
            </a:pPr>
            <a:r>
              <a:rPr lang="en-IN" dirty="0" smtClean="0"/>
              <a:t>show()</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figures/axes.png"/>
          <p:cNvPicPr>
            <a:picLocks noChangeAspect="1" noChangeArrowheads="1"/>
          </p:cNvPicPr>
          <p:nvPr/>
        </p:nvPicPr>
        <p:blipFill>
          <a:blip r:embed="rId2" cstate="print"/>
          <a:srcRect/>
          <a:stretch>
            <a:fillRect/>
          </a:stretch>
        </p:blipFill>
        <p:spPr bwMode="auto">
          <a:xfrm>
            <a:off x="1619671" y="0"/>
            <a:ext cx="6496473" cy="486916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Ticks</a:t>
            </a:r>
            <a:endParaRPr lang="en-IN" dirty="0"/>
          </a:p>
        </p:txBody>
      </p:sp>
      <p:sp>
        <p:nvSpPr>
          <p:cNvPr id="3" name="Content Placeholder 2"/>
          <p:cNvSpPr>
            <a:spLocks noGrp="1"/>
          </p:cNvSpPr>
          <p:nvPr>
            <p:ph idx="1"/>
          </p:nvPr>
        </p:nvSpPr>
        <p:spPr/>
        <p:txBody>
          <a:bodyPr/>
          <a:lstStyle/>
          <a:p>
            <a:pPr>
              <a:buNone/>
            </a:pPr>
            <a:r>
              <a:rPr lang="en-IN" dirty="0" smtClean="0"/>
              <a:t>Ticks are label to show scale on axis. These make plots more  clear to understand. </a:t>
            </a:r>
            <a:r>
              <a:rPr lang="en-IN" dirty="0" err="1" smtClean="0"/>
              <a:t>Matplotlib</a:t>
            </a:r>
            <a:r>
              <a:rPr lang="en-IN" dirty="0" smtClean="0"/>
              <a:t> provides a totally configurable system for ticks. Tick locators are used to specify where ticks should appear and tick formatters to customise  ticks appearance. Major and minor ticks can be located and formatted independently from each other..</a:t>
            </a:r>
          </a:p>
          <a:p>
            <a:pPr>
              <a:buNone/>
            </a:pP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83568" y="764703"/>
          <a:ext cx="8064896" cy="5178878"/>
        </p:xfrm>
        <a:graphic>
          <a:graphicData uri="http://schemas.openxmlformats.org/drawingml/2006/table">
            <a:tbl>
              <a:tblPr/>
              <a:tblGrid>
                <a:gridCol w="1344150"/>
                <a:gridCol w="6720746"/>
              </a:tblGrid>
              <a:tr h="506869">
                <a:tc>
                  <a:txBody>
                    <a:bodyPr/>
                    <a:lstStyle/>
                    <a:p>
                      <a:pPr>
                        <a:lnSpc>
                          <a:spcPct val="115000"/>
                        </a:lnSpc>
                        <a:spcAft>
                          <a:spcPts val="0"/>
                        </a:spcAft>
                      </a:pPr>
                      <a:r>
                        <a:rPr lang="en-IN" sz="1200" b="1" dirty="0">
                          <a:solidFill>
                            <a:srgbClr val="333333"/>
                          </a:solidFill>
                          <a:latin typeface="Times New Roman"/>
                          <a:ea typeface="Calibri"/>
                          <a:cs typeface="Mangal"/>
                        </a:rPr>
                        <a:t>Class</a:t>
                      </a:r>
                      <a:endParaRPr lang="en-IN" sz="11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200" b="1">
                          <a:solidFill>
                            <a:srgbClr val="333333"/>
                          </a:solidFill>
                          <a:latin typeface="Times New Roman"/>
                          <a:ea typeface="Calibri"/>
                          <a:cs typeface="Mangal"/>
                        </a:rPr>
                        <a:t>Description</a:t>
                      </a:r>
                      <a:endParaRPr lang="en-IN" sz="11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6869">
                <a:tc>
                  <a:txBody>
                    <a:bodyPr/>
                    <a:lstStyle/>
                    <a:p>
                      <a:pPr>
                        <a:lnSpc>
                          <a:spcPct val="115000"/>
                        </a:lnSpc>
                        <a:spcAft>
                          <a:spcPts val="0"/>
                        </a:spcAft>
                      </a:pPr>
                      <a:r>
                        <a:rPr lang="en-IN" sz="1200">
                          <a:solidFill>
                            <a:srgbClr val="333333"/>
                          </a:solidFill>
                          <a:latin typeface="Times New Roman"/>
                          <a:ea typeface="Calibri"/>
                          <a:cs typeface="Mangal"/>
                        </a:rPr>
                        <a:t>NullLocator</a:t>
                      </a:r>
                      <a:endParaRPr lang="en-IN" sz="11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a:spcAft>
                          <a:spcPts val="0"/>
                        </a:spcAft>
                      </a:pPr>
                      <a:r>
                        <a:rPr lang="en-IN" sz="1200">
                          <a:solidFill>
                            <a:srgbClr val="333333"/>
                          </a:solidFill>
                          <a:latin typeface="Times New Roman"/>
                          <a:ea typeface="Times New Roman"/>
                          <a:cs typeface="Mangal"/>
                        </a:rPr>
                        <a:t>No ticks.</a:t>
                      </a:r>
                      <a:endParaRPr lang="en-IN" sz="12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1511">
                <a:tc>
                  <a:txBody>
                    <a:bodyPr/>
                    <a:lstStyle/>
                    <a:p>
                      <a:pPr>
                        <a:lnSpc>
                          <a:spcPct val="115000"/>
                        </a:lnSpc>
                        <a:spcAft>
                          <a:spcPts val="0"/>
                        </a:spcAft>
                      </a:pPr>
                      <a:r>
                        <a:rPr lang="en-IN" sz="1200">
                          <a:solidFill>
                            <a:srgbClr val="333333"/>
                          </a:solidFill>
                          <a:latin typeface="Times New Roman"/>
                          <a:ea typeface="Calibri"/>
                          <a:cs typeface="Mangal"/>
                        </a:rPr>
                        <a:t>IndexLocator</a:t>
                      </a:r>
                      <a:endParaRPr lang="en-IN" sz="11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a:spcAft>
                          <a:spcPts val="0"/>
                        </a:spcAft>
                      </a:pPr>
                      <a:r>
                        <a:rPr lang="en-IN" sz="1200" dirty="0">
                          <a:solidFill>
                            <a:srgbClr val="333333"/>
                          </a:solidFill>
                          <a:latin typeface="Times New Roman"/>
                          <a:ea typeface="Times New Roman"/>
                          <a:cs typeface="Mangal"/>
                        </a:rPr>
                        <a:t>Place a tick on every multiple of some base number of points plotted.</a:t>
                      </a:r>
                      <a:endParaRPr lang="en-IN" sz="1200" dirty="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6869">
                <a:tc>
                  <a:txBody>
                    <a:bodyPr/>
                    <a:lstStyle/>
                    <a:p>
                      <a:pPr>
                        <a:lnSpc>
                          <a:spcPct val="115000"/>
                        </a:lnSpc>
                        <a:spcAft>
                          <a:spcPts val="0"/>
                        </a:spcAft>
                      </a:pPr>
                      <a:r>
                        <a:rPr lang="en-IN" sz="1200">
                          <a:solidFill>
                            <a:srgbClr val="333333"/>
                          </a:solidFill>
                          <a:latin typeface="Times New Roman"/>
                          <a:ea typeface="Calibri"/>
                          <a:cs typeface="Mangal"/>
                        </a:rPr>
                        <a:t>FixedLocator</a:t>
                      </a:r>
                      <a:endParaRPr lang="en-IN" sz="11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a:spcAft>
                          <a:spcPts val="0"/>
                        </a:spcAft>
                      </a:pPr>
                      <a:r>
                        <a:rPr lang="en-IN" sz="1200">
                          <a:solidFill>
                            <a:srgbClr val="333333"/>
                          </a:solidFill>
                          <a:latin typeface="Times New Roman"/>
                          <a:ea typeface="Times New Roman"/>
                          <a:cs typeface="Mangal"/>
                        </a:rPr>
                        <a:t>Tick locations are fixed.</a:t>
                      </a:r>
                      <a:endParaRPr lang="en-IN" sz="12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6869">
                <a:tc>
                  <a:txBody>
                    <a:bodyPr/>
                    <a:lstStyle/>
                    <a:p>
                      <a:pPr>
                        <a:lnSpc>
                          <a:spcPct val="115000"/>
                        </a:lnSpc>
                        <a:spcAft>
                          <a:spcPts val="0"/>
                        </a:spcAft>
                      </a:pPr>
                      <a:r>
                        <a:rPr lang="en-IN" sz="1200">
                          <a:solidFill>
                            <a:srgbClr val="333333"/>
                          </a:solidFill>
                          <a:latin typeface="Times New Roman"/>
                          <a:ea typeface="Calibri"/>
                          <a:cs typeface="Mangal"/>
                        </a:rPr>
                        <a:t>LinearLocator</a:t>
                      </a:r>
                      <a:endParaRPr lang="en-IN" sz="11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a:spcAft>
                          <a:spcPts val="0"/>
                        </a:spcAft>
                      </a:pPr>
                      <a:r>
                        <a:rPr lang="en-IN" sz="1200">
                          <a:solidFill>
                            <a:srgbClr val="333333"/>
                          </a:solidFill>
                          <a:latin typeface="Times New Roman"/>
                          <a:ea typeface="Times New Roman"/>
                          <a:cs typeface="Mangal"/>
                        </a:rPr>
                        <a:t>Determine the tick locations.</a:t>
                      </a:r>
                      <a:endParaRPr lang="en-IN" sz="12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1511">
                <a:tc>
                  <a:txBody>
                    <a:bodyPr/>
                    <a:lstStyle/>
                    <a:p>
                      <a:pPr>
                        <a:lnSpc>
                          <a:spcPct val="115000"/>
                        </a:lnSpc>
                        <a:spcAft>
                          <a:spcPts val="0"/>
                        </a:spcAft>
                      </a:pPr>
                      <a:r>
                        <a:rPr lang="en-IN" sz="1200">
                          <a:solidFill>
                            <a:srgbClr val="333333"/>
                          </a:solidFill>
                          <a:latin typeface="Times New Roman"/>
                          <a:ea typeface="Calibri"/>
                          <a:cs typeface="Mangal"/>
                        </a:rPr>
                        <a:t>MultipleLocator</a:t>
                      </a:r>
                      <a:endParaRPr lang="en-IN" sz="11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a:spcAft>
                          <a:spcPts val="0"/>
                        </a:spcAft>
                      </a:pPr>
                      <a:r>
                        <a:rPr lang="en-IN" sz="1200">
                          <a:solidFill>
                            <a:srgbClr val="333333"/>
                          </a:solidFill>
                          <a:latin typeface="Times New Roman"/>
                          <a:ea typeface="Times New Roman"/>
                          <a:cs typeface="Mangal"/>
                        </a:rPr>
                        <a:t>Set a tick on every integer that is multiple of some base.</a:t>
                      </a:r>
                      <a:endParaRPr lang="en-IN" sz="12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81511">
                <a:tc>
                  <a:txBody>
                    <a:bodyPr/>
                    <a:lstStyle/>
                    <a:p>
                      <a:pPr>
                        <a:lnSpc>
                          <a:spcPct val="115000"/>
                        </a:lnSpc>
                        <a:spcAft>
                          <a:spcPts val="0"/>
                        </a:spcAft>
                      </a:pPr>
                      <a:r>
                        <a:rPr lang="en-IN" sz="1200">
                          <a:solidFill>
                            <a:srgbClr val="333333"/>
                          </a:solidFill>
                          <a:latin typeface="Times New Roman"/>
                          <a:ea typeface="Calibri"/>
                          <a:cs typeface="Mangal"/>
                        </a:rPr>
                        <a:t>AutoLocator</a:t>
                      </a:r>
                      <a:endParaRPr lang="en-IN" sz="11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a:spcAft>
                          <a:spcPts val="0"/>
                        </a:spcAft>
                      </a:pPr>
                      <a:r>
                        <a:rPr lang="en-IN" sz="1200">
                          <a:solidFill>
                            <a:srgbClr val="333333"/>
                          </a:solidFill>
                          <a:latin typeface="Times New Roman"/>
                          <a:ea typeface="Times New Roman"/>
                          <a:cs typeface="Mangal"/>
                        </a:rPr>
                        <a:t>Select no more than n intervals at nice locations.</a:t>
                      </a:r>
                      <a:endParaRPr lang="en-IN" sz="120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6869">
                <a:tc>
                  <a:txBody>
                    <a:bodyPr/>
                    <a:lstStyle/>
                    <a:p>
                      <a:pPr>
                        <a:lnSpc>
                          <a:spcPct val="115000"/>
                        </a:lnSpc>
                        <a:spcAft>
                          <a:spcPts val="0"/>
                        </a:spcAft>
                      </a:pPr>
                      <a:r>
                        <a:rPr lang="en-IN" sz="1200">
                          <a:solidFill>
                            <a:srgbClr val="333333"/>
                          </a:solidFill>
                          <a:latin typeface="Times New Roman"/>
                          <a:ea typeface="Calibri"/>
                          <a:cs typeface="Mangal"/>
                        </a:rPr>
                        <a:t>LogLocator</a:t>
                      </a:r>
                      <a:endParaRPr lang="en-IN" sz="11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base">
                        <a:spcAft>
                          <a:spcPts val="0"/>
                        </a:spcAft>
                      </a:pPr>
                      <a:r>
                        <a:rPr lang="en-IN" sz="1200" dirty="0">
                          <a:solidFill>
                            <a:srgbClr val="333333"/>
                          </a:solidFill>
                          <a:latin typeface="Times New Roman"/>
                          <a:ea typeface="Times New Roman"/>
                          <a:cs typeface="Mangal"/>
                        </a:rPr>
                        <a:t>Determine the tick locations for log axes.</a:t>
                      </a:r>
                      <a:endParaRPr lang="en-IN" sz="1200" dirty="0">
                        <a:latin typeface="Times New Roman"/>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40967" name="Picture 7" descr="figures/ticks-NullLocator.png"/>
          <p:cNvPicPr>
            <a:picLocks noChangeAspect="1" noChangeArrowheads="1"/>
          </p:cNvPicPr>
          <p:nvPr/>
        </p:nvPicPr>
        <p:blipFill>
          <a:blip r:embed="rId2" r:link="rId3" cstate="print"/>
          <a:srcRect/>
          <a:stretch>
            <a:fillRect/>
          </a:stretch>
        </p:blipFill>
        <p:spPr bwMode="auto">
          <a:xfrm>
            <a:off x="2195736" y="1412776"/>
            <a:ext cx="4876800" cy="304800"/>
          </a:xfrm>
          <a:prstGeom prst="rect">
            <a:avLst/>
          </a:prstGeom>
          <a:noFill/>
        </p:spPr>
      </p:pic>
      <p:pic>
        <p:nvPicPr>
          <p:cNvPr id="40966" name="Picture 6" descr="figures/ticks-IndexLocator.png"/>
          <p:cNvPicPr>
            <a:picLocks noChangeAspect="1" noChangeArrowheads="1"/>
          </p:cNvPicPr>
          <p:nvPr/>
        </p:nvPicPr>
        <p:blipFill>
          <a:blip r:embed="rId4" r:link="rId5" cstate="print"/>
          <a:srcRect/>
          <a:stretch>
            <a:fillRect/>
          </a:stretch>
        </p:blipFill>
        <p:spPr bwMode="auto">
          <a:xfrm>
            <a:off x="2051720" y="2060848"/>
            <a:ext cx="4876800" cy="304800"/>
          </a:xfrm>
          <a:prstGeom prst="rect">
            <a:avLst/>
          </a:prstGeom>
          <a:noFill/>
        </p:spPr>
      </p:pic>
      <p:pic>
        <p:nvPicPr>
          <p:cNvPr id="40965" name="Picture 5" descr="figures/ticks-FixedLocator.png"/>
          <p:cNvPicPr>
            <a:picLocks noChangeAspect="1" noChangeArrowheads="1"/>
          </p:cNvPicPr>
          <p:nvPr/>
        </p:nvPicPr>
        <p:blipFill>
          <a:blip r:embed="rId6" r:link="rId7" cstate="print"/>
          <a:srcRect/>
          <a:stretch>
            <a:fillRect/>
          </a:stretch>
        </p:blipFill>
        <p:spPr bwMode="auto">
          <a:xfrm>
            <a:off x="2051720" y="2780928"/>
            <a:ext cx="4876800" cy="304800"/>
          </a:xfrm>
          <a:prstGeom prst="rect">
            <a:avLst/>
          </a:prstGeom>
          <a:noFill/>
        </p:spPr>
      </p:pic>
      <p:pic>
        <p:nvPicPr>
          <p:cNvPr id="40964" name="Picture 4" descr="figures/ticks-LinearLocator.png"/>
          <p:cNvPicPr>
            <a:picLocks noChangeAspect="1" noChangeArrowheads="1"/>
          </p:cNvPicPr>
          <p:nvPr/>
        </p:nvPicPr>
        <p:blipFill>
          <a:blip r:embed="rId8" r:link="rId9" cstate="print"/>
          <a:srcRect/>
          <a:stretch>
            <a:fillRect/>
          </a:stretch>
        </p:blipFill>
        <p:spPr bwMode="auto">
          <a:xfrm>
            <a:off x="2051720" y="3284984"/>
            <a:ext cx="4876800" cy="304800"/>
          </a:xfrm>
          <a:prstGeom prst="rect">
            <a:avLst/>
          </a:prstGeom>
          <a:noFill/>
        </p:spPr>
      </p:pic>
      <p:pic>
        <p:nvPicPr>
          <p:cNvPr id="40963" name="Picture 3" descr="figures/ticks-MultipleLocator.png"/>
          <p:cNvPicPr>
            <a:picLocks noChangeAspect="1" noChangeArrowheads="1"/>
          </p:cNvPicPr>
          <p:nvPr/>
        </p:nvPicPr>
        <p:blipFill>
          <a:blip r:embed="rId10" r:link="rId11" cstate="print"/>
          <a:srcRect/>
          <a:stretch>
            <a:fillRect/>
          </a:stretch>
        </p:blipFill>
        <p:spPr bwMode="auto">
          <a:xfrm>
            <a:off x="1979712" y="3933056"/>
            <a:ext cx="4876800" cy="304800"/>
          </a:xfrm>
          <a:prstGeom prst="rect">
            <a:avLst/>
          </a:prstGeom>
          <a:noFill/>
        </p:spPr>
      </p:pic>
      <p:pic>
        <p:nvPicPr>
          <p:cNvPr id="40962" name="Picture 2" descr="figures/ticks-AutoLocator.png"/>
          <p:cNvPicPr>
            <a:picLocks noChangeAspect="1" noChangeArrowheads="1"/>
          </p:cNvPicPr>
          <p:nvPr/>
        </p:nvPicPr>
        <p:blipFill>
          <a:blip r:embed="rId12" r:link="rId13" cstate="print"/>
          <a:srcRect/>
          <a:stretch>
            <a:fillRect/>
          </a:stretch>
        </p:blipFill>
        <p:spPr bwMode="auto">
          <a:xfrm>
            <a:off x="2123728" y="4869160"/>
            <a:ext cx="4876800" cy="304800"/>
          </a:xfrm>
          <a:prstGeom prst="rect">
            <a:avLst/>
          </a:prstGeom>
          <a:noFill/>
        </p:spPr>
      </p:pic>
      <p:pic>
        <p:nvPicPr>
          <p:cNvPr id="40961" name="Picture 1" descr="figures/ticks-LogLocator.png"/>
          <p:cNvPicPr>
            <a:picLocks noChangeAspect="1" noChangeArrowheads="1"/>
          </p:cNvPicPr>
          <p:nvPr/>
        </p:nvPicPr>
        <p:blipFill>
          <a:blip r:embed="rId14" r:link="rId15" cstate="print"/>
          <a:srcRect/>
          <a:stretch>
            <a:fillRect/>
          </a:stretch>
        </p:blipFill>
        <p:spPr bwMode="auto">
          <a:xfrm>
            <a:off x="2483768" y="5589240"/>
            <a:ext cx="4876800" cy="3048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978</Words>
  <Application>Microsoft Office PowerPoint</Application>
  <PresentationFormat>On-screen Show (4:3)</PresentationFormat>
  <Paragraphs>144</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Matplotlib</vt:lpstr>
      <vt:lpstr>Installing Matplotlib on Linux </vt:lpstr>
      <vt:lpstr>Installing matplotlib on Windows </vt:lpstr>
      <vt:lpstr>Introduction to Matplotlib</vt:lpstr>
      <vt:lpstr>Slide 5</vt:lpstr>
      <vt:lpstr>Simple plot</vt:lpstr>
      <vt:lpstr>Slide 7</vt:lpstr>
      <vt:lpstr>Slide 8</vt:lpstr>
      <vt:lpstr>Changing Colors and Line Width </vt:lpstr>
      <vt:lpstr>Setting Limits</vt:lpstr>
      <vt:lpstr>Setting Ticks</vt:lpstr>
      <vt:lpstr>Slide 12</vt:lpstr>
      <vt:lpstr>Setting Tick Labels</vt:lpstr>
      <vt:lpstr>Slide 14</vt:lpstr>
      <vt:lpstr>Moving Spines</vt:lpstr>
      <vt:lpstr>Slide 16</vt:lpstr>
      <vt:lpstr>Adding a legend</vt:lpstr>
      <vt:lpstr>Slide 18</vt:lpstr>
      <vt:lpstr>Slide 19</vt:lpstr>
      <vt:lpstr>Slide 20</vt:lpstr>
      <vt:lpstr>Figures, Subplots, Axes and Ticks </vt:lpstr>
      <vt:lpstr>Figure</vt:lpstr>
      <vt:lpstr>Subplots</vt:lpstr>
      <vt:lpstr>Slide 24</vt:lpstr>
      <vt:lpstr>Axes</vt:lpstr>
      <vt:lpstr>Slide 26</vt:lpstr>
      <vt:lpstr>Slide 27</vt:lpstr>
      <vt:lpstr>Ticks</vt:lpstr>
      <vt:lpstr>Slide 29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HP</cp:lastModifiedBy>
  <cp:revision>28</cp:revision>
  <dcterms:created xsi:type="dcterms:W3CDTF">2017-12-28T10:52:58Z</dcterms:created>
  <dcterms:modified xsi:type="dcterms:W3CDTF">2017-12-30T04:26:09Z</dcterms:modified>
</cp:coreProperties>
</file>