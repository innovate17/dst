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8" r:id="rId3"/>
    <p:sldId id="299" r:id="rId4"/>
    <p:sldId id="300" r:id="rId5"/>
    <p:sldId id="301" r:id="rId6"/>
    <p:sldId id="302" r:id="rId7"/>
    <p:sldId id="257" r:id="rId8"/>
    <p:sldId id="258" r:id="rId9"/>
    <p:sldId id="259" r:id="rId10"/>
    <p:sldId id="260" r:id="rId11"/>
    <p:sldId id="261" r:id="rId12"/>
    <p:sldId id="262" r:id="rId13"/>
    <p:sldId id="263" r:id="rId14"/>
    <p:sldId id="264" r:id="rId15"/>
    <p:sldId id="281" r:id="rId16"/>
    <p:sldId id="290" r:id="rId17"/>
    <p:sldId id="288" r:id="rId18"/>
    <p:sldId id="287" r:id="rId19"/>
    <p:sldId id="286" r:id="rId20"/>
    <p:sldId id="285" r:id="rId21"/>
    <p:sldId id="284" r:id="rId22"/>
    <p:sldId id="283" r:id="rId23"/>
    <p:sldId id="282" r:id="rId24"/>
    <p:sldId id="296" r:id="rId25"/>
    <p:sldId id="295" r:id="rId26"/>
    <p:sldId id="294" r:id="rId27"/>
    <p:sldId id="293" r:id="rId28"/>
    <p:sldId id="292" r:id="rId29"/>
    <p:sldId id="269" r:id="rId30"/>
    <p:sldId id="270" r:id="rId31"/>
    <p:sldId id="271" r:id="rId32"/>
    <p:sldId id="272" r:id="rId33"/>
    <p:sldId id="273" r:id="rId34"/>
    <p:sldId id="275" r:id="rId35"/>
    <p:sldId id="276" r:id="rId36"/>
    <p:sldId id="277" r:id="rId37"/>
    <p:sldId id="278" r:id="rId38"/>
    <p:sldId id="279" r:id="rId39"/>
    <p:sldId id="280" r:id="rId40"/>
    <p:sldId id="297"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00" autoAdjust="0"/>
    <p:restoredTop sz="94660"/>
  </p:normalViewPr>
  <p:slideViewPr>
    <p:cSldViewPr snapToGrid="0">
      <p:cViewPr>
        <p:scale>
          <a:sx n="70" d="100"/>
          <a:sy n="70" d="100"/>
        </p:scale>
        <p:origin x="-732" y="-16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06B927D-4166-4F9E-B1CE-31703E3FFDDD}" type="datetimeFigureOut">
              <a:rPr lang="en-US" smtClean="0"/>
              <a:pPr/>
              <a:t>12/23/2017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BAAFF0-28CF-45AF-8D79-E423CB9828B9}" type="slidenum">
              <a:rPr lang="en-US" smtClean="0"/>
              <a:pPr/>
              <a:t>‹#›</a:t>
            </a:fld>
            <a:endParaRPr lang="en-US"/>
          </a:p>
        </p:txBody>
      </p:sp>
    </p:spTree>
    <p:extLst>
      <p:ext uri="{BB962C8B-B14F-4D97-AF65-F5344CB8AC3E}">
        <p14:creationId xmlns:p14="http://schemas.microsoft.com/office/powerpoint/2010/main" xmlns="" val="21706918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06B927D-4166-4F9E-B1CE-31703E3FFDDD}" type="datetimeFigureOut">
              <a:rPr lang="en-US" smtClean="0"/>
              <a:pPr/>
              <a:t>12/23/2017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BAAFF0-28CF-45AF-8D79-E423CB9828B9}" type="slidenum">
              <a:rPr lang="en-US" smtClean="0"/>
              <a:pPr/>
              <a:t>‹#›</a:t>
            </a:fld>
            <a:endParaRPr lang="en-US"/>
          </a:p>
        </p:txBody>
      </p:sp>
    </p:spTree>
    <p:extLst>
      <p:ext uri="{BB962C8B-B14F-4D97-AF65-F5344CB8AC3E}">
        <p14:creationId xmlns:p14="http://schemas.microsoft.com/office/powerpoint/2010/main" xmlns="" val="1328552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06B927D-4166-4F9E-B1CE-31703E3FFDDD}" type="datetimeFigureOut">
              <a:rPr lang="en-US" smtClean="0"/>
              <a:pPr/>
              <a:t>12/23/2017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BAAFF0-28CF-45AF-8D79-E423CB9828B9}" type="slidenum">
              <a:rPr lang="en-US" smtClean="0"/>
              <a:pPr/>
              <a:t>‹#›</a:t>
            </a:fld>
            <a:endParaRPr lang="en-US"/>
          </a:p>
        </p:txBody>
      </p:sp>
    </p:spTree>
    <p:extLst>
      <p:ext uri="{BB962C8B-B14F-4D97-AF65-F5344CB8AC3E}">
        <p14:creationId xmlns:p14="http://schemas.microsoft.com/office/powerpoint/2010/main" xmlns="" val="3649052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06B927D-4166-4F9E-B1CE-31703E3FFDDD}" type="datetimeFigureOut">
              <a:rPr lang="en-US" smtClean="0"/>
              <a:pPr/>
              <a:t>12/23/2017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BAAFF0-28CF-45AF-8D79-E423CB9828B9}" type="slidenum">
              <a:rPr lang="en-US" smtClean="0"/>
              <a:pPr/>
              <a:t>‹#›</a:t>
            </a:fld>
            <a:endParaRPr lang="en-US"/>
          </a:p>
        </p:txBody>
      </p:sp>
    </p:spTree>
    <p:extLst>
      <p:ext uri="{BB962C8B-B14F-4D97-AF65-F5344CB8AC3E}">
        <p14:creationId xmlns:p14="http://schemas.microsoft.com/office/powerpoint/2010/main" xmlns="" val="28588367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06B927D-4166-4F9E-B1CE-31703E3FFDDD}" type="datetimeFigureOut">
              <a:rPr lang="en-US" smtClean="0"/>
              <a:pPr/>
              <a:t>12/23/2017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EBAAFF0-28CF-45AF-8D79-E423CB9828B9}" type="slidenum">
              <a:rPr lang="en-US" smtClean="0"/>
              <a:pPr/>
              <a:t>‹#›</a:t>
            </a:fld>
            <a:endParaRPr lang="en-US"/>
          </a:p>
        </p:txBody>
      </p:sp>
    </p:spTree>
    <p:extLst>
      <p:ext uri="{BB962C8B-B14F-4D97-AF65-F5344CB8AC3E}">
        <p14:creationId xmlns:p14="http://schemas.microsoft.com/office/powerpoint/2010/main" xmlns="" val="2538297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06B927D-4166-4F9E-B1CE-31703E3FFDDD}" type="datetimeFigureOut">
              <a:rPr lang="en-US" smtClean="0"/>
              <a:pPr/>
              <a:t>12/23/2017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EBAAFF0-28CF-45AF-8D79-E423CB9828B9}" type="slidenum">
              <a:rPr lang="en-US" smtClean="0"/>
              <a:pPr/>
              <a:t>‹#›</a:t>
            </a:fld>
            <a:endParaRPr lang="en-US"/>
          </a:p>
        </p:txBody>
      </p:sp>
    </p:spTree>
    <p:extLst>
      <p:ext uri="{BB962C8B-B14F-4D97-AF65-F5344CB8AC3E}">
        <p14:creationId xmlns:p14="http://schemas.microsoft.com/office/powerpoint/2010/main" xmlns="" val="22088389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6B927D-4166-4F9E-B1CE-31703E3FFDDD}" type="datetimeFigureOut">
              <a:rPr lang="en-US" smtClean="0"/>
              <a:pPr/>
              <a:t>12/23/2017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EBAAFF0-28CF-45AF-8D79-E423CB9828B9}" type="slidenum">
              <a:rPr lang="en-US" smtClean="0"/>
              <a:pPr/>
              <a:t>‹#›</a:t>
            </a:fld>
            <a:endParaRPr lang="en-US"/>
          </a:p>
        </p:txBody>
      </p:sp>
    </p:spTree>
    <p:extLst>
      <p:ext uri="{BB962C8B-B14F-4D97-AF65-F5344CB8AC3E}">
        <p14:creationId xmlns:p14="http://schemas.microsoft.com/office/powerpoint/2010/main" xmlns="" val="1733893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06B927D-4166-4F9E-B1CE-31703E3FFDDD}" type="datetimeFigureOut">
              <a:rPr lang="en-US" smtClean="0"/>
              <a:pPr/>
              <a:t>12/23/2017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BAAFF0-28CF-45AF-8D79-E423CB9828B9}" type="slidenum">
              <a:rPr lang="en-US" smtClean="0"/>
              <a:pPr/>
              <a:t>‹#›</a:t>
            </a:fld>
            <a:endParaRPr lang="en-US"/>
          </a:p>
        </p:txBody>
      </p:sp>
    </p:spTree>
    <p:extLst>
      <p:ext uri="{BB962C8B-B14F-4D97-AF65-F5344CB8AC3E}">
        <p14:creationId xmlns:p14="http://schemas.microsoft.com/office/powerpoint/2010/main" xmlns="" val="3239038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06B927D-4166-4F9E-B1CE-31703E3FFDDD}" type="datetimeFigureOut">
              <a:rPr lang="en-US" smtClean="0"/>
              <a:pPr/>
              <a:t>12/23/2017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BAAFF0-28CF-45AF-8D79-E423CB9828B9}" type="slidenum">
              <a:rPr lang="en-US" smtClean="0"/>
              <a:pPr/>
              <a:t>‹#›</a:t>
            </a:fld>
            <a:endParaRPr lang="en-US"/>
          </a:p>
        </p:txBody>
      </p:sp>
    </p:spTree>
    <p:extLst>
      <p:ext uri="{BB962C8B-B14F-4D97-AF65-F5344CB8AC3E}">
        <p14:creationId xmlns:p14="http://schemas.microsoft.com/office/powerpoint/2010/main" xmlns="" val="165001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06B927D-4166-4F9E-B1CE-31703E3FFDDD}" type="datetimeFigureOut">
              <a:rPr lang="en-US" smtClean="0"/>
              <a:pPr/>
              <a:t>12/23/2017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BAAFF0-28CF-45AF-8D79-E423CB9828B9}" type="slidenum">
              <a:rPr lang="en-US" smtClean="0"/>
              <a:pPr/>
              <a:t>‹#›</a:t>
            </a:fld>
            <a:endParaRPr lang="en-US"/>
          </a:p>
        </p:txBody>
      </p:sp>
    </p:spTree>
    <p:extLst>
      <p:ext uri="{BB962C8B-B14F-4D97-AF65-F5344CB8AC3E}">
        <p14:creationId xmlns:p14="http://schemas.microsoft.com/office/powerpoint/2010/main" xmlns="" val="3232397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06B927D-4166-4F9E-B1CE-31703E3FFDDD}" type="datetimeFigureOut">
              <a:rPr lang="en-US" smtClean="0"/>
              <a:pPr/>
              <a:t>12/23/2017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BAAFF0-28CF-45AF-8D79-E423CB9828B9}" type="slidenum">
              <a:rPr lang="en-US" smtClean="0"/>
              <a:pPr/>
              <a:t>‹#›</a:t>
            </a:fld>
            <a:endParaRPr lang="en-US"/>
          </a:p>
        </p:txBody>
      </p:sp>
    </p:spTree>
    <p:extLst>
      <p:ext uri="{BB962C8B-B14F-4D97-AF65-F5344CB8AC3E}">
        <p14:creationId xmlns:p14="http://schemas.microsoft.com/office/powerpoint/2010/main" xmlns="" val="3865942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6B927D-4166-4F9E-B1CE-31703E3FFDDD}" type="datetimeFigureOut">
              <a:rPr lang="en-US" smtClean="0"/>
              <a:pPr/>
              <a:t>12/23/2017</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BAAFF0-28CF-45AF-8D79-E423CB9828B9}" type="slidenum">
              <a:rPr lang="en-US" smtClean="0"/>
              <a:pPr/>
              <a:t>‹#›</a:t>
            </a:fld>
            <a:endParaRPr lang="en-US"/>
          </a:p>
        </p:txBody>
      </p:sp>
    </p:spTree>
    <p:extLst>
      <p:ext uri="{BB962C8B-B14F-4D97-AF65-F5344CB8AC3E}">
        <p14:creationId xmlns:p14="http://schemas.microsoft.com/office/powerpoint/2010/main" xmlns="" val="11125197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 Visualization</a:t>
            </a:r>
            <a:endParaRPr lang="en-US" dirty="0"/>
          </a:p>
        </p:txBody>
      </p:sp>
    </p:spTree>
    <p:extLst>
      <p:ext uri="{BB962C8B-B14F-4D97-AF65-F5344CB8AC3E}">
        <p14:creationId xmlns:p14="http://schemas.microsoft.com/office/powerpoint/2010/main" xmlns="" val="2216586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Bar Graphs</a:t>
            </a:r>
          </a:p>
        </p:txBody>
      </p:sp>
      <p:sp>
        <p:nvSpPr>
          <p:cNvPr id="3" name="Content Placeholder 2"/>
          <p:cNvSpPr>
            <a:spLocks noGrp="1"/>
          </p:cNvSpPr>
          <p:nvPr>
            <p:ph idx="1"/>
          </p:nvPr>
        </p:nvSpPr>
        <p:spPr>
          <a:xfrm>
            <a:off x="838200" y="1326524"/>
            <a:ext cx="10515600" cy="4850439"/>
          </a:xfrm>
        </p:spPr>
        <p:txBody>
          <a:bodyPr>
            <a:normAutofit lnSpcReduction="10000"/>
          </a:bodyPr>
          <a:lstStyle/>
          <a:p>
            <a:r>
              <a:rPr lang="en-US" dirty="0"/>
              <a:t>Bar graphs are perhaps the most commonly used kind of data visualization. </a:t>
            </a:r>
            <a:endParaRPr lang="en-US" dirty="0" smtClean="0"/>
          </a:p>
          <a:p>
            <a:r>
              <a:rPr lang="en-US" dirty="0" smtClean="0"/>
              <a:t>They’re typically </a:t>
            </a:r>
            <a:r>
              <a:rPr lang="en-US" dirty="0"/>
              <a:t>used to display numeric values (on the y-axis), for different categories (on </a:t>
            </a:r>
            <a:r>
              <a:rPr lang="en-US" dirty="0" smtClean="0"/>
              <a:t>the x-axis)</a:t>
            </a:r>
          </a:p>
          <a:p>
            <a:r>
              <a:rPr lang="en-US" dirty="0"/>
              <a:t>You have a data frame where one column represents the </a:t>
            </a:r>
            <a:r>
              <a:rPr lang="en-US" i="1" dirty="0"/>
              <a:t>x </a:t>
            </a:r>
            <a:r>
              <a:rPr lang="en-US" dirty="0"/>
              <a:t>position of each bar, </a:t>
            </a:r>
            <a:r>
              <a:rPr lang="en-US" dirty="0" smtClean="0"/>
              <a:t>and another </a:t>
            </a:r>
            <a:r>
              <a:rPr lang="en-US" dirty="0"/>
              <a:t>column represents the vertical (y) height of each bar</a:t>
            </a:r>
            <a:r>
              <a:rPr lang="en-US" dirty="0" smtClean="0"/>
              <a:t>.</a:t>
            </a:r>
          </a:p>
          <a:p>
            <a:r>
              <a:rPr lang="en-US" dirty="0"/>
              <a:t>Use </a:t>
            </a:r>
            <a:r>
              <a:rPr lang="en-US" dirty="0" err="1"/>
              <a:t>ggplot</a:t>
            </a:r>
            <a:r>
              <a:rPr lang="en-US" dirty="0"/>
              <a:t>() with </a:t>
            </a:r>
            <a:r>
              <a:rPr lang="en-US" dirty="0" err="1"/>
              <a:t>geom_bar</a:t>
            </a:r>
            <a:r>
              <a:rPr lang="en-US" dirty="0"/>
              <a:t>(stat="identity") and specify what variables you </a:t>
            </a:r>
            <a:r>
              <a:rPr lang="en-US" dirty="0" smtClean="0"/>
              <a:t>want on </a:t>
            </a:r>
            <a:r>
              <a:rPr lang="en-US" dirty="0"/>
              <a:t>the x- and </a:t>
            </a:r>
            <a:r>
              <a:rPr lang="en-US" dirty="0" smtClean="0"/>
              <a:t>y-axes</a:t>
            </a:r>
            <a:endParaRPr lang="en-US" dirty="0"/>
          </a:p>
          <a:p>
            <a:pPr marL="457200" lvl="1" indent="0">
              <a:lnSpc>
                <a:spcPct val="150000"/>
              </a:lnSpc>
              <a:buNone/>
            </a:pPr>
            <a:r>
              <a:rPr lang="en-US" dirty="0"/>
              <a:t>library(</a:t>
            </a:r>
            <a:r>
              <a:rPr lang="en-US" dirty="0" err="1"/>
              <a:t>gcookbook</a:t>
            </a:r>
            <a:r>
              <a:rPr lang="en-US" dirty="0"/>
              <a:t>) </a:t>
            </a:r>
            <a:r>
              <a:rPr lang="en-US" i="1" dirty="0"/>
              <a:t># For the data set</a:t>
            </a:r>
          </a:p>
          <a:p>
            <a:pPr marL="457200" lvl="1" indent="0">
              <a:lnSpc>
                <a:spcPct val="150000"/>
              </a:lnSpc>
              <a:buNone/>
            </a:pPr>
            <a:r>
              <a:rPr lang="en-US" dirty="0" err="1"/>
              <a:t>ggplot</a:t>
            </a:r>
            <a:r>
              <a:rPr lang="en-US" dirty="0"/>
              <a:t>(</a:t>
            </a:r>
            <a:r>
              <a:rPr lang="en-US" dirty="0" err="1"/>
              <a:t>pg_mean</a:t>
            </a:r>
            <a:r>
              <a:rPr lang="en-US" dirty="0"/>
              <a:t>, </a:t>
            </a:r>
            <a:r>
              <a:rPr lang="en-US" dirty="0" err="1"/>
              <a:t>aes</a:t>
            </a:r>
            <a:r>
              <a:rPr lang="en-US" dirty="0"/>
              <a:t>(x=group, y=weight)) + </a:t>
            </a:r>
            <a:r>
              <a:rPr lang="en-US" dirty="0" err="1"/>
              <a:t>geom_bar</a:t>
            </a:r>
            <a:r>
              <a:rPr lang="en-US" dirty="0"/>
              <a:t>(stat="identity")</a:t>
            </a:r>
          </a:p>
        </p:txBody>
      </p:sp>
    </p:spTree>
    <p:extLst>
      <p:ext uri="{BB962C8B-B14F-4D97-AF65-F5344CB8AC3E}">
        <p14:creationId xmlns:p14="http://schemas.microsoft.com/office/powerpoint/2010/main" xmlns="" val="1812116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70456"/>
            <a:ext cx="10515600" cy="5906507"/>
          </a:xfrm>
        </p:spPr>
        <p:txBody>
          <a:bodyPr/>
          <a:lstStyle/>
          <a:p>
            <a:pPr marL="457200" lvl="1" indent="0">
              <a:lnSpc>
                <a:spcPct val="150000"/>
              </a:lnSpc>
              <a:buNone/>
            </a:pPr>
            <a:r>
              <a:rPr lang="en-US" dirty="0" err="1"/>
              <a:t>ggplot</a:t>
            </a:r>
            <a:r>
              <a:rPr lang="en-US" dirty="0"/>
              <a:t>(BOD, </a:t>
            </a:r>
            <a:r>
              <a:rPr lang="en-US" dirty="0" err="1"/>
              <a:t>aes</a:t>
            </a:r>
            <a:r>
              <a:rPr lang="en-US" dirty="0"/>
              <a:t>(x=Time, y=demand)) + </a:t>
            </a:r>
            <a:r>
              <a:rPr lang="en-US" dirty="0" err="1"/>
              <a:t>geom_bar</a:t>
            </a:r>
            <a:r>
              <a:rPr lang="en-US" dirty="0"/>
              <a:t>(stat="identity")</a:t>
            </a:r>
          </a:p>
          <a:p>
            <a:pPr marL="457200" lvl="1" indent="0">
              <a:lnSpc>
                <a:spcPct val="150000"/>
              </a:lnSpc>
              <a:buNone/>
            </a:pPr>
            <a:r>
              <a:rPr lang="en-US" i="1" dirty="0"/>
              <a:t># Convert Time to a discrete (categorical) variable with factor()</a:t>
            </a:r>
          </a:p>
          <a:p>
            <a:pPr marL="457200" lvl="1" indent="0">
              <a:lnSpc>
                <a:spcPct val="150000"/>
              </a:lnSpc>
              <a:buNone/>
            </a:pPr>
            <a:r>
              <a:rPr lang="en-US" dirty="0" err="1"/>
              <a:t>ggplot</a:t>
            </a:r>
            <a:r>
              <a:rPr lang="en-US" dirty="0"/>
              <a:t>(BOD, </a:t>
            </a:r>
            <a:r>
              <a:rPr lang="en-US" dirty="0" err="1"/>
              <a:t>aes</a:t>
            </a:r>
            <a:r>
              <a:rPr lang="en-US" dirty="0"/>
              <a:t>(x=factor(Time), y=demand)) + </a:t>
            </a:r>
            <a:r>
              <a:rPr lang="en-US" dirty="0" err="1"/>
              <a:t>geom_bar</a:t>
            </a:r>
            <a:r>
              <a:rPr lang="en-US" dirty="0"/>
              <a:t>(stat="identity</a:t>
            </a:r>
            <a:r>
              <a:rPr lang="en-US" dirty="0" smtClean="0"/>
              <a:t>")</a:t>
            </a:r>
          </a:p>
          <a:p>
            <a:pPr marL="457200" lvl="1" indent="0">
              <a:lnSpc>
                <a:spcPct val="150000"/>
              </a:lnSpc>
              <a:buNone/>
            </a:pPr>
            <a:r>
              <a:rPr lang="en-US" dirty="0" err="1"/>
              <a:t>ggplot</a:t>
            </a:r>
            <a:r>
              <a:rPr lang="en-US" dirty="0"/>
              <a:t>(</a:t>
            </a:r>
            <a:r>
              <a:rPr lang="en-US" dirty="0" err="1"/>
              <a:t>pg_mean</a:t>
            </a:r>
            <a:r>
              <a:rPr lang="en-US" dirty="0"/>
              <a:t>, </a:t>
            </a:r>
            <a:r>
              <a:rPr lang="en-US" dirty="0" err="1"/>
              <a:t>aes</a:t>
            </a:r>
            <a:r>
              <a:rPr lang="en-US" dirty="0"/>
              <a:t>(x=group, y=weight)) +</a:t>
            </a:r>
          </a:p>
          <a:p>
            <a:pPr marL="457200" lvl="1" indent="0">
              <a:lnSpc>
                <a:spcPct val="150000"/>
              </a:lnSpc>
              <a:buNone/>
            </a:pPr>
            <a:r>
              <a:rPr lang="en-US" dirty="0" err="1"/>
              <a:t>geom_bar</a:t>
            </a:r>
            <a:r>
              <a:rPr lang="en-US" dirty="0"/>
              <a:t>(stat="identity", fill="</a:t>
            </a:r>
            <a:r>
              <a:rPr lang="en-US" dirty="0" err="1"/>
              <a:t>lightblue</a:t>
            </a:r>
            <a:r>
              <a:rPr lang="en-US" dirty="0"/>
              <a:t>", </a:t>
            </a:r>
            <a:r>
              <a:rPr lang="en-US" dirty="0" err="1"/>
              <a:t>colour</a:t>
            </a:r>
            <a:r>
              <a:rPr lang="en-US" dirty="0"/>
              <a:t>="black</a:t>
            </a:r>
            <a:r>
              <a:rPr lang="en-US" dirty="0" smtClean="0"/>
              <a:t>")</a:t>
            </a:r>
          </a:p>
          <a:p>
            <a:pPr marL="457200" lvl="1" indent="0">
              <a:lnSpc>
                <a:spcPct val="150000"/>
              </a:lnSpc>
              <a:buNone/>
            </a:pPr>
            <a:endParaRPr lang="en-US" dirty="0"/>
          </a:p>
        </p:txBody>
      </p:sp>
    </p:spTree>
    <p:extLst>
      <p:ext uri="{BB962C8B-B14F-4D97-AF65-F5344CB8AC3E}">
        <p14:creationId xmlns:p14="http://schemas.microsoft.com/office/powerpoint/2010/main" xmlns="" val="14041889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Calibri "/>
              </a:rPr>
              <a:t>Grouping Bars Together</a:t>
            </a:r>
          </a:p>
        </p:txBody>
      </p:sp>
      <p:sp>
        <p:nvSpPr>
          <p:cNvPr id="3" name="Content Placeholder 2"/>
          <p:cNvSpPr>
            <a:spLocks noGrp="1"/>
          </p:cNvSpPr>
          <p:nvPr>
            <p:ph idx="1"/>
          </p:nvPr>
        </p:nvSpPr>
        <p:spPr>
          <a:xfrm>
            <a:off x="838200" y="1390918"/>
            <a:ext cx="10515600" cy="4786045"/>
          </a:xfrm>
        </p:spPr>
        <p:txBody>
          <a:bodyPr>
            <a:normAutofit fontScale="85000" lnSpcReduction="20000"/>
          </a:bodyPr>
          <a:lstStyle/>
          <a:p>
            <a:r>
              <a:rPr lang="en-US" dirty="0"/>
              <a:t>You want to group bars together by a second variable</a:t>
            </a:r>
            <a:r>
              <a:rPr lang="en-US" dirty="0" smtClean="0"/>
              <a:t>.</a:t>
            </a:r>
          </a:p>
          <a:p>
            <a:pPr marL="457200" lvl="1" indent="0">
              <a:lnSpc>
                <a:spcPct val="150000"/>
              </a:lnSpc>
              <a:buNone/>
            </a:pPr>
            <a:r>
              <a:rPr lang="en-US" dirty="0"/>
              <a:t>library(</a:t>
            </a:r>
            <a:r>
              <a:rPr lang="en-US" dirty="0" err="1"/>
              <a:t>gcookbook</a:t>
            </a:r>
            <a:r>
              <a:rPr lang="en-US" dirty="0"/>
              <a:t>) </a:t>
            </a:r>
            <a:r>
              <a:rPr lang="en-US" i="1" dirty="0"/>
              <a:t># For the data set</a:t>
            </a:r>
          </a:p>
          <a:p>
            <a:pPr marL="457200" lvl="1" indent="0">
              <a:lnSpc>
                <a:spcPct val="150000"/>
              </a:lnSpc>
              <a:buNone/>
            </a:pPr>
            <a:r>
              <a:rPr lang="en-US" dirty="0" err="1" smtClean="0"/>
              <a:t>cabbage_exp</a:t>
            </a:r>
            <a:endParaRPr lang="en-US" dirty="0" smtClean="0"/>
          </a:p>
          <a:p>
            <a:pPr marL="457200" lvl="1" indent="0">
              <a:lnSpc>
                <a:spcPct val="150000"/>
              </a:lnSpc>
              <a:buNone/>
            </a:pPr>
            <a:r>
              <a:rPr lang="en-US" dirty="0" err="1"/>
              <a:t>ggplot</a:t>
            </a:r>
            <a:r>
              <a:rPr lang="en-US" dirty="0"/>
              <a:t>(</a:t>
            </a:r>
            <a:r>
              <a:rPr lang="en-US" dirty="0" err="1"/>
              <a:t>cabbage_exp</a:t>
            </a:r>
            <a:r>
              <a:rPr lang="en-US" dirty="0"/>
              <a:t>, </a:t>
            </a:r>
            <a:r>
              <a:rPr lang="en-US" dirty="0" err="1"/>
              <a:t>aes</a:t>
            </a:r>
            <a:r>
              <a:rPr lang="en-US" dirty="0"/>
              <a:t>(x=Date, y=Weight, fill=Cultivar)) +</a:t>
            </a:r>
          </a:p>
          <a:p>
            <a:pPr marL="457200" lvl="1" indent="0">
              <a:lnSpc>
                <a:spcPct val="150000"/>
              </a:lnSpc>
              <a:buNone/>
            </a:pPr>
            <a:r>
              <a:rPr lang="en-US" dirty="0" err="1"/>
              <a:t>geom_bar</a:t>
            </a:r>
            <a:r>
              <a:rPr lang="en-US" dirty="0"/>
              <a:t>(position="dodge</a:t>
            </a:r>
            <a:r>
              <a:rPr lang="en-US" dirty="0" smtClean="0"/>
              <a:t>")</a:t>
            </a:r>
          </a:p>
          <a:p>
            <a:r>
              <a:rPr lang="en-US" dirty="0"/>
              <a:t>To add a black outline, use </a:t>
            </a:r>
            <a:r>
              <a:rPr lang="en-US" dirty="0" err="1"/>
              <a:t>colour</a:t>
            </a:r>
            <a:r>
              <a:rPr lang="en-US" dirty="0"/>
              <a:t>="black" inside </a:t>
            </a:r>
            <a:r>
              <a:rPr lang="en-US" dirty="0" err="1"/>
              <a:t>geom_bar</a:t>
            </a:r>
            <a:r>
              <a:rPr lang="en-US" dirty="0"/>
              <a:t>(). To set the colors, </a:t>
            </a:r>
            <a:r>
              <a:rPr lang="en-US" dirty="0" smtClean="0"/>
              <a:t>you can </a:t>
            </a:r>
            <a:r>
              <a:rPr lang="en-US" dirty="0"/>
              <a:t>use </a:t>
            </a:r>
            <a:r>
              <a:rPr lang="en-US" dirty="0" err="1"/>
              <a:t>scale_fill_brewer</a:t>
            </a:r>
            <a:r>
              <a:rPr lang="en-US" dirty="0"/>
              <a:t>() or </a:t>
            </a:r>
            <a:r>
              <a:rPr lang="en-US" dirty="0" err="1"/>
              <a:t>scale_fill_manual</a:t>
            </a:r>
            <a:r>
              <a:rPr lang="en-US" dirty="0"/>
              <a:t>(). </a:t>
            </a:r>
            <a:endParaRPr lang="en-US" dirty="0" smtClean="0"/>
          </a:p>
          <a:p>
            <a:r>
              <a:rPr lang="en-US" dirty="0" smtClean="0"/>
              <a:t>we’ll </a:t>
            </a:r>
            <a:r>
              <a:rPr lang="en-US" dirty="0"/>
              <a:t>use </a:t>
            </a:r>
            <a:r>
              <a:rPr lang="en-US" dirty="0" smtClean="0"/>
              <a:t>the Pastel1 </a:t>
            </a:r>
            <a:r>
              <a:rPr lang="en-US" dirty="0"/>
              <a:t>palette from </a:t>
            </a:r>
            <a:r>
              <a:rPr lang="en-US" dirty="0" err="1"/>
              <a:t>RColorBrewer</a:t>
            </a:r>
            <a:r>
              <a:rPr lang="en-US" dirty="0"/>
              <a:t>:</a:t>
            </a:r>
            <a:endParaRPr lang="en-US" dirty="0" smtClean="0"/>
          </a:p>
          <a:p>
            <a:pPr marL="457200" lvl="1" indent="0">
              <a:lnSpc>
                <a:spcPct val="160000"/>
              </a:lnSpc>
              <a:buNone/>
            </a:pPr>
            <a:r>
              <a:rPr lang="en-US" dirty="0" err="1"/>
              <a:t>ggplot</a:t>
            </a:r>
            <a:r>
              <a:rPr lang="en-US" dirty="0"/>
              <a:t>(</a:t>
            </a:r>
            <a:r>
              <a:rPr lang="en-US" dirty="0" err="1"/>
              <a:t>cabbage_exp</a:t>
            </a:r>
            <a:r>
              <a:rPr lang="en-US" dirty="0"/>
              <a:t>, </a:t>
            </a:r>
            <a:r>
              <a:rPr lang="en-US" dirty="0" err="1"/>
              <a:t>aes</a:t>
            </a:r>
            <a:r>
              <a:rPr lang="en-US" dirty="0"/>
              <a:t>(x=Date, y=Weight, fill=Cultivar)) +</a:t>
            </a:r>
          </a:p>
          <a:p>
            <a:pPr marL="457200" lvl="1" indent="0">
              <a:lnSpc>
                <a:spcPct val="160000"/>
              </a:lnSpc>
              <a:buNone/>
            </a:pPr>
            <a:r>
              <a:rPr lang="en-US" dirty="0" err="1"/>
              <a:t>geom_bar</a:t>
            </a:r>
            <a:r>
              <a:rPr lang="en-US" dirty="0"/>
              <a:t>(position="dodge", </a:t>
            </a:r>
            <a:r>
              <a:rPr lang="en-US" dirty="0" err="1"/>
              <a:t>colour</a:t>
            </a:r>
            <a:r>
              <a:rPr lang="en-US" dirty="0"/>
              <a:t>="black") +</a:t>
            </a:r>
          </a:p>
          <a:p>
            <a:pPr marL="457200" lvl="1" indent="0">
              <a:lnSpc>
                <a:spcPct val="160000"/>
              </a:lnSpc>
              <a:buNone/>
            </a:pPr>
            <a:r>
              <a:rPr lang="en-US" dirty="0" err="1"/>
              <a:t>scale_fill_brewer</a:t>
            </a:r>
            <a:r>
              <a:rPr lang="en-US" dirty="0"/>
              <a:t>(palette="Pastel1")</a:t>
            </a:r>
          </a:p>
        </p:txBody>
      </p:sp>
    </p:spTree>
    <p:extLst>
      <p:ext uri="{BB962C8B-B14F-4D97-AF65-F5344CB8AC3E}">
        <p14:creationId xmlns:p14="http://schemas.microsoft.com/office/powerpoint/2010/main" xmlns="" val="3701079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96214"/>
            <a:ext cx="10515600" cy="5880749"/>
          </a:xfrm>
        </p:spPr>
        <p:txBody>
          <a:bodyPr/>
          <a:lstStyle/>
          <a:p>
            <a:r>
              <a:rPr lang="en-IN" dirty="0" smtClean="0"/>
              <a:t>Adjusting Bar Width and Spacing </a:t>
            </a:r>
            <a:endParaRPr lang="en-IN" dirty="0" smtClean="0"/>
          </a:p>
          <a:p>
            <a:pPr lvl="1"/>
            <a:r>
              <a:rPr lang="en-IN" dirty="0" smtClean="0"/>
              <a:t>For example, for standard-width bars:</a:t>
            </a:r>
          </a:p>
          <a:p>
            <a:pPr lvl="1">
              <a:buNone/>
            </a:pPr>
            <a:r>
              <a:rPr lang="en-IN" dirty="0" smtClean="0"/>
              <a:t>library(</a:t>
            </a:r>
            <a:r>
              <a:rPr lang="en-IN" dirty="0" err="1" smtClean="0"/>
              <a:t>gcookbook</a:t>
            </a:r>
            <a:r>
              <a:rPr lang="en-IN" dirty="0" smtClean="0"/>
              <a:t>) </a:t>
            </a:r>
            <a:r>
              <a:rPr lang="en-IN" i="1" dirty="0" smtClean="0"/>
              <a:t># For the data set</a:t>
            </a:r>
          </a:p>
          <a:p>
            <a:pPr lvl="1">
              <a:buNone/>
            </a:pPr>
            <a:r>
              <a:rPr lang="en-IN" dirty="0" err="1" smtClean="0"/>
              <a:t>ggplot</a:t>
            </a:r>
            <a:r>
              <a:rPr lang="en-IN" dirty="0" smtClean="0"/>
              <a:t>(</a:t>
            </a:r>
            <a:r>
              <a:rPr lang="en-IN" dirty="0" err="1" smtClean="0"/>
              <a:t>pg_mean</a:t>
            </a:r>
            <a:r>
              <a:rPr lang="en-IN" dirty="0" smtClean="0"/>
              <a:t>, </a:t>
            </a:r>
            <a:r>
              <a:rPr lang="en-IN" dirty="0" err="1" smtClean="0"/>
              <a:t>aes</a:t>
            </a:r>
            <a:r>
              <a:rPr lang="en-IN" dirty="0" smtClean="0"/>
              <a:t>(x=group, y=weight)) + </a:t>
            </a:r>
            <a:r>
              <a:rPr lang="en-IN" dirty="0" err="1" smtClean="0"/>
              <a:t>geom_bar</a:t>
            </a:r>
            <a:r>
              <a:rPr lang="en-IN" dirty="0" smtClean="0"/>
              <a:t>(stat="identity")</a:t>
            </a:r>
          </a:p>
          <a:p>
            <a:pPr lvl="1"/>
            <a:r>
              <a:rPr lang="en-IN" dirty="0" smtClean="0"/>
              <a:t>For narrower bars:</a:t>
            </a:r>
          </a:p>
          <a:p>
            <a:pPr lvl="1">
              <a:buNone/>
            </a:pPr>
            <a:r>
              <a:rPr lang="en-IN" dirty="0" err="1" smtClean="0"/>
              <a:t>ggplot</a:t>
            </a:r>
            <a:r>
              <a:rPr lang="en-IN" dirty="0" smtClean="0"/>
              <a:t>(</a:t>
            </a:r>
            <a:r>
              <a:rPr lang="en-IN" dirty="0" err="1" smtClean="0"/>
              <a:t>pg_mean</a:t>
            </a:r>
            <a:r>
              <a:rPr lang="en-IN" dirty="0" smtClean="0"/>
              <a:t>, </a:t>
            </a:r>
            <a:r>
              <a:rPr lang="en-IN" dirty="0" err="1" smtClean="0"/>
              <a:t>aes</a:t>
            </a:r>
            <a:r>
              <a:rPr lang="en-IN" dirty="0" smtClean="0"/>
              <a:t>(x=group, y=weight)) + </a:t>
            </a:r>
            <a:r>
              <a:rPr lang="en-IN" dirty="0" err="1" smtClean="0"/>
              <a:t>geom_bar</a:t>
            </a:r>
            <a:r>
              <a:rPr lang="en-IN" dirty="0" smtClean="0"/>
              <a:t>(stat="identity", width=0.5)</a:t>
            </a:r>
          </a:p>
          <a:p>
            <a:pPr lvl="1"/>
            <a:r>
              <a:rPr lang="en-IN" dirty="0" smtClean="0"/>
              <a:t>And for wider bars (these have the maximum width of 1):</a:t>
            </a:r>
          </a:p>
          <a:p>
            <a:pPr lvl="1">
              <a:buNone/>
            </a:pPr>
            <a:r>
              <a:rPr lang="en-IN" dirty="0" err="1" smtClean="0"/>
              <a:t>ggplot</a:t>
            </a:r>
            <a:r>
              <a:rPr lang="en-IN" dirty="0" smtClean="0"/>
              <a:t>(</a:t>
            </a:r>
            <a:r>
              <a:rPr lang="en-IN" dirty="0" err="1" smtClean="0"/>
              <a:t>pg_mean</a:t>
            </a:r>
            <a:r>
              <a:rPr lang="en-IN" dirty="0" smtClean="0"/>
              <a:t>, </a:t>
            </a:r>
            <a:r>
              <a:rPr lang="en-IN" dirty="0" err="1" smtClean="0"/>
              <a:t>aes</a:t>
            </a:r>
            <a:r>
              <a:rPr lang="en-IN" dirty="0" smtClean="0"/>
              <a:t>(x=group, y=weight)) + </a:t>
            </a:r>
            <a:r>
              <a:rPr lang="en-IN" dirty="0" err="1" smtClean="0"/>
              <a:t>geom_bar</a:t>
            </a:r>
            <a:r>
              <a:rPr lang="en-IN" dirty="0" smtClean="0"/>
              <a:t>(stat="identity", width=1)</a:t>
            </a:r>
            <a:endParaRPr lang="en-IN" dirty="0" smtClean="0"/>
          </a:p>
        </p:txBody>
      </p:sp>
    </p:spTree>
    <p:extLst>
      <p:ext uri="{BB962C8B-B14F-4D97-AF65-F5344CB8AC3E}">
        <p14:creationId xmlns:p14="http://schemas.microsoft.com/office/powerpoint/2010/main" xmlns="" val="1676769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96214"/>
            <a:ext cx="11353800" cy="5880749"/>
          </a:xfrm>
        </p:spPr>
        <p:txBody>
          <a:bodyPr>
            <a:normAutofit/>
          </a:bodyPr>
          <a:lstStyle/>
          <a:p>
            <a:r>
              <a:rPr lang="en-IN" sz="3600" dirty="0" smtClean="0"/>
              <a:t>Making a Stacked Bar Graph</a:t>
            </a:r>
            <a:r>
              <a:rPr lang="en-IN" dirty="0" smtClean="0"/>
              <a:t> </a:t>
            </a:r>
            <a:endParaRPr lang="en-IN" dirty="0" smtClean="0"/>
          </a:p>
          <a:p>
            <a:pPr lvl="1">
              <a:buNone/>
            </a:pPr>
            <a:r>
              <a:rPr lang="en-IN" dirty="0" smtClean="0"/>
              <a:t>library(</a:t>
            </a:r>
            <a:r>
              <a:rPr lang="en-IN" dirty="0" err="1" smtClean="0"/>
              <a:t>gcookbook</a:t>
            </a:r>
            <a:r>
              <a:rPr lang="en-IN" dirty="0" smtClean="0"/>
              <a:t>) </a:t>
            </a:r>
            <a:r>
              <a:rPr lang="en-IN" i="1" dirty="0" smtClean="0"/>
              <a:t># For the data set</a:t>
            </a:r>
          </a:p>
          <a:p>
            <a:pPr lvl="1">
              <a:buNone/>
            </a:pPr>
            <a:r>
              <a:rPr lang="en-IN" dirty="0" err="1" smtClean="0"/>
              <a:t>ggplot</a:t>
            </a:r>
            <a:r>
              <a:rPr lang="en-IN" dirty="0" smtClean="0"/>
              <a:t>(</a:t>
            </a:r>
            <a:r>
              <a:rPr lang="en-IN" dirty="0" err="1" smtClean="0"/>
              <a:t>cabbage_exp</a:t>
            </a:r>
            <a:r>
              <a:rPr lang="en-IN" dirty="0" smtClean="0"/>
              <a:t>, </a:t>
            </a:r>
            <a:r>
              <a:rPr lang="en-IN" dirty="0" err="1" smtClean="0"/>
              <a:t>aes</a:t>
            </a:r>
            <a:r>
              <a:rPr lang="en-IN" dirty="0" smtClean="0"/>
              <a:t>(x=Date, y=Weight, fill=Cultivar)) +</a:t>
            </a:r>
          </a:p>
          <a:p>
            <a:pPr lvl="1">
              <a:buNone/>
            </a:pPr>
            <a:r>
              <a:rPr lang="en-IN" dirty="0" err="1" smtClean="0"/>
              <a:t>geom_bar</a:t>
            </a:r>
            <a:r>
              <a:rPr lang="en-IN" dirty="0" smtClean="0"/>
              <a:t>(stat</a:t>
            </a:r>
            <a:r>
              <a:rPr lang="en-IN" dirty="0" smtClean="0"/>
              <a:t>="identity")</a:t>
            </a:r>
          </a:p>
          <a:p>
            <a:r>
              <a:rPr lang="en-IN" sz="3200" dirty="0" smtClean="0"/>
              <a:t>Making a Proportional Stacked Bar </a:t>
            </a:r>
            <a:r>
              <a:rPr lang="en-IN" sz="3200" dirty="0" smtClean="0"/>
              <a:t>Graph</a:t>
            </a:r>
          </a:p>
          <a:p>
            <a:pPr lvl="1"/>
            <a:r>
              <a:rPr lang="en-IN" dirty="0" smtClean="0"/>
              <a:t>You want to make a stacked bar graph that shows proportions (also called a 100% </a:t>
            </a:r>
            <a:r>
              <a:rPr lang="en-IN" dirty="0" smtClean="0"/>
              <a:t>stacked bar </a:t>
            </a:r>
            <a:r>
              <a:rPr lang="en-IN" dirty="0" smtClean="0"/>
              <a:t>graph).</a:t>
            </a:r>
            <a:endParaRPr lang="en-IN" dirty="0" smtClean="0"/>
          </a:p>
          <a:p>
            <a:pPr lvl="2">
              <a:buNone/>
            </a:pPr>
            <a:r>
              <a:rPr lang="en-IN" dirty="0" smtClean="0"/>
              <a:t>library(</a:t>
            </a:r>
            <a:r>
              <a:rPr lang="en-IN" dirty="0" err="1" smtClean="0"/>
              <a:t>gcookbook</a:t>
            </a:r>
            <a:r>
              <a:rPr lang="en-IN" dirty="0" smtClean="0"/>
              <a:t>) </a:t>
            </a:r>
            <a:r>
              <a:rPr lang="en-IN" i="1" dirty="0" smtClean="0"/>
              <a:t># For the data set</a:t>
            </a:r>
          </a:p>
          <a:p>
            <a:pPr lvl="2">
              <a:buNone/>
            </a:pPr>
            <a:r>
              <a:rPr lang="en-IN" dirty="0" smtClean="0"/>
              <a:t>library(</a:t>
            </a:r>
            <a:r>
              <a:rPr lang="en-IN" dirty="0" err="1" smtClean="0"/>
              <a:t>plyr</a:t>
            </a:r>
            <a:r>
              <a:rPr lang="en-IN" dirty="0" smtClean="0"/>
              <a:t>)</a:t>
            </a:r>
          </a:p>
          <a:p>
            <a:pPr lvl="2">
              <a:buNone/>
            </a:pPr>
            <a:r>
              <a:rPr lang="en-IN" i="1" dirty="0" smtClean="0"/>
              <a:t># Do a group-wise transform(), splitting on "Date"</a:t>
            </a:r>
          </a:p>
          <a:p>
            <a:pPr lvl="2">
              <a:buNone/>
            </a:pPr>
            <a:r>
              <a:rPr lang="en-IN" dirty="0" err="1" smtClean="0"/>
              <a:t>ce</a:t>
            </a:r>
            <a:r>
              <a:rPr lang="en-IN" dirty="0" smtClean="0"/>
              <a:t> &lt;- </a:t>
            </a:r>
            <a:r>
              <a:rPr lang="en-IN" dirty="0" err="1" smtClean="0"/>
              <a:t>ddply</a:t>
            </a:r>
            <a:r>
              <a:rPr lang="en-IN" dirty="0" smtClean="0"/>
              <a:t>(</a:t>
            </a:r>
            <a:r>
              <a:rPr lang="en-IN" dirty="0" err="1" smtClean="0"/>
              <a:t>cabbage_exp</a:t>
            </a:r>
            <a:r>
              <a:rPr lang="en-IN" dirty="0" smtClean="0"/>
              <a:t>, "Date", transform</a:t>
            </a:r>
            <a:r>
              <a:rPr lang="en-IN" dirty="0" smtClean="0"/>
              <a:t>, </a:t>
            </a:r>
            <a:r>
              <a:rPr lang="en-IN" dirty="0" err="1" smtClean="0"/>
              <a:t>percent_weight</a:t>
            </a:r>
            <a:r>
              <a:rPr lang="en-IN" dirty="0" smtClean="0"/>
              <a:t> </a:t>
            </a:r>
            <a:r>
              <a:rPr lang="en-IN" dirty="0" smtClean="0"/>
              <a:t>= Weight / sum(Weight) * 100)</a:t>
            </a:r>
          </a:p>
          <a:p>
            <a:pPr lvl="2">
              <a:buNone/>
            </a:pPr>
            <a:r>
              <a:rPr lang="en-IN" dirty="0" err="1" smtClean="0"/>
              <a:t>ggplot</a:t>
            </a:r>
            <a:r>
              <a:rPr lang="en-IN" dirty="0" smtClean="0"/>
              <a:t>(</a:t>
            </a:r>
            <a:r>
              <a:rPr lang="en-IN" dirty="0" err="1" smtClean="0"/>
              <a:t>ce</a:t>
            </a:r>
            <a:r>
              <a:rPr lang="en-IN" dirty="0" smtClean="0"/>
              <a:t>, </a:t>
            </a:r>
            <a:r>
              <a:rPr lang="en-IN" dirty="0" err="1" smtClean="0"/>
              <a:t>aes</a:t>
            </a:r>
            <a:r>
              <a:rPr lang="en-IN" dirty="0" smtClean="0"/>
              <a:t>(x=Date, y=</a:t>
            </a:r>
            <a:r>
              <a:rPr lang="en-IN" dirty="0" err="1" smtClean="0"/>
              <a:t>percent_weight</a:t>
            </a:r>
            <a:r>
              <a:rPr lang="en-IN" dirty="0" smtClean="0"/>
              <a:t>, fill=Cultivar)) +</a:t>
            </a:r>
          </a:p>
          <a:p>
            <a:pPr lvl="2">
              <a:buNone/>
            </a:pPr>
            <a:r>
              <a:rPr lang="en-IN" dirty="0" err="1" smtClean="0"/>
              <a:t>geom_bar</a:t>
            </a:r>
            <a:r>
              <a:rPr lang="en-IN" dirty="0" smtClean="0"/>
              <a:t>(stat="identity")</a:t>
            </a:r>
            <a:endParaRPr lang="en-US" dirty="0"/>
          </a:p>
        </p:txBody>
      </p:sp>
    </p:spTree>
    <p:extLst>
      <p:ext uri="{BB962C8B-B14F-4D97-AF65-F5344CB8AC3E}">
        <p14:creationId xmlns:p14="http://schemas.microsoft.com/office/powerpoint/2010/main" xmlns="" val="16767694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Scatter plot</a:t>
            </a:r>
            <a:endParaRPr lang="en-US" b="1" dirty="0"/>
          </a:p>
        </p:txBody>
      </p:sp>
      <p:sp>
        <p:nvSpPr>
          <p:cNvPr id="3" name="Content Placeholder 2"/>
          <p:cNvSpPr>
            <a:spLocks noGrp="1"/>
          </p:cNvSpPr>
          <p:nvPr>
            <p:ph idx="1"/>
          </p:nvPr>
        </p:nvSpPr>
        <p:spPr/>
        <p:txBody>
          <a:bodyPr/>
          <a:lstStyle/>
          <a:p>
            <a:r>
              <a:rPr lang="en-US" dirty="0"/>
              <a:t>Scatter plots are used to display the relationship between two continuous variables</a:t>
            </a:r>
            <a:r>
              <a:rPr lang="en-US" dirty="0" smtClean="0"/>
              <a:t>.</a:t>
            </a:r>
          </a:p>
          <a:p>
            <a:r>
              <a:rPr lang="en-US" dirty="0"/>
              <a:t>each observation in a data set is represented by a </a:t>
            </a:r>
            <a:r>
              <a:rPr lang="en-US" dirty="0" smtClean="0"/>
              <a:t>point</a:t>
            </a:r>
          </a:p>
          <a:p>
            <a:pPr marL="457200" lvl="1" indent="0">
              <a:lnSpc>
                <a:spcPct val="150000"/>
              </a:lnSpc>
              <a:buNone/>
            </a:pPr>
            <a:r>
              <a:rPr lang="en-US" dirty="0"/>
              <a:t>library(</a:t>
            </a:r>
            <a:r>
              <a:rPr lang="en-US" dirty="0" err="1"/>
              <a:t>gcookbook</a:t>
            </a:r>
            <a:r>
              <a:rPr lang="en-US" dirty="0"/>
              <a:t>) </a:t>
            </a:r>
            <a:r>
              <a:rPr lang="en-US" i="1" dirty="0"/>
              <a:t># For the data set</a:t>
            </a:r>
          </a:p>
          <a:p>
            <a:pPr marL="457200" lvl="1" indent="0">
              <a:lnSpc>
                <a:spcPct val="150000"/>
              </a:lnSpc>
              <a:buNone/>
            </a:pPr>
            <a:r>
              <a:rPr lang="en-US" i="1" dirty="0"/>
              <a:t># List the two columns we'll use</a:t>
            </a:r>
          </a:p>
          <a:p>
            <a:pPr marL="457200" lvl="1" indent="0">
              <a:lnSpc>
                <a:spcPct val="150000"/>
              </a:lnSpc>
              <a:buNone/>
            </a:pPr>
            <a:r>
              <a:rPr lang="en-US" dirty="0" err="1"/>
              <a:t>heightweight</a:t>
            </a:r>
            <a:r>
              <a:rPr lang="en-US" dirty="0"/>
              <a:t>[, c("</a:t>
            </a:r>
            <a:r>
              <a:rPr lang="en-US" dirty="0" err="1"/>
              <a:t>ageYear</a:t>
            </a:r>
            <a:r>
              <a:rPr lang="en-US" dirty="0"/>
              <a:t>", "</a:t>
            </a:r>
            <a:r>
              <a:rPr lang="en-US" dirty="0" err="1"/>
              <a:t>heightIn</a:t>
            </a:r>
            <a:r>
              <a:rPr lang="en-US" dirty="0"/>
              <a:t>")]</a:t>
            </a:r>
            <a:endParaRPr lang="en-US" dirty="0" smtClean="0"/>
          </a:p>
          <a:p>
            <a:pPr marL="457200" lvl="1" indent="0">
              <a:lnSpc>
                <a:spcPct val="150000"/>
              </a:lnSpc>
              <a:buNone/>
            </a:pPr>
            <a:r>
              <a:rPr lang="en-US" dirty="0" err="1"/>
              <a:t>ggplot</a:t>
            </a:r>
            <a:r>
              <a:rPr lang="en-US" dirty="0"/>
              <a:t>(</a:t>
            </a:r>
            <a:r>
              <a:rPr lang="en-US" dirty="0" err="1"/>
              <a:t>heightweight</a:t>
            </a:r>
            <a:r>
              <a:rPr lang="en-US" dirty="0"/>
              <a:t>, </a:t>
            </a:r>
            <a:r>
              <a:rPr lang="en-US" dirty="0" err="1"/>
              <a:t>aes</a:t>
            </a:r>
            <a:r>
              <a:rPr lang="en-US" dirty="0"/>
              <a:t>(x=</a:t>
            </a:r>
            <a:r>
              <a:rPr lang="en-US" dirty="0" err="1"/>
              <a:t>ageYear</a:t>
            </a:r>
            <a:r>
              <a:rPr lang="en-US" dirty="0"/>
              <a:t>, y=</a:t>
            </a:r>
            <a:r>
              <a:rPr lang="en-US" dirty="0" err="1"/>
              <a:t>heightIn</a:t>
            </a:r>
            <a:r>
              <a:rPr lang="en-US" dirty="0"/>
              <a:t>)) + </a:t>
            </a:r>
            <a:r>
              <a:rPr lang="en-US" dirty="0" err="1"/>
              <a:t>geom_point</a:t>
            </a:r>
            <a:r>
              <a:rPr lang="en-US" dirty="0" smtClean="0"/>
              <a:t>()</a:t>
            </a:r>
            <a:endParaRPr lang="en-US" dirty="0"/>
          </a:p>
        </p:txBody>
      </p:sp>
    </p:spTree>
    <p:extLst>
      <p:ext uri="{BB962C8B-B14F-4D97-AF65-F5344CB8AC3E}">
        <p14:creationId xmlns:p14="http://schemas.microsoft.com/office/powerpoint/2010/main" xmlns="" val="165232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8246" y="457200"/>
            <a:ext cx="11013831" cy="5684594"/>
          </a:xfrm>
        </p:spPr>
        <p:txBody>
          <a:bodyPr/>
          <a:lstStyle/>
          <a:p>
            <a:pPr>
              <a:lnSpc>
                <a:spcPct val="150000"/>
              </a:lnSpc>
            </a:pPr>
            <a:r>
              <a:rPr lang="en-US" dirty="0"/>
              <a:t>To use different shapes in a scatter plot</a:t>
            </a:r>
            <a:r>
              <a:rPr lang="en-US" dirty="0" smtClean="0"/>
              <a:t>, set </a:t>
            </a:r>
            <a:r>
              <a:rPr lang="en-US" dirty="0"/>
              <a:t>shape. A common alternative to the </a:t>
            </a:r>
            <a:r>
              <a:rPr lang="en-US" dirty="0" smtClean="0"/>
              <a:t>default solid </a:t>
            </a:r>
            <a:r>
              <a:rPr lang="en-US" dirty="0"/>
              <a:t>circles (shape #16) is hollow ones (#</a:t>
            </a:r>
            <a:r>
              <a:rPr lang="en-US" dirty="0" smtClean="0"/>
              <a:t>21)</a:t>
            </a:r>
          </a:p>
          <a:p>
            <a:pPr marL="457200" lvl="1" indent="0">
              <a:lnSpc>
                <a:spcPct val="150000"/>
              </a:lnSpc>
              <a:buNone/>
            </a:pPr>
            <a:r>
              <a:rPr lang="en-US" dirty="0" err="1" smtClean="0"/>
              <a:t>ggplot</a:t>
            </a:r>
            <a:r>
              <a:rPr lang="en-US" dirty="0" smtClean="0"/>
              <a:t>(</a:t>
            </a:r>
            <a:r>
              <a:rPr lang="en-US" dirty="0" err="1" smtClean="0"/>
              <a:t>heightweight</a:t>
            </a:r>
            <a:r>
              <a:rPr lang="en-US" dirty="0"/>
              <a:t>, </a:t>
            </a:r>
            <a:r>
              <a:rPr lang="en-US" dirty="0" err="1"/>
              <a:t>aes</a:t>
            </a:r>
            <a:r>
              <a:rPr lang="en-US" dirty="0"/>
              <a:t>(x=</a:t>
            </a:r>
            <a:r>
              <a:rPr lang="en-US" dirty="0" err="1"/>
              <a:t>ageYear</a:t>
            </a:r>
            <a:r>
              <a:rPr lang="en-US" dirty="0"/>
              <a:t>, y=</a:t>
            </a:r>
            <a:r>
              <a:rPr lang="en-US" dirty="0" err="1"/>
              <a:t>heightIn</a:t>
            </a:r>
            <a:r>
              <a:rPr lang="en-US" dirty="0"/>
              <a:t>)) + </a:t>
            </a:r>
            <a:r>
              <a:rPr lang="en-US" dirty="0" err="1"/>
              <a:t>geom_point</a:t>
            </a:r>
            <a:r>
              <a:rPr lang="en-US" dirty="0"/>
              <a:t>(shape=21</a:t>
            </a:r>
            <a:r>
              <a:rPr lang="en-US" dirty="0" smtClean="0"/>
              <a:t>)</a:t>
            </a:r>
          </a:p>
          <a:p>
            <a:pPr>
              <a:lnSpc>
                <a:spcPct val="150000"/>
              </a:lnSpc>
            </a:pPr>
            <a:r>
              <a:rPr lang="en-US" dirty="0"/>
              <a:t>The size of the points can be controlled with size. The default value of size is 2. </a:t>
            </a:r>
            <a:r>
              <a:rPr lang="en-US" dirty="0" smtClean="0"/>
              <a:t>The following </a:t>
            </a:r>
            <a:r>
              <a:rPr lang="en-US" dirty="0"/>
              <a:t>will set size=1.5, for smaller points </a:t>
            </a:r>
          </a:p>
          <a:p>
            <a:pPr marL="457200" lvl="1" indent="0">
              <a:lnSpc>
                <a:spcPct val="150000"/>
              </a:lnSpc>
              <a:buNone/>
            </a:pPr>
            <a:r>
              <a:rPr lang="en-US" dirty="0" err="1" smtClean="0"/>
              <a:t>ggplot</a:t>
            </a:r>
            <a:r>
              <a:rPr lang="en-US" dirty="0" smtClean="0"/>
              <a:t>(</a:t>
            </a:r>
            <a:r>
              <a:rPr lang="en-US" dirty="0" err="1" smtClean="0"/>
              <a:t>heightweight</a:t>
            </a:r>
            <a:r>
              <a:rPr lang="en-US" dirty="0"/>
              <a:t>, </a:t>
            </a:r>
            <a:r>
              <a:rPr lang="en-US" dirty="0" err="1"/>
              <a:t>aes</a:t>
            </a:r>
            <a:r>
              <a:rPr lang="en-US" dirty="0"/>
              <a:t>(x=</a:t>
            </a:r>
            <a:r>
              <a:rPr lang="en-US" dirty="0" err="1"/>
              <a:t>ageYear</a:t>
            </a:r>
            <a:r>
              <a:rPr lang="en-US" dirty="0"/>
              <a:t>, y=</a:t>
            </a:r>
            <a:r>
              <a:rPr lang="en-US" dirty="0" err="1"/>
              <a:t>heightIn</a:t>
            </a:r>
            <a:r>
              <a:rPr lang="en-US" dirty="0"/>
              <a:t>)) + </a:t>
            </a:r>
            <a:r>
              <a:rPr lang="en-US" dirty="0" err="1"/>
              <a:t>geom_point</a:t>
            </a:r>
            <a:r>
              <a:rPr lang="en-US" dirty="0"/>
              <a:t>(size=1.5)</a:t>
            </a:r>
          </a:p>
        </p:txBody>
      </p:sp>
    </p:spTree>
    <p:extLst>
      <p:ext uri="{BB962C8B-B14F-4D97-AF65-F5344CB8AC3E}">
        <p14:creationId xmlns:p14="http://schemas.microsoft.com/office/powerpoint/2010/main" xmlns="" val="160913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Calibri "/>
              </a:rPr>
              <a:t>Grouping Data Points by a Variable Using</a:t>
            </a:r>
            <a:br>
              <a:rPr lang="en-US" sz="2800" b="1" dirty="0">
                <a:latin typeface="Calibri "/>
              </a:rPr>
            </a:br>
            <a:r>
              <a:rPr lang="en-US" sz="2800" b="1" dirty="0">
                <a:latin typeface="Calibri "/>
              </a:rPr>
              <a:t>Shape or Color</a:t>
            </a:r>
          </a:p>
        </p:txBody>
      </p:sp>
      <p:sp>
        <p:nvSpPr>
          <p:cNvPr id="3" name="Content Placeholder 2"/>
          <p:cNvSpPr>
            <a:spLocks noGrp="1"/>
          </p:cNvSpPr>
          <p:nvPr>
            <p:ph idx="1"/>
          </p:nvPr>
        </p:nvSpPr>
        <p:spPr/>
        <p:txBody>
          <a:bodyPr/>
          <a:lstStyle/>
          <a:p>
            <a:r>
              <a:rPr lang="en-US" dirty="0"/>
              <a:t>Map the grouping variable to shape or </a:t>
            </a:r>
            <a:r>
              <a:rPr lang="en-US" dirty="0" err="1"/>
              <a:t>colour</a:t>
            </a:r>
            <a:r>
              <a:rPr lang="en-US" dirty="0"/>
              <a:t>. </a:t>
            </a:r>
            <a:endParaRPr lang="en-US" dirty="0" smtClean="0"/>
          </a:p>
          <a:p>
            <a:r>
              <a:rPr lang="en-US" dirty="0" smtClean="0"/>
              <a:t>In </a:t>
            </a:r>
            <a:r>
              <a:rPr lang="en-US" dirty="0"/>
              <a:t>the </a:t>
            </a:r>
            <a:r>
              <a:rPr lang="en-US" dirty="0" err="1"/>
              <a:t>heightweight</a:t>
            </a:r>
            <a:r>
              <a:rPr lang="en-US" dirty="0"/>
              <a:t> data set, there </a:t>
            </a:r>
            <a:r>
              <a:rPr lang="en-US" dirty="0" smtClean="0"/>
              <a:t>are many </a:t>
            </a:r>
            <a:r>
              <a:rPr lang="en-US" dirty="0"/>
              <a:t>columns, but we’ll only use three of them in this example</a:t>
            </a:r>
            <a:r>
              <a:rPr lang="en-US" dirty="0" smtClean="0"/>
              <a:t>:</a:t>
            </a:r>
          </a:p>
          <a:p>
            <a:pPr marL="457200" lvl="1" indent="0">
              <a:lnSpc>
                <a:spcPct val="150000"/>
              </a:lnSpc>
              <a:buNone/>
            </a:pPr>
            <a:r>
              <a:rPr lang="en-US" dirty="0"/>
              <a:t>library(</a:t>
            </a:r>
            <a:r>
              <a:rPr lang="en-US" dirty="0" err="1"/>
              <a:t>gcookbook</a:t>
            </a:r>
            <a:r>
              <a:rPr lang="en-US" dirty="0"/>
              <a:t>) </a:t>
            </a:r>
            <a:r>
              <a:rPr lang="en-US" i="1" dirty="0"/>
              <a:t># For the data set</a:t>
            </a:r>
          </a:p>
          <a:p>
            <a:pPr marL="457200" lvl="1" indent="0">
              <a:lnSpc>
                <a:spcPct val="150000"/>
              </a:lnSpc>
              <a:buNone/>
            </a:pPr>
            <a:r>
              <a:rPr lang="en-US" i="1" dirty="0"/>
              <a:t># Show the three columns we'll use</a:t>
            </a:r>
          </a:p>
          <a:p>
            <a:pPr marL="457200" lvl="1" indent="0">
              <a:lnSpc>
                <a:spcPct val="150000"/>
              </a:lnSpc>
              <a:buNone/>
            </a:pPr>
            <a:r>
              <a:rPr lang="en-US" dirty="0" err="1"/>
              <a:t>heightweight</a:t>
            </a:r>
            <a:r>
              <a:rPr lang="en-US" dirty="0"/>
              <a:t>[, c("sex", "</a:t>
            </a:r>
            <a:r>
              <a:rPr lang="en-US" dirty="0" err="1"/>
              <a:t>ageYear</a:t>
            </a:r>
            <a:r>
              <a:rPr lang="en-US" dirty="0"/>
              <a:t>", "</a:t>
            </a:r>
            <a:r>
              <a:rPr lang="en-US" dirty="0" err="1"/>
              <a:t>heightIn</a:t>
            </a:r>
            <a:r>
              <a:rPr lang="en-US" dirty="0"/>
              <a:t>")]</a:t>
            </a:r>
          </a:p>
        </p:txBody>
      </p:sp>
    </p:spTree>
    <p:extLst>
      <p:ext uri="{BB962C8B-B14F-4D97-AF65-F5344CB8AC3E}">
        <p14:creationId xmlns:p14="http://schemas.microsoft.com/office/powerpoint/2010/main" xmlns="" val="1728992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3639" y="811369"/>
            <a:ext cx="11281893" cy="5365594"/>
          </a:xfrm>
        </p:spPr>
        <p:txBody>
          <a:bodyPr>
            <a:normAutofit/>
          </a:bodyPr>
          <a:lstStyle/>
          <a:p>
            <a:r>
              <a:rPr lang="en-US" dirty="0"/>
              <a:t>We can group points on the variable sex, by mapping sex to one of the aesthetics </a:t>
            </a:r>
            <a:r>
              <a:rPr lang="en-US" dirty="0" err="1" smtClean="0"/>
              <a:t>colour</a:t>
            </a:r>
            <a:r>
              <a:rPr lang="en-US" dirty="0" smtClean="0"/>
              <a:t> or </a:t>
            </a:r>
            <a:r>
              <a:rPr lang="en-US" dirty="0"/>
              <a:t>shape </a:t>
            </a:r>
            <a:endParaRPr lang="en-US" dirty="0" smtClean="0"/>
          </a:p>
          <a:p>
            <a:r>
              <a:rPr lang="en-US" dirty="0"/>
              <a:t>The grouping variable must be categorical—in other words, a factor or character </a:t>
            </a:r>
            <a:r>
              <a:rPr lang="en-US" dirty="0" smtClean="0"/>
              <a:t>vector</a:t>
            </a:r>
          </a:p>
          <a:p>
            <a:r>
              <a:rPr lang="en-US" dirty="0"/>
              <a:t>If it is stored as a vector of numeric values, it should be converted to a factor before it </a:t>
            </a:r>
            <a:r>
              <a:rPr lang="en-US" dirty="0" smtClean="0"/>
              <a:t>is used </a:t>
            </a:r>
            <a:r>
              <a:rPr lang="en-US" dirty="0"/>
              <a:t>as a grouping variable.</a:t>
            </a:r>
          </a:p>
          <a:p>
            <a:pPr marL="0" indent="0">
              <a:lnSpc>
                <a:spcPct val="150000"/>
              </a:lnSpc>
              <a:buNone/>
            </a:pPr>
            <a:r>
              <a:rPr lang="en-US" dirty="0" err="1"/>
              <a:t>ggplot</a:t>
            </a:r>
            <a:r>
              <a:rPr lang="en-US" dirty="0"/>
              <a:t>(</a:t>
            </a:r>
            <a:r>
              <a:rPr lang="en-US" dirty="0" err="1"/>
              <a:t>heightweight</a:t>
            </a:r>
            <a:r>
              <a:rPr lang="en-US" dirty="0"/>
              <a:t>, </a:t>
            </a:r>
            <a:r>
              <a:rPr lang="en-US" dirty="0" err="1"/>
              <a:t>aes</a:t>
            </a:r>
            <a:r>
              <a:rPr lang="en-US" dirty="0"/>
              <a:t>(x=</a:t>
            </a:r>
            <a:r>
              <a:rPr lang="en-US" dirty="0" err="1"/>
              <a:t>ageYear</a:t>
            </a:r>
            <a:r>
              <a:rPr lang="en-US" dirty="0"/>
              <a:t>, y=</a:t>
            </a:r>
            <a:r>
              <a:rPr lang="en-US" dirty="0" err="1"/>
              <a:t>heightIn</a:t>
            </a:r>
            <a:r>
              <a:rPr lang="en-US" dirty="0"/>
              <a:t>, </a:t>
            </a:r>
            <a:r>
              <a:rPr lang="en-US" dirty="0" err="1"/>
              <a:t>colour</a:t>
            </a:r>
            <a:r>
              <a:rPr lang="en-US" dirty="0"/>
              <a:t>=sex)) + </a:t>
            </a:r>
            <a:r>
              <a:rPr lang="en-US" dirty="0" err="1"/>
              <a:t>geom_point</a:t>
            </a:r>
            <a:r>
              <a:rPr lang="en-US" dirty="0"/>
              <a:t>()</a:t>
            </a:r>
          </a:p>
          <a:p>
            <a:pPr marL="0" indent="0">
              <a:lnSpc>
                <a:spcPct val="150000"/>
              </a:lnSpc>
              <a:buNone/>
            </a:pPr>
            <a:r>
              <a:rPr lang="en-US" dirty="0" err="1"/>
              <a:t>ggplot</a:t>
            </a:r>
            <a:r>
              <a:rPr lang="en-US" dirty="0"/>
              <a:t>(</a:t>
            </a:r>
            <a:r>
              <a:rPr lang="en-US" dirty="0" err="1"/>
              <a:t>heightweight</a:t>
            </a:r>
            <a:r>
              <a:rPr lang="en-US" dirty="0"/>
              <a:t>, </a:t>
            </a:r>
            <a:r>
              <a:rPr lang="en-US" dirty="0" err="1"/>
              <a:t>aes</a:t>
            </a:r>
            <a:r>
              <a:rPr lang="en-US" dirty="0"/>
              <a:t>(x=</a:t>
            </a:r>
            <a:r>
              <a:rPr lang="en-US" dirty="0" err="1"/>
              <a:t>ageYear</a:t>
            </a:r>
            <a:r>
              <a:rPr lang="en-US" dirty="0"/>
              <a:t>, y=</a:t>
            </a:r>
            <a:r>
              <a:rPr lang="en-US" dirty="0" err="1"/>
              <a:t>heightIn</a:t>
            </a:r>
            <a:r>
              <a:rPr lang="en-US" dirty="0"/>
              <a:t>, shape=sex)) + </a:t>
            </a:r>
            <a:r>
              <a:rPr lang="en-US" dirty="0" err="1"/>
              <a:t>geom_point</a:t>
            </a:r>
            <a:r>
              <a:rPr lang="en-US" dirty="0"/>
              <a:t>()</a:t>
            </a:r>
          </a:p>
        </p:txBody>
      </p:sp>
    </p:spTree>
    <p:extLst>
      <p:ext uri="{BB962C8B-B14F-4D97-AF65-F5344CB8AC3E}">
        <p14:creationId xmlns:p14="http://schemas.microsoft.com/office/powerpoint/2010/main" xmlns="" val="16737067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15155"/>
            <a:ext cx="10515600" cy="5661808"/>
          </a:xfrm>
        </p:spPr>
        <p:txBody>
          <a:bodyPr/>
          <a:lstStyle/>
          <a:p>
            <a:r>
              <a:rPr lang="en-US" dirty="0"/>
              <a:t>It is possible to map a variable to both shape and </a:t>
            </a:r>
            <a:r>
              <a:rPr lang="en-US" dirty="0" err="1"/>
              <a:t>colour</a:t>
            </a:r>
            <a:r>
              <a:rPr lang="en-US" dirty="0"/>
              <a:t>, or, if you have multiple </a:t>
            </a:r>
            <a:r>
              <a:rPr lang="en-US" dirty="0" smtClean="0"/>
              <a:t>grouping variables</a:t>
            </a:r>
            <a:r>
              <a:rPr lang="en-US" dirty="0"/>
              <a:t>, to map different variables to them</a:t>
            </a:r>
            <a:r>
              <a:rPr lang="en-US" dirty="0" smtClean="0"/>
              <a:t>.</a:t>
            </a:r>
          </a:p>
          <a:p>
            <a:pPr marL="0" indent="0">
              <a:lnSpc>
                <a:spcPct val="150000"/>
              </a:lnSpc>
              <a:buNone/>
            </a:pPr>
            <a:r>
              <a:rPr lang="en-US" dirty="0" err="1"/>
              <a:t>ggplot</a:t>
            </a:r>
            <a:r>
              <a:rPr lang="en-US" dirty="0"/>
              <a:t>(</a:t>
            </a:r>
            <a:r>
              <a:rPr lang="en-US" dirty="0" err="1"/>
              <a:t>heightweight</a:t>
            </a:r>
            <a:r>
              <a:rPr lang="en-US" dirty="0"/>
              <a:t>, </a:t>
            </a:r>
            <a:r>
              <a:rPr lang="en-US" dirty="0" err="1"/>
              <a:t>aes</a:t>
            </a:r>
            <a:r>
              <a:rPr lang="en-US" dirty="0"/>
              <a:t>(x=</a:t>
            </a:r>
            <a:r>
              <a:rPr lang="en-US" dirty="0" err="1"/>
              <a:t>ageYear</a:t>
            </a:r>
            <a:r>
              <a:rPr lang="en-US" dirty="0"/>
              <a:t>, y=</a:t>
            </a:r>
            <a:r>
              <a:rPr lang="en-US" dirty="0" err="1"/>
              <a:t>heightIn</a:t>
            </a:r>
            <a:r>
              <a:rPr lang="en-US" dirty="0"/>
              <a:t>, shape=sex, </a:t>
            </a:r>
            <a:r>
              <a:rPr lang="en-US" dirty="0" err="1"/>
              <a:t>colour</a:t>
            </a:r>
            <a:r>
              <a:rPr lang="en-US" dirty="0"/>
              <a:t>=sex)) </a:t>
            </a:r>
            <a:r>
              <a:rPr lang="en-US" dirty="0" smtClean="0"/>
              <a:t>+ </a:t>
            </a:r>
            <a:r>
              <a:rPr lang="en-US" dirty="0" err="1" smtClean="0"/>
              <a:t>geom_point</a:t>
            </a:r>
            <a:r>
              <a:rPr lang="en-US" dirty="0" smtClean="0"/>
              <a:t>()</a:t>
            </a:r>
          </a:p>
          <a:p>
            <a:r>
              <a:rPr lang="en-US" dirty="0"/>
              <a:t>The default shapes and colors may not be very appealing. Other shapes can be used </a:t>
            </a:r>
            <a:r>
              <a:rPr lang="en-US" dirty="0" smtClean="0"/>
              <a:t>with </a:t>
            </a:r>
            <a:r>
              <a:rPr lang="en-US" dirty="0" err="1" smtClean="0"/>
              <a:t>scale_shape_manual</a:t>
            </a:r>
            <a:r>
              <a:rPr lang="en-US" dirty="0"/>
              <a:t>(), and other colors can be used with </a:t>
            </a:r>
            <a:r>
              <a:rPr lang="en-US" dirty="0" err="1"/>
              <a:t>scale_colour_brewer</a:t>
            </a:r>
            <a:r>
              <a:rPr lang="en-US" dirty="0"/>
              <a:t>() </a:t>
            </a:r>
            <a:r>
              <a:rPr lang="en-US" dirty="0" smtClean="0"/>
              <a:t>or </a:t>
            </a:r>
            <a:r>
              <a:rPr lang="en-US" dirty="0" err="1" smtClean="0"/>
              <a:t>scale_colour_manual</a:t>
            </a:r>
            <a:r>
              <a:rPr lang="en-US" dirty="0" smtClean="0"/>
              <a:t>().</a:t>
            </a:r>
          </a:p>
          <a:p>
            <a:pPr marL="0" indent="0">
              <a:lnSpc>
                <a:spcPct val="150000"/>
              </a:lnSpc>
              <a:buNone/>
            </a:pPr>
            <a:r>
              <a:rPr lang="en-US" dirty="0" err="1"/>
              <a:t>ggplot</a:t>
            </a:r>
            <a:r>
              <a:rPr lang="en-US" dirty="0"/>
              <a:t>(</a:t>
            </a:r>
            <a:r>
              <a:rPr lang="en-US" dirty="0" err="1"/>
              <a:t>heightweight</a:t>
            </a:r>
            <a:r>
              <a:rPr lang="en-US" dirty="0"/>
              <a:t>, </a:t>
            </a:r>
            <a:r>
              <a:rPr lang="en-US" dirty="0" err="1"/>
              <a:t>aes</a:t>
            </a:r>
            <a:r>
              <a:rPr lang="en-US" dirty="0"/>
              <a:t>(x=</a:t>
            </a:r>
            <a:r>
              <a:rPr lang="en-US" dirty="0" err="1"/>
              <a:t>ageYear</a:t>
            </a:r>
            <a:r>
              <a:rPr lang="en-US" dirty="0"/>
              <a:t>, y=</a:t>
            </a:r>
            <a:r>
              <a:rPr lang="en-US" dirty="0" err="1"/>
              <a:t>heightIn</a:t>
            </a:r>
            <a:r>
              <a:rPr lang="en-US" dirty="0"/>
              <a:t>, shape=sex, </a:t>
            </a:r>
            <a:r>
              <a:rPr lang="en-US" dirty="0" err="1"/>
              <a:t>colour</a:t>
            </a:r>
            <a:r>
              <a:rPr lang="en-US" dirty="0"/>
              <a:t>=sex)) </a:t>
            </a:r>
            <a:r>
              <a:rPr lang="en-US" dirty="0" smtClean="0"/>
              <a:t>+ </a:t>
            </a:r>
            <a:r>
              <a:rPr lang="en-US" dirty="0" err="1" smtClean="0"/>
              <a:t>geom_point</a:t>
            </a:r>
            <a:r>
              <a:rPr lang="en-US" dirty="0"/>
              <a:t>() </a:t>
            </a:r>
            <a:r>
              <a:rPr lang="en-US" dirty="0" smtClean="0"/>
              <a:t>+ </a:t>
            </a:r>
            <a:r>
              <a:rPr lang="en-US" dirty="0" err="1" smtClean="0"/>
              <a:t>scale_shape_manual</a:t>
            </a:r>
            <a:r>
              <a:rPr lang="en-US" dirty="0" smtClean="0"/>
              <a:t>(values=c(1,2</a:t>
            </a:r>
            <a:r>
              <a:rPr lang="en-US" dirty="0"/>
              <a:t>)) </a:t>
            </a:r>
            <a:r>
              <a:rPr lang="en-US" dirty="0" smtClean="0"/>
              <a:t>+ </a:t>
            </a:r>
            <a:r>
              <a:rPr lang="en-US" dirty="0" err="1" smtClean="0"/>
              <a:t>scale_colour_brewer</a:t>
            </a:r>
            <a:r>
              <a:rPr lang="en-US" dirty="0" smtClean="0"/>
              <a:t>(palette</a:t>
            </a:r>
            <a:r>
              <a:rPr lang="en-US" dirty="0"/>
              <a:t>="Set1")</a:t>
            </a:r>
          </a:p>
        </p:txBody>
      </p:sp>
    </p:spTree>
    <p:extLst>
      <p:ext uri="{BB962C8B-B14F-4D97-AF65-F5344CB8AC3E}">
        <p14:creationId xmlns:p14="http://schemas.microsoft.com/office/powerpoint/2010/main" xmlns="" val="2138180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8585" y="574431"/>
            <a:ext cx="10955215" cy="5602532"/>
          </a:xfrm>
        </p:spPr>
        <p:txBody>
          <a:bodyPr/>
          <a:lstStyle/>
          <a:p>
            <a:r>
              <a:rPr lang="en-US" dirty="0"/>
              <a:t>It’s possible to have the shape represent one variable and the fill (empty or solid) </a:t>
            </a:r>
            <a:r>
              <a:rPr lang="en-US" dirty="0" smtClean="0"/>
              <a:t>represent another variable</a:t>
            </a:r>
          </a:p>
          <a:p>
            <a:r>
              <a:rPr lang="en-US" dirty="0"/>
              <a:t>This is done a little indirectly, by choosing shapes that have </a:t>
            </a:r>
            <a:r>
              <a:rPr lang="en-US" dirty="0" smtClean="0"/>
              <a:t>both </a:t>
            </a:r>
            <a:r>
              <a:rPr lang="en-US" dirty="0" err="1" smtClean="0"/>
              <a:t>colour</a:t>
            </a:r>
            <a:r>
              <a:rPr lang="en-US" dirty="0" smtClean="0"/>
              <a:t> </a:t>
            </a:r>
            <a:r>
              <a:rPr lang="en-US" dirty="0"/>
              <a:t>and fill, and a color palette that includes NA and another color (the NA </a:t>
            </a:r>
            <a:r>
              <a:rPr lang="en-US" dirty="0" smtClean="0"/>
              <a:t>will result </a:t>
            </a:r>
            <a:r>
              <a:rPr lang="en-US" dirty="0"/>
              <a:t>in a hollow shape</a:t>
            </a:r>
            <a:r>
              <a:rPr lang="en-US" dirty="0" smtClean="0"/>
              <a:t>).</a:t>
            </a:r>
          </a:p>
          <a:p>
            <a:endParaRPr lang="en-US" dirty="0"/>
          </a:p>
        </p:txBody>
      </p:sp>
    </p:spTree>
    <p:extLst>
      <p:ext uri="{BB962C8B-B14F-4D97-AF65-F5344CB8AC3E}">
        <p14:creationId xmlns:p14="http://schemas.microsoft.com/office/powerpoint/2010/main" xmlns="" val="2594383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1692" y="410308"/>
            <a:ext cx="11002108" cy="5766655"/>
          </a:xfrm>
        </p:spPr>
        <p:txBody>
          <a:bodyPr>
            <a:normAutofit/>
          </a:bodyPr>
          <a:lstStyle/>
          <a:p>
            <a:pPr marL="0" indent="0">
              <a:buNone/>
            </a:pPr>
            <a:r>
              <a:rPr lang="en-US" i="1" dirty="0"/>
              <a:t># Make a copy of the data</a:t>
            </a:r>
          </a:p>
          <a:p>
            <a:pPr marL="457200" lvl="1" indent="0">
              <a:buNone/>
            </a:pPr>
            <a:r>
              <a:rPr lang="en-US" dirty="0" err="1"/>
              <a:t>hw</a:t>
            </a:r>
            <a:r>
              <a:rPr lang="en-US" dirty="0"/>
              <a:t> &lt;- </a:t>
            </a:r>
            <a:r>
              <a:rPr lang="en-US" dirty="0" err="1"/>
              <a:t>heightweight</a:t>
            </a:r>
            <a:endParaRPr lang="en-US" dirty="0"/>
          </a:p>
          <a:p>
            <a:pPr marL="0" indent="0">
              <a:buNone/>
            </a:pPr>
            <a:r>
              <a:rPr lang="en-US" i="1" dirty="0"/>
              <a:t># Categorize into &lt;100 and &gt;=100 groups</a:t>
            </a:r>
          </a:p>
          <a:p>
            <a:pPr marL="457200" lvl="1" indent="0">
              <a:buNone/>
            </a:pPr>
            <a:r>
              <a:rPr lang="en-US" dirty="0" err="1"/>
              <a:t>hw$weightGroup</a:t>
            </a:r>
            <a:r>
              <a:rPr lang="en-US" dirty="0"/>
              <a:t> &lt;- cut(</a:t>
            </a:r>
            <a:r>
              <a:rPr lang="en-US" dirty="0" err="1"/>
              <a:t>hw$weightLb</a:t>
            </a:r>
            <a:r>
              <a:rPr lang="en-US" dirty="0"/>
              <a:t>, breaks=c(-</a:t>
            </a:r>
            <a:r>
              <a:rPr lang="en-US" dirty="0" err="1"/>
              <a:t>Inf</a:t>
            </a:r>
            <a:r>
              <a:rPr lang="en-US" dirty="0"/>
              <a:t>, 100, </a:t>
            </a:r>
            <a:r>
              <a:rPr lang="en-US" dirty="0" err="1"/>
              <a:t>Inf</a:t>
            </a:r>
            <a:r>
              <a:rPr lang="en-US" dirty="0" smtClean="0"/>
              <a:t>), labels=c</a:t>
            </a:r>
            <a:r>
              <a:rPr lang="en-US" dirty="0"/>
              <a:t>("&lt; 100", "&gt;= 100"))</a:t>
            </a:r>
          </a:p>
          <a:p>
            <a:pPr marL="0" indent="0">
              <a:buNone/>
            </a:pPr>
            <a:r>
              <a:rPr lang="en-US" i="1" dirty="0"/>
              <a:t># Use shapes with fill and color, and use colors that are empty (NA) </a:t>
            </a:r>
            <a:r>
              <a:rPr lang="en-US" i="1" dirty="0" smtClean="0"/>
              <a:t>and # </a:t>
            </a:r>
            <a:r>
              <a:rPr lang="en-US" i="1" dirty="0"/>
              <a:t>filled</a:t>
            </a:r>
          </a:p>
          <a:p>
            <a:pPr marL="457200" lvl="1" indent="0">
              <a:buNone/>
            </a:pPr>
            <a:r>
              <a:rPr lang="en-US" dirty="0" err="1"/>
              <a:t>ggplot</a:t>
            </a:r>
            <a:r>
              <a:rPr lang="en-US" dirty="0"/>
              <a:t>(</a:t>
            </a:r>
            <a:r>
              <a:rPr lang="en-US" dirty="0" err="1"/>
              <a:t>hw</a:t>
            </a:r>
            <a:r>
              <a:rPr lang="en-US" dirty="0"/>
              <a:t>, </a:t>
            </a:r>
            <a:r>
              <a:rPr lang="en-US" dirty="0" err="1"/>
              <a:t>aes</a:t>
            </a:r>
            <a:r>
              <a:rPr lang="en-US" dirty="0"/>
              <a:t>(x=</a:t>
            </a:r>
            <a:r>
              <a:rPr lang="en-US" dirty="0" err="1"/>
              <a:t>ageYear</a:t>
            </a:r>
            <a:r>
              <a:rPr lang="en-US" dirty="0"/>
              <a:t>, y=</a:t>
            </a:r>
            <a:r>
              <a:rPr lang="en-US" dirty="0" err="1"/>
              <a:t>heightIn</a:t>
            </a:r>
            <a:r>
              <a:rPr lang="en-US" dirty="0"/>
              <a:t>, shape=sex, fill=</a:t>
            </a:r>
            <a:r>
              <a:rPr lang="en-US" dirty="0" err="1"/>
              <a:t>weightGroup</a:t>
            </a:r>
            <a:r>
              <a:rPr lang="en-US" dirty="0"/>
              <a:t>)) +</a:t>
            </a:r>
          </a:p>
          <a:p>
            <a:pPr marL="457200" lvl="1" indent="0">
              <a:buNone/>
            </a:pPr>
            <a:r>
              <a:rPr lang="en-US" dirty="0" err="1"/>
              <a:t>geom_point</a:t>
            </a:r>
            <a:r>
              <a:rPr lang="en-US" dirty="0"/>
              <a:t>(size=2.5) +</a:t>
            </a:r>
          </a:p>
          <a:p>
            <a:pPr marL="457200" lvl="1" indent="0">
              <a:buNone/>
            </a:pPr>
            <a:r>
              <a:rPr lang="en-US" dirty="0" err="1"/>
              <a:t>scale_shape_manual</a:t>
            </a:r>
            <a:r>
              <a:rPr lang="en-US" dirty="0"/>
              <a:t>(values=c(21, 24)) +</a:t>
            </a:r>
          </a:p>
          <a:p>
            <a:pPr marL="457200" lvl="1" indent="0">
              <a:buNone/>
            </a:pPr>
            <a:r>
              <a:rPr lang="en-US" dirty="0" err="1"/>
              <a:t>scale_fill_manual</a:t>
            </a:r>
            <a:r>
              <a:rPr lang="en-US" dirty="0"/>
              <a:t>(values=c(</a:t>
            </a:r>
            <a:r>
              <a:rPr lang="en-US" b="1" dirty="0"/>
              <a:t>NA</a:t>
            </a:r>
            <a:r>
              <a:rPr lang="en-US" dirty="0"/>
              <a:t>, "black"),</a:t>
            </a:r>
          </a:p>
          <a:p>
            <a:pPr marL="457200" lvl="1" indent="0">
              <a:buNone/>
            </a:pPr>
            <a:r>
              <a:rPr lang="en-US" dirty="0"/>
              <a:t>guide=</a:t>
            </a:r>
            <a:r>
              <a:rPr lang="en-US" dirty="0" err="1"/>
              <a:t>guide_legend</a:t>
            </a:r>
            <a:r>
              <a:rPr lang="en-US" dirty="0"/>
              <a:t>(</a:t>
            </a:r>
            <a:r>
              <a:rPr lang="en-US" dirty="0" err="1"/>
              <a:t>override.aes</a:t>
            </a:r>
            <a:r>
              <a:rPr lang="en-US" dirty="0"/>
              <a:t>=list(shape=21)))</a:t>
            </a:r>
          </a:p>
        </p:txBody>
      </p:sp>
    </p:spTree>
    <p:extLst>
      <p:ext uri="{BB962C8B-B14F-4D97-AF65-F5344CB8AC3E}">
        <p14:creationId xmlns:p14="http://schemas.microsoft.com/office/powerpoint/2010/main" xmlns="" val="3760990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Calibri "/>
              </a:rPr>
              <a:t>Mapping a Continuous Variable to Color or Size</a:t>
            </a:r>
          </a:p>
        </p:txBody>
      </p:sp>
      <p:sp>
        <p:nvSpPr>
          <p:cNvPr id="3" name="Content Placeholder 2"/>
          <p:cNvSpPr>
            <a:spLocks noGrp="1"/>
          </p:cNvSpPr>
          <p:nvPr>
            <p:ph idx="1"/>
          </p:nvPr>
        </p:nvSpPr>
        <p:spPr>
          <a:xfrm>
            <a:off x="621323" y="1301262"/>
            <a:ext cx="10732477" cy="4875701"/>
          </a:xfrm>
        </p:spPr>
        <p:txBody>
          <a:bodyPr/>
          <a:lstStyle/>
          <a:p>
            <a:r>
              <a:rPr lang="en-US" dirty="0"/>
              <a:t>Map the continuous variable to size or </a:t>
            </a:r>
            <a:r>
              <a:rPr lang="en-US" dirty="0" err="1"/>
              <a:t>colour</a:t>
            </a:r>
            <a:r>
              <a:rPr lang="en-US" dirty="0"/>
              <a:t>. In the </a:t>
            </a:r>
            <a:r>
              <a:rPr lang="en-US" dirty="0" err="1"/>
              <a:t>heightweight</a:t>
            </a:r>
            <a:r>
              <a:rPr lang="en-US" dirty="0"/>
              <a:t> data set, there are many columns, but we’ll only use four of them in this example:</a:t>
            </a:r>
          </a:p>
          <a:p>
            <a:pPr marL="0" indent="0">
              <a:buNone/>
            </a:pPr>
            <a:r>
              <a:rPr lang="en-US" sz="2400" dirty="0" smtClean="0"/>
              <a:t>	library(</a:t>
            </a:r>
            <a:r>
              <a:rPr lang="en-US" sz="2400" dirty="0" err="1" smtClean="0"/>
              <a:t>gcookbook</a:t>
            </a:r>
            <a:r>
              <a:rPr lang="en-US" sz="2400" dirty="0"/>
              <a:t>) # For the data set</a:t>
            </a:r>
          </a:p>
          <a:p>
            <a:pPr marL="0" indent="0">
              <a:buNone/>
            </a:pPr>
            <a:r>
              <a:rPr lang="en-US" sz="2400" dirty="0" smtClean="0"/>
              <a:t>	# </a:t>
            </a:r>
            <a:r>
              <a:rPr lang="en-US" sz="2400" dirty="0"/>
              <a:t>List the four columns we'll use </a:t>
            </a:r>
            <a:r>
              <a:rPr lang="en-US" sz="2400" dirty="0" err="1"/>
              <a:t>heightweight</a:t>
            </a:r>
            <a:r>
              <a:rPr lang="en-US" sz="2400" dirty="0"/>
              <a:t>[, c("sex", "</a:t>
            </a:r>
            <a:r>
              <a:rPr lang="en-US" sz="2400" dirty="0" err="1"/>
              <a:t>ageYear</a:t>
            </a:r>
            <a:r>
              <a:rPr lang="en-US" sz="2400" dirty="0"/>
              <a:t>", "</a:t>
            </a:r>
            <a:r>
              <a:rPr lang="en-US" sz="2400" dirty="0" err="1"/>
              <a:t>heightIn</a:t>
            </a:r>
            <a:r>
              <a:rPr lang="en-US" sz="2400" dirty="0"/>
              <a:t>", </a:t>
            </a:r>
            <a:r>
              <a:rPr lang="en-US" sz="2400" dirty="0" smtClean="0"/>
              <a:t>	"</a:t>
            </a:r>
            <a:r>
              <a:rPr lang="en-US" sz="2400" dirty="0" err="1"/>
              <a:t>weightLb</a:t>
            </a:r>
            <a:r>
              <a:rPr lang="en-US" sz="2400" dirty="0" smtClean="0"/>
              <a:t>")]</a:t>
            </a:r>
          </a:p>
          <a:p>
            <a:pPr marL="0" indent="0">
              <a:buNone/>
            </a:pPr>
            <a:r>
              <a:rPr lang="en-US" sz="2400" dirty="0" smtClean="0"/>
              <a:t> </a:t>
            </a:r>
            <a:endParaRPr lang="en-US" sz="2400" dirty="0"/>
          </a:p>
        </p:txBody>
      </p:sp>
    </p:spTree>
    <p:extLst>
      <p:ext uri="{BB962C8B-B14F-4D97-AF65-F5344CB8AC3E}">
        <p14:creationId xmlns:p14="http://schemas.microsoft.com/office/powerpoint/2010/main" xmlns="" val="20802422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1355" y="410308"/>
            <a:ext cx="11072446" cy="5766655"/>
          </a:xfrm>
        </p:spPr>
        <p:txBody>
          <a:bodyPr/>
          <a:lstStyle/>
          <a:p>
            <a:r>
              <a:rPr lang="en-US" sz="2400" dirty="0" smtClean="0"/>
              <a:t>The </a:t>
            </a:r>
            <a:r>
              <a:rPr lang="en-US" sz="2400" dirty="0"/>
              <a:t>basic scatter plot </a:t>
            </a:r>
            <a:r>
              <a:rPr lang="en-US" sz="2400" dirty="0" smtClean="0"/>
              <a:t>shows </a:t>
            </a:r>
            <a:r>
              <a:rPr lang="en-US" sz="2400" dirty="0"/>
              <a:t>the relationship between the continuous variables </a:t>
            </a:r>
            <a:r>
              <a:rPr lang="en-US" sz="2400" dirty="0" err="1"/>
              <a:t>ageYear</a:t>
            </a:r>
            <a:r>
              <a:rPr lang="en-US" sz="2400" dirty="0"/>
              <a:t> and </a:t>
            </a:r>
            <a:r>
              <a:rPr lang="en-US" sz="2400" dirty="0" err="1"/>
              <a:t>heightIn</a:t>
            </a:r>
            <a:r>
              <a:rPr lang="en-US" sz="2400" dirty="0"/>
              <a:t>. To represent a third continuous variable, </a:t>
            </a:r>
            <a:r>
              <a:rPr lang="en-US" sz="2400" dirty="0" err="1"/>
              <a:t>weightLb</a:t>
            </a:r>
            <a:r>
              <a:rPr lang="en-US" sz="2400" dirty="0"/>
              <a:t>, we must map it to another aesthetic property.</a:t>
            </a:r>
          </a:p>
          <a:p>
            <a:pPr marL="0" indent="0">
              <a:buNone/>
            </a:pPr>
            <a:r>
              <a:rPr lang="en-US" sz="2400" dirty="0" smtClean="0"/>
              <a:t>	 </a:t>
            </a:r>
            <a:r>
              <a:rPr lang="en-US" sz="2400" dirty="0" err="1"/>
              <a:t>ggplot</a:t>
            </a:r>
            <a:r>
              <a:rPr lang="en-US" sz="2400" dirty="0"/>
              <a:t>(</a:t>
            </a:r>
            <a:r>
              <a:rPr lang="en-US" sz="2400" dirty="0" err="1"/>
              <a:t>heightweight</a:t>
            </a:r>
            <a:r>
              <a:rPr lang="en-US" sz="2400" dirty="0"/>
              <a:t>, </a:t>
            </a:r>
            <a:r>
              <a:rPr lang="en-US" sz="2400" dirty="0" err="1"/>
              <a:t>aes</a:t>
            </a:r>
            <a:r>
              <a:rPr lang="en-US" sz="2400" dirty="0"/>
              <a:t>(x=</a:t>
            </a:r>
            <a:r>
              <a:rPr lang="en-US" sz="2400" dirty="0" err="1"/>
              <a:t>ageYear</a:t>
            </a:r>
            <a:r>
              <a:rPr lang="en-US" sz="2400" dirty="0"/>
              <a:t>, y=</a:t>
            </a:r>
            <a:r>
              <a:rPr lang="en-US" sz="2400" dirty="0" err="1"/>
              <a:t>heightIn</a:t>
            </a:r>
            <a:r>
              <a:rPr lang="en-US" sz="2400" dirty="0"/>
              <a:t>, </a:t>
            </a:r>
            <a:r>
              <a:rPr lang="en-US" sz="2400" dirty="0" err="1"/>
              <a:t>colour</a:t>
            </a:r>
            <a:r>
              <a:rPr lang="en-US" sz="2400" dirty="0"/>
              <a:t>=</a:t>
            </a:r>
            <a:r>
              <a:rPr lang="en-US" sz="2400" dirty="0" err="1"/>
              <a:t>weightLb</a:t>
            </a:r>
            <a:r>
              <a:rPr lang="en-US" sz="2400" dirty="0"/>
              <a:t>)) + </a:t>
            </a:r>
            <a:r>
              <a:rPr lang="en-US" sz="2400" dirty="0" err="1"/>
              <a:t>geom_point</a:t>
            </a:r>
            <a:r>
              <a:rPr lang="en-US" sz="2400" dirty="0"/>
              <a:t>()</a:t>
            </a:r>
          </a:p>
          <a:p>
            <a:pPr marL="0" indent="0">
              <a:buNone/>
            </a:pPr>
            <a:r>
              <a:rPr lang="en-US" sz="2400" dirty="0" smtClean="0"/>
              <a:t>	</a:t>
            </a:r>
            <a:r>
              <a:rPr lang="en-US" sz="2400" dirty="0" err="1" smtClean="0"/>
              <a:t>ggplot</a:t>
            </a:r>
            <a:r>
              <a:rPr lang="en-US" sz="2400" dirty="0" smtClean="0"/>
              <a:t>(</a:t>
            </a:r>
            <a:r>
              <a:rPr lang="en-US" sz="2400" dirty="0" err="1" smtClean="0"/>
              <a:t>heightweight</a:t>
            </a:r>
            <a:r>
              <a:rPr lang="en-US" sz="2400" dirty="0"/>
              <a:t>, </a:t>
            </a:r>
            <a:r>
              <a:rPr lang="en-US" sz="2400" dirty="0" err="1"/>
              <a:t>aes</a:t>
            </a:r>
            <a:r>
              <a:rPr lang="en-US" sz="2400" dirty="0"/>
              <a:t>(x=</a:t>
            </a:r>
            <a:r>
              <a:rPr lang="en-US" sz="2400" dirty="0" err="1"/>
              <a:t>ageYear</a:t>
            </a:r>
            <a:r>
              <a:rPr lang="en-US" sz="2400" dirty="0"/>
              <a:t>, y=</a:t>
            </a:r>
            <a:r>
              <a:rPr lang="en-US" sz="2400" dirty="0" err="1"/>
              <a:t>heightIn</a:t>
            </a:r>
            <a:r>
              <a:rPr lang="en-US" sz="2400" dirty="0"/>
              <a:t>, size=</a:t>
            </a:r>
            <a:r>
              <a:rPr lang="en-US" sz="2400" dirty="0" err="1"/>
              <a:t>weightLb</a:t>
            </a:r>
            <a:r>
              <a:rPr lang="en-US" sz="2400" dirty="0"/>
              <a:t>)) + </a:t>
            </a:r>
            <a:r>
              <a:rPr lang="en-US" sz="2400" dirty="0" err="1"/>
              <a:t>geom_point</a:t>
            </a:r>
            <a:r>
              <a:rPr lang="en-US" sz="2400" dirty="0"/>
              <a:t>()</a:t>
            </a:r>
          </a:p>
          <a:p>
            <a:pPr marL="0" indent="0">
              <a:buNone/>
            </a:pPr>
            <a:endParaRPr lang="en-US" sz="2400" dirty="0"/>
          </a:p>
        </p:txBody>
      </p:sp>
    </p:spTree>
    <p:extLst>
      <p:ext uri="{BB962C8B-B14F-4D97-AF65-F5344CB8AC3E}">
        <p14:creationId xmlns:p14="http://schemas.microsoft.com/office/powerpoint/2010/main" xmlns="" val="33391003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231" y="154110"/>
            <a:ext cx="10515600" cy="1325563"/>
          </a:xfrm>
        </p:spPr>
        <p:txBody>
          <a:bodyPr>
            <a:normAutofit/>
          </a:bodyPr>
          <a:lstStyle/>
          <a:p>
            <a:r>
              <a:rPr lang="en-US" sz="2400" b="1" dirty="0">
                <a:latin typeface="Calibri "/>
              </a:rPr>
              <a:t>Adding Fitted Regression Model Lines</a:t>
            </a:r>
          </a:p>
        </p:txBody>
      </p:sp>
      <p:sp>
        <p:nvSpPr>
          <p:cNvPr id="3" name="Content Placeholder 2"/>
          <p:cNvSpPr>
            <a:spLocks noGrp="1"/>
          </p:cNvSpPr>
          <p:nvPr>
            <p:ph idx="1"/>
          </p:nvPr>
        </p:nvSpPr>
        <p:spPr>
          <a:xfrm>
            <a:off x="838200" y="1326524"/>
            <a:ext cx="10515600" cy="4850439"/>
          </a:xfrm>
        </p:spPr>
        <p:txBody>
          <a:bodyPr>
            <a:normAutofit fontScale="85000" lnSpcReduction="20000"/>
          </a:bodyPr>
          <a:lstStyle/>
          <a:p>
            <a:r>
              <a:rPr lang="en-US" dirty="0"/>
              <a:t>To add a linear regression line to a scatter plot, add </a:t>
            </a:r>
            <a:r>
              <a:rPr lang="en-US" dirty="0" err="1"/>
              <a:t>stat_smooth</a:t>
            </a:r>
            <a:r>
              <a:rPr lang="en-US" dirty="0"/>
              <a:t>() and tell it to use method=lm. </a:t>
            </a:r>
            <a:endParaRPr lang="en-US" dirty="0" smtClean="0"/>
          </a:p>
          <a:p>
            <a:r>
              <a:rPr lang="en-US" dirty="0" smtClean="0"/>
              <a:t>This </a:t>
            </a:r>
            <a:r>
              <a:rPr lang="en-US" dirty="0"/>
              <a:t>instructs it to fit the data with the lm() (linear model) function. First we’ll save the base plot object in </a:t>
            </a:r>
            <a:r>
              <a:rPr lang="en-US" dirty="0" err="1"/>
              <a:t>sp</a:t>
            </a:r>
            <a:r>
              <a:rPr lang="en-US" dirty="0"/>
              <a:t>, then we’ll add different components to it:</a:t>
            </a:r>
          </a:p>
          <a:p>
            <a:pPr marL="0" indent="0">
              <a:buNone/>
            </a:pPr>
            <a:r>
              <a:rPr lang="en-US" dirty="0" smtClean="0"/>
              <a:t>	library(</a:t>
            </a:r>
            <a:r>
              <a:rPr lang="en-US" dirty="0" err="1" smtClean="0"/>
              <a:t>gcookbook</a:t>
            </a:r>
            <a:r>
              <a:rPr lang="en-US" dirty="0"/>
              <a:t>) # For the data set</a:t>
            </a:r>
          </a:p>
          <a:p>
            <a:pPr marL="0" indent="0">
              <a:buNone/>
            </a:pPr>
            <a:r>
              <a:rPr lang="en-US" dirty="0" smtClean="0"/>
              <a:t>	# </a:t>
            </a:r>
            <a:r>
              <a:rPr lang="en-US" dirty="0"/>
              <a:t>The base plot </a:t>
            </a:r>
            <a:r>
              <a:rPr lang="en-US" dirty="0" err="1"/>
              <a:t>sp</a:t>
            </a:r>
            <a:r>
              <a:rPr lang="en-US" dirty="0"/>
              <a:t> &lt;- </a:t>
            </a:r>
            <a:r>
              <a:rPr lang="en-US" dirty="0" err="1"/>
              <a:t>ggplot</a:t>
            </a:r>
            <a:r>
              <a:rPr lang="en-US" dirty="0"/>
              <a:t>(</a:t>
            </a:r>
            <a:r>
              <a:rPr lang="en-US" dirty="0" err="1"/>
              <a:t>heightweight</a:t>
            </a:r>
            <a:r>
              <a:rPr lang="en-US" dirty="0"/>
              <a:t>, </a:t>
            </a:r>
            <a:r>
              <a:rPr lang="en-US" dirty="0" err="1"/>
              <a:t>aes</a:t>
            </a:r>
            <a:r>
              <a:rPr lang="en-US" dirty="0"/>
              <a:t>(x=</a:t>
            </a:r>
            <a:r>
              <a:rPr lang="en-US" dirty="0" err="1"/>
              <a:t>ageYear</a:t>
            </a:r>
            <a:r>
              <a:rPr lang="en-US" dirty="0"/>
              <a:t>, y=</a:t>
            </a:r>
            <a:r>
              <a:rPr lang="en-US" dirty="0" err="1"/>
              <a:t>heightIn</a:t>
            </a:r>
            <a:r>
              <a:rPr lang="en-US" dirty="0"/>
              <a:t>))</a:t>
            </a:r>
          </a:p>
          <a:p>
            <a:pPr marL="0" indent="0">
              <a:buNone/>
            </a:pPr>
            <a:r>
              <a:rPr lang="en-US" dirty="0" smtClean="0"/>
              <a:t>	</a:t>
            </a:r>
            <a:r>
              <a:rPr lang="en-US" dirty="0" err="1" smtClean="0"/>
              <a:t>sp</a:t>
            </a:r>
            <a:r>
              <a:rPr lang="en-US" dirty="0" smtClean="0"/>
              <a:t> </a:t>
            </a:r>
            <a:r>
              <a:rPr lang="en-US" dirty="0"/>
              <a:t>+ </a:t>
            </a:r>
            <a:r>
              <a:rPr lang="en-US" dirty="0" err="1"/>
              <a:t>geom_point</a:t>
            </a:r>
            <a:r>
              <a:rPr lang="en-US" dirty="0"/>
              <a:t>() + </a:t>
            </a:r>
            <a:r>
              <a:rPr lang="en-US" dirty="0" err="1"/>
              <a:t>stat_smooth</a:t>
            </a:r>
            <a:r>
              <a:rPr lang="en-US" dirty="0"/>
              <a:t>(method=lm) </a:t>
            </a:r>
            <a:endParaRPr lang="en-US" dirty="0" smtClean="0"/>
          </a:p>
          <a:p>
            <a:r>
              <a:rPr lang="en-US" dirty="0" smtClean="0"/>
              <a:t>By </a:t>
            </a:r>
            <a:r>
              <a:rPr lang="en-US" dirty="0"/>
              <a:t>default, </a:t>
            </a:r>
            <a:r>
              <a:rPr lang="en-US" dirty="0" err="1"/>
              <a:t>stat_smooth</a:t>
            </a:r>
            <a:r>
              <a:rPr lang="en-US" dirty="0"/>
              <a:t>() also adds a 95% confidence region for the regression fit. The confidence interval can be changed by setting level, or it can be disabled with </a:t>
            </a:r>
            <a:r>
              <a:rPr lang="en-US" dirty="0" smtClean="0"/>
              <a:t>se=FALSE:</a:t>
            </a:r>
            <a:endParaRPr lang="en-US" dirty="0"/>
          </a:p>
          <a:p>
            <a:pPr marL="0" indent="0">
              <a:buNone/>
            </a:pPr>
            <a:r>
              <a:rPr lang="en-US" dirty="0" smtClean="0"/>
              <a:t>	# </a:t>
            </a:r>
            <a:r>
              <a:rPr lang="en-US" dirty="0"/>
              <a:t>99% confidence region </a:t>
            </a:r>
            <a:endParaRPr lang="en-US" dirty="0" smtClean="0"/>
          </a:p>
          <a:p>
            <a:pPr marL="0" indent="0">
              <a:buNone/>
            </a:pPr>
            <a:r>
              <a:rPr lang="en-US" dirty="0"/>
              <a:t>	</a:t>
            </a:r>
            <a:r>
              <a:rPr lang="en-US" dirty="0" err="1" smtClean="0"/>
              <a:t>sp</a:t>
            </a:r>
            <a:r>
              <a:rPr lang="en-US" dirty="0" smtClean="0"/>
              <a:t> </a:t>
            </a:r>
            <a:r>
              <a:rPr lang="en-US" dirty="0"/>
              <a:t>+ </a:t>
            </a:r>
            <a:r>
              <a:rPr lang="en-US" dirty="0" err="1"/>
              <a:t>geom_point</a:t>
            </a:r>
            <a:r>
              <a:rPr lang="en-US" dirty="0"/>
              <a:t>() + </a:t>
            </a:r>
            <a:r>
              <a:rPr lang="en-US" dirty="0" err="1"/>
              <a:t>stat_smooth</a:t>
            </a:r>
            <a:r>
              <a:rPr lang="en-US" dirty="0"/>
              <a:t>(method=lm, level=0.99)</a:t>
            </a:r>
          </a:p>
          <a:p>
            <a:pPr marL="0" indent="0">
              <a:buNone/>
            </a:pPr>
            <a:r>
              <a:rPr lang="en-US" dirty="0" smtClean="0"/>
              <a:t>	# </a:t>
            </a:r>
            <a:r>
              <a:rPr lang="en-US" dirty="0"/>
              <a:t>No confidence region </a:t>
            </a:r>
            <a:endParaRPr lang="en-US" dirty="0" smtClean="0"/>
          </a:p>
          <a:p>
            <a:pPr marL="0" indent="0">
              <a:buNone/>
            </a:pPr>
            <a:r>
              <a:rPr lang="en-US" dirty="0"/>
              <a:t>	</a:t>
            </a:r>
            <a:r>
              <a:rPr lang="en-US" dirty="0" err="1" smtClean="0"/>
              <a:t>sp</a:t>
            </a:r>
            <a:r>
              <a:rPr lang="en-US" dirty="0" smtClean="0"/>
              <a:t> </a:t>
            </a:r>
            <a:r>
              <a:rPr lang="en-US" dirty="0"/>
              <a:t>+ </a:t>
            </a:r>
            <a:r>
              <a:rPr lang="en-US" dirty="0" err="1"/>
              <a:t>geom_point</a:t>
            </a:r>
            <a:r>
              <a:rPr lang="en-US" dirty="0"/>
              <a:t>() + </a:t>
            </a:r>
            <a:r>
              <a:rPr lang="en-US" dirty="0" err="1"/>
              <a:t>stat_smooth</a:t>
            </a:r>
            <a:r>
              <a:rPr lang="en-US" dirty="0"/>
              <a:t>(method=lm, se=FALSE)</a:t>
            </a:r>
          </a:p>
          <a:p>
            <a:endParaRPr lang="en-US" dirty="0"/>
          </a:p>
        </p:txBody>
      </p:sp>
    </p:spTree>
    <p:extLst>
      <p:ext uri="{BB962C8B-B14F-4D97-AF65-F5344CB8AC3E}">
        <p14:creationId xmlns:p14="http://schemas.microsoft.com/office/powerpoint/2010/main" xmlns="" val="3408644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262" y="422032"/>
            <a:ext cx="10814538" cy="5754932"/>
          </a:xfrm>
        </p:spPr>
        <p:txBody>
          <a:bodyPr>
            <a:normAutofit/>
          </a:bodyPr>
          <a:lstStyle/>
          <a:p>
            <a:r>
              <a:rPr lang="en-US" dirty="0"/>
              <a:t>The default color of the fit line is blue. This can be change by setting </a:t>
            </a:r>
            <a:r>
              <a:rPr lang="en-US" dirty="0" err="1"/>
              <a:t>colour</a:t>
            </a:r>
            <a:r>
              <a:rPr lang="en-US" dirty="0"/>
              <a:t>. As with any other line, the attributes </a:t>
            </a:r>
            <a:r>
              <a:rPr lang="en-US" dirty="0" err="1"/>
              <a:t>linetype</a:t>
            </a:r>
            <a:r>
              <a:rPr lang="en-US" dirty="0"/>
              <a:t> and size can also be set. To emphasize the line, you can make the dots less prominent by setting </a:t>
            </a:r>
            <a:r>
              <a:rPr lang="en-US" dirty="0" err="1"/>
              <a:t>colour</a:t>
            </a:r>
            <a:r>
              <a:rPr lang="en-US" dirty="0"/>
              <a:t> (Figure 5-18, bottom right):</a:t>
            </a:r>
          </a:p>
          <a:p>
            <a:pPr marL="0" indent="0">
              <a:buNone/>
            </a:pPr>
            <a:r>
              <a:rPr lang="en-US" dirty="0" smtClean="0"/>
              <a:t>	</a:t>
            </a:r>
            <a:r>
              <a:rPr lang="en-US" sz="2400" dirty="0" err="1" smtClean="0"/>
              <a:t>sp</a:t>
            </a:r>
            <a:r>
              <a:rPr lang="en-US" sz="2400" dirty="0" smtClean="0"/>
              <a:t> </a:t>
            </a:r>
            <a:r>
              <a:rPr lang="en-US" sz="2400" dirty="0"/>
              <a:t>+ </a:t>
            </a:r>
            <a:r>
              <a:rPr lang="en-US" sz="2400" dirty="0" err="1"/>
              <a:t>geom_point</a:t>
            </a:r>
            <a:r>
              <a:rPr lang="en-US" sz="2400" dirty="0"/>
              <a:t>(</a:t>
            </a:r>
            <a:r>
              <a:rPr lang="en-US" sz="2400" dirty="0" err="1"/>
              <a:t>colour</a:t>
            </a:r>
            <a:r>
              <a:rPr lang="en-US" sz="2400" dirty="0"/>
              <a:t>="grey60") +    </a:t>
            </a:r>
            <a:endParaRPr lang="en-US" sz="2400" dirty="0" smtClean="0"/>
          </a:p>
          <a:p>
            <a:pPr marL="0" indent="0">
              <a:buNone/>
            </a:pPr>
            <a:r>
              <a:rPr lang="en-US" sz="2400" dirty="0"/>
              <a:t>	</a:t>
            </a:r>
            <a:r>
              <a:rPr lang="en-US" sz="2400" dirty="0" err="1" smtClean="0"/>
              <a:t>stat_smooth</a:t>
            </a:r>
            <a:r>
              <a:rPr lang="en-US" sz="2400" dirty="0" smtClean="0"/>
              <a:t>(method=lm</a:t>
            </a:r>
            <a:r>
              <a:rPr lang="en-US" sz="2400" dirty="0"/>
              <a:t>, se=FALSE, </a:t>
            </a:r>
            <a:r>
              <a:rPr lang="en-US" sz="2400" dirty="0" err="1"/>
              <a:t>colour</a:t>
            </a:r>
            <a:r>
              <a:rPr lang="en-US" sz="2400" dirty="0"/>
              <a:t>="black")</a:t>
            </a:r>
          </a:p>
          <a:p>
            <a:endParaRPr lang="en-US" dirty="0"/>
          </a:p>
        </p:txBody>
      </p:sp>
    </p:spTree>
    <p:extLst>
      <p:ext uri="{BB962C8B-B14F-4D97-AF65-F5344CB8AC3E}">
        <p14:creationId xmlns:p14="http://schemas.microsoft.com/office/powerpoint/2010/main" xmlns="" val="34086444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10515600" cy="1325563"/>
          </a:xfrm>
        </p:spPr>
        <p:txBody>
          <a:bodyPr>
            <a:normAutofit/>
          </a:bodyPr>
          <a:lstStyle/>
          <a:p>
            <a:r>
              <a:rPr lang="en-US" sz="2800" b="1" dirty="0">
                <a:latin typeface="Calibri "/>
              </a:rPr>
              <a:t>Adding Fitted Lines from an Existing Model</a:t>
            </a:r>
          </a:p>
        </p:txBody>
      </p:sp>
      <p:sp>
        <p:nvSpPr>
          <p:cNvPr id="3" name="Content Placeholder 2"/>
          <p:cNvSpPr>
            <a:spLocks noGrp="1"/>
          </p:cNvSpPr>
          <p:nvPr>
            <p:ph idx="1"/>
          </p:nvPr>
        </p:nvSpPr>
        <p:spPr>
          <a:xfrm>
            <a:off x="181707" y="974832"/>
            <a:ext cx="10515600" cy="4850439"/>
          </a:xfrm>
        </p:spPr>
        <p:txBody>
          <a:bodyPr>
            <a:normAutofit fontScale="92500" lnSpcReduction="10000"/>
          </a:bodyPr>
          <a:lstStyle/>
          <a:p>
            <a:r>
              <a:rPr lang="en-US" dirty="0"/>
              <a:t>Usually the easiest way to overlay a fitted model is to simply ask </a:t>
            </a:r>
            <a:r>
              <a:rPr lang="en-US" dirty="0" err="1"/>
              <a:t>stat_smooth</a:t>
            </a:r>
            <a:r>
              <a:rPr lang="en-US" dirty="0"/>
              <a:t>() to do it for </a:t>
            </a:r>
            <a:r>
              <a:rPr lang="en-US" dirty="0" smtClean="0"/>
              <a:t>you. </a:t>
            </a:r>
          </a:p>
          <a:p>
            <a:r>
              <a:rPr lang="en-US" dirty="0" smtClean="0"/>
              <a:t>Sometimes</a:t>
            </a:r>
            <a:r>
              <a:rPr lang="en-US" dirty="0"/>
              <a:t>, however, you may want to create the model yourself and then add it to your graph. </a:t>
            </a:r>
            <a:endParaRPr lang="en-US" dirty="0" smtClean="0"/>
          </a:p>
          <a:p>
            <a:r>
              <a:rPr lang="en-US" dirty="0" smtClean="0"/>
              <a:t>This </a:t>
            </a:r>
            <a:r>
              <a:rPr lang="en-US" dirty="0"/>
              <a:t>allows you to be sure that the model you’re using for other calculations is the same one that you see. </a:t>
            </a:r>
            <a:endParaRPr lang="en-US" dirty="0" smtClean="0"/>
          </a:p>
          <a:p>
            <a:r>
              <a:rPr lang="en-US" dirty="0" smtClean="0"/>
              <a:t>In </a:t>
            </a:r>
            <a:r>
              <a:rPr lang="en-US" dirty="0"/>
              <a:t>this example, we’ll build a quadratic model using lm() with </a:t>
            </a:r>
            <a:r>
              <a:rPr lang="en-US" dirty="0" err="1"/>
              <a:t>ageYear</a:t>
            </a:r>
            <a:r>
              <a:rPr lang="en-US" dirty="0"/>
              <a:t> as a predictor of </a:t>
            </a:r>
            <a:r>
              <a:rPr lang="en-US" dirty="0" err="1"/>
              <a:t>heightIn</a:t>
            </a:r>
            <a:r>
              <a:rPr lang="en-US" dirty="0"/>
              <a:t>. </a:t>
            </a:r>
            <a:endParaRPr lang="en-US" dirty="0" smtClean="0"/>
          </a:p>
          <a:p>
            <a:r>
              <a:rPr lang="en-US" dirty="0" smtClean="0"/>
              <a:t>Then </a:t>
            </a:r>
            <a:r>
              <a:rPr lang="en-US" dirty="0"/>
              <a:t>we’ll use the predict() function and find the predicted values of </a:t>
            </a:r>
            <a:r>
              <a:rPr lang="en-US" dirty="0" err="1"/>
              <a:t>heightIn</a:t>
            </a:r>
            <a:r>
              <a:rPr lang="en-US" dirty="0"/>
              <a:t> across the range of values for the predictor, </a:t>
            </a:r>
            <a:r>
              <a:rPr lang="en-US" dirty="0" err="1"/>
              <a:t>ageYear</a:t>
            </a:r>
            <a:r>
              <a:rPr lang="en-US" dirty="0"/>
              <a:t>:</a:t>
            </a:r>
          </a:p>
          <a:p>
            <a:pPr marL="0" indent="0">
              <a:buNone/>
            </a:pPr>
            <a:r>
              <a:rPr lang="en-US" dirty="0" smtClean="0"/>
              <a:t>	</a:t>
            </a:r>
            <a:r>
              <a:rPr lang="en-US" sz="2600" dirty="0" smtClean="0"/>
              <a:t>library(</a:t>
            </a:r>
            <a:r>
              <a:rPr lang="en-US" sz="2600" dirty="0" err="1" smtClean="0"/>
              <a:t>gcookbook</a:t>
            </a:r>
            <a:r>
              <a:rPr lang="en-US" sz="2600" dirty="0"/>
              <a:t>) # For the data set</a:t>
            </a:r>
          </a:p>
          <a:p>
            <a:pPr marL="0" indent="0">
              <a:buNone/>
            </a:pPr>
            <a:r>
              <a:rPr lang="en-US" sz="2600" dirty="0" smtClean="0"/>
              <a:t>	model </a:t>
            </a:r>
            <a:r>
              <a:rPr lang="en-US" sz="2600" dirty="0"/>
              <a:t>&lt;- lm(</a:t>
            </a:r>
            <a:r>
              <a:rPr lang="en-US" sz="2600" dirty="0" err="1"/>
              <a:t>heightIn</a:t>
            </a:r>
            <a:r>
              <a:rPr lang="en-US" sz="2600" dirty="0"/>
              <a:t> ~ </a:t>
            </a:r>
            <a:r>
              <a:rPr lang="en-US" sz="2600" dirty="0" err="1"/>
              <a:t>ageYear</a:t>
            </a:r>
            <a:r>
              <a:rPr lang="en-US" sz="2600" dirty="0"/>
              <a:t> + I(ageYear^2), </a:t>
            </a:r>
            <a:r>
              <a:rPr lang="en-US" sz="2600" dirty="0" err="1"/>
              <a:t>heightweight</a:t>
            </a:r>
            <a:r>
              <a:rPr lang="en-US" sz="2600" dirty="0"/>
              <a:t>) </a:t>
            </a:r>
          </a:p>
        </p:txBody>
      </p:sp>
    </p:spTree>
    <p:extLst>
      <p:ext uri="{BB962C8B-B14F-4D97-AF65-F5344CB8AC3E}">
        <p14:creationId xmlns:p14="http://schemas.microsoft.com/office/powerpoint/2010/main" xmlns="" val="3408644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8923" y="281354"/>
            <a:ext cx="10884877" cy="5895609"/>
          </a:xfrm>
        </p:spPr>
        <p:txBody>
          <a:bodyPr>
            <a:normAutofit/>
          </a:bodyPr>
          <a:lstStyle/>
          <a:p>
            <a:pPr marL="0" indent="0">
              <a:buNone/>
            </a:pPr>
            <a:r>
              <a:rPr lang="en-US" sz="2400" dirty="0" smtClean="0"/>
              <a:t>	# </a:t>
            </a:r>
            <a:r>
              <a:rPr lang="en-US" sz="2400" dirty="0"/>
              <a:t>Create a data frame with </a:t>
            </a:r>
            <a:r>
              <a:rPr lang="en-US" sz="2400" dirty="0" err="1"/>
              <a:t>ageYear</a:t>
            </a:r>
            <a:r>
              <a:rPr lang="en-US" sz="2400" dirty="0"/>
              <a:t> column, interpolating across </a:t>
            </a:r>
            <a:r>
              <a:rPr lang="en-US" sz="2400" dirty="0" smtClean="0"/>
              <a:t>range</a:t>
            </a:r>
          </a:p>
          <a:p>
            <a:pPr marL="0" indent="0">
              <a:buNone/>
            </a:pPr>
            <a:r>
              <a:rPr lang="en-US" sz="2400" dirty="0" smtClean="0"/>
              <a:t> 	</a:t>
            </a:r>
            <a:r>
              <a:rPr lang="en-US" sz="2400" dirty="0" err="1" smtClean="0"/>
              <a:t>xmin</a:t>
            </a:r>
            <a:r>
              <a:rPr lang="en-US" sz="2400" dirty="0" smtClean="0"/>
              <a:t> </a:t>
            </a:r>
            <a:r>
              <a:rPr lang="en-US" sz="2400" dirty="0"/>
              <a:t>&lt;- min(</a:t>
            </a:r>
            <a:r>
              <a:rPr lang="en-US" sz="2400" dirty="0" err="1"/>
              <a:t>heightweight$ageYear</a:t>
            </a:r>
            <a:r>
              <a:rPr lang="en-US" sz="2400" dirty="0" smtClean="0"/>
              <a:t>)</a:t>
            </a:r>
          </a:p>
          <a:p>
            <a:pPr marL="0" indent="0">
              <a:buNone/>
            </a:pPr>
            <a:r>
              <a:rPr lang="en-US" sz="2400" dirty="0" smtClean="0"/>
              <a:t>	 </a:t>
            </a:r>
            <a:r>
              <a:rPr lang="en-US" sz="2400" dirty="0" err="1"/>
              <a:t>xmax</a:t>
            </a:r>
            <a:r>
              <a:rPr lang="en-US" sz="2400" dirty="0"/>
              <a:t> &lt;- max(</a:t>
            </a:r>
            <a:r>
              <a:rPr lang="en-US" sz="2400" dirty="0" err="1"/>
              <a:t>heightweight$ageYear</a:t>
            </a:r>
            <a:r>
              <a:rPr lang="en-US" sz="2400" dirty="0" smtClean="0"/>
              <a:t>)</a:t>
            </a:r>
          </a:p>
          <a:p>
            <a:pPr marL="0" indent="0">
              <a:buNone/>
            </a:pPr>
            <a:r>
              <a:rPr lang="en-US" sz="2400" dirty="0" smtClean="0"/>
              <a:t> 	predicted </a:t>
            </a:r>
            <a:r>
              <a:rPr lang="en-US" sz="2400" dirty="0"/>
              <a:t>&lt;- </a:t>
            </a:r>
            <a:r>
              <a:rPr lang="en-US" sz="2400" dirty="0" err="1"/>
              <a:t>data.frame</a:t>
            </a:r>
            <a:r>
              <a:rPr lang="en-US" sz="2400" dirty="0"/>
              <a:t>(</a:t>
            </a:r>
            <a:r>
              <a:rPr lang="en-US" sz="2400" dirty="0" err="1"/>
              <a:t>ageYear</a:t>
            </a:r>
            <a:r>
              <a:rPr lang="en-US" sz="2400" dirty="0"/>
              <a:t>=</a:t>
            </a:r>
            <a:r>
              <a:rPr lang="en-US" sz="2400" dirty="0" err="1"/>
              <a:t>seq</a:t>
            </a:r>
            <a:r>
              <a:rPr lang="en-US" sz="2400" dirty="0"/>
              <a:t>(</a:t>
            </a:r>
            <a:r>
              <a:rPr lang="en-US" sz="2400" dirty="0" err="1"/>
              <a:t>xmin</a:t>
            </a:r>
            <a:r>
              <a:rPr lang="en-US" sz="2400" dirty="0"/>
              <a:t>, </a:t>
            </a:r>
            <a:r>
              <a:rPr lang="en-US" sz="2400" dirty="0" err="1"/>
              <a:t>xmax</a:t>
            </a:r>
            <a:r>
              <a:rPr lang="en-US" sz="2400" dirty="0"/>
              <a:t>, </a:t>
            </a:r>
            <a:r>
              <a:rPr lang="en-US" sz="2400" dirty="0" err="1"/>
              <a:t>length.out</a:t>
            </a:r>
            <a:r>
              <a:rPr lang="en-US" sz="2400" dirty="0"/>
              <a:t>=100))</a:t>
            </a:r>
          </a:p>
          <a:p>
            <a:pPr marL="0" indent="0">
              <a:buNone/>
            </a:pPr>
            <a:r>
              <a:rPr lang="en-US" sz="2400" dirty="0" smtClean="0"/>
              <a:t>	# </a:t>
            </a:r>
            <a:r>
              <a:rPr lang="en-US" sz="2400" dirty="0"/>
              <a:t>Calculate predicted values of </a:t>
            </a:r>
            <a:r>
              <a:rPr lang="en-US" sz="2400" dirty="0" err="1"/>
              <a:t>heightIn</a:t>
            </a:r>
            <a:r>
              <a:rPr lang="en-US" sz="2400" dirty="0"/>
              <a:t> </a:t>
            </a:r>
            <a:endParaRPr lang="en-US" sz="2400" dirty="0" smtClean="0"/>
          </a:p>
          <a:p>
            <a:pPr marL="0" indent="0">
              <a:buNone/>
            </a:pPr>
            <a:r>
              <a:rPr lang="en-US" sz="2400" dirty="0" smtClean="0"/>
              <a:t>	</a:t>
            </a:r>
            <a:r>
              <a:rPr lang="en-US" sz="2400" dirty="0" err="1" smtClean="0"/>
              <a:t>predicted$heightIn</a:t>
            </a:r>
            <a:r>
              <a:rPr lang="en-US" sz="2400" dirty="0" smtClean="0"/>
              <a:t> </a:t>
            </a:r>
            <a:r>
              <a:rPr lang="en-US" sz="2400" dirty="0"/>
              <a:t>&lt;- predict(model, predicted) </a:t>
            </a:r>
            <a:endParaRPr lang="en-US" sz="2400" dirty="0" smtClean="0"/>
          </a:p>
          <a:p>
            <a:pPr marL="0" indent="0">
              <a:buNone/>
            </a:pPr>
            <a:r>
              <a:rPr lang="en-US" sz="2400" dirty="0" smtClean="0"/>
              <a:t>	predicted</a:t>
            </a:r>
          </a:p>
          <a:p>
            <a:r>
              <a:rPr lang="en-US" sz="2400" dirty="0"/>
              <a:t>We can </a:t>
            </a:r>
            <a:r>
              <a:rPr lang="en-US" sz="2400" dirty="0" smtClean="0"/>
              <a:t>now </a:t>
            </a:r>
            <a:r>
              <a:rPr lang="en-US" sz="2400" dirty="0"/>
              <a:t>plot the data points along with the values predicted from the model </a:t>
            </a:r>
            <a:endParaRPr lang="en-US" sz="2400" dirty="0" smtClean="0"/>
          </a:p>
          <a:p>
            <a:pPr marL="0" indent="0">
              <a:buNone/>
            </a:pPr>
            <a:r>
              <a:rPr lang="en-US" sz="2400" dirty="0" smtClean="0"/>
              <a:t>	</a:t>
            </a:r>
            <a:r>
              <a:rPr lang="en-US" sz="2400" dirty="0" err="1" smtClean="0"/>
              <a:t>sp</a:t>
            </a:r>
            <a:r>
              <a:rPr lang="en-US" sz="2400" dirty="0" smtClean="0"/>
              <a:t> </a:t>
            </a:r>
            <a:r>
              <a:rPr lang="en-US" sz="2400" dirty="0"/>
              <a:t>&lt;- </a:t>
            </a:r>
            <a:r>
              <a:rPr lang="en-US" sz="2400" dirty="0" err="1"/>
              <a:t>ggplot</a:t>
            </a:r>
            <a:r>
              <a:rPr lang="en-US" sz="2400" dirty="0"/>
              <a:t>(</a:t>
            </a:r>
            <a:r>
              <a:rPr lang="en-US" sz="2400" dirty="0" err="1"/>
              <a:t>heightweight</a:t>
            </a:r>
            <a:r>
              <a:rPr lang="en-US" sz="2400" dirty="0"/>
              <a:t>, </a:t>
            </a:r>
            <a:r>
              <a:rPr lang="en-US" sz="2400" dirty="0" err="1"/>
              <a:t>aes</a:t>
            </a:r>
            <a:r>
              <a:rPr lang="en-US" sz="2400" dirty="0"/>
              <a:t>(x=</a:t>
            </a:r>
            <a:r>
              <a:rPr lang="en-US" sz="2400" dirty="0" err="1"/>
              <a:t>ageYear</a:t>
            </a:r>
            <a:r>
              <a:rPr lang="en-US" sz="2400" dirty="0"/>
              <a:t>, y=</a:t>
            </a:r>
            <a:r>
              <a:rPr lang="en-US" sz="2400" dirty="0" err="1"/>
              <a:t>heightIn</a:t>
            </a:r>
            <a:r>
              <a:rPr lang="en-US" sz="2400" dirty="0"/>
              <a:t>)) +      </a:t>
            </a:r>
            <a:r>
              <a:rPr lang="en-US" sz="2400" dirty="0" smtClean="0"/>
              <a:t>	</a:t>
            </a:r>
            <a:r>
              <a:rPr lang="en-US" sz="2400" dirty="0" err="1" smtClean="0"/>
              <a:t>geom_point</a:t>
            </a:r>
            <a:r>
              <a:rPr lang="en-US" sz="2400" dirty="0" smtClean="0"/>
              <a:t>(</a:t>
            </a:r>
            <a:r>
              <a:rPr lang="en-US" sz="2400" dirty="0" err="1" smtClean="0"/>
              <a:t>colour</a:t>
            </a:r>
            <a:r>
              <a:rPr lang="en-US" sz="2400" dirty="0"/>
              <a:t>="grey40")</a:t>
            </a:r>
          </a:p>
          <a:p>
            <a:pPr marL="0" indent="0">
              <a:buNone/>
            </a:pPr>
            <a:r>
              <a:rPr lang="en-US" sz="2400" dirty="0" smtClean="0"/>
              <a:t>	</a:t>
            </a:r>
            <a:r>
              <a:rPr lang="en-US" sz="2400" dirty="0" err="1" smtClean="0"/>
              <a:t>sp</a:t>
            </a:r>
            <a:r>
              <a:rPr lang="en-US" sz="2400" dirty="0" smtClean="0"/>
              <a:t> </a:t>
            </a:r>
            <a:r>
              <a:rPr lang="en-US" sz="2400" dirty="0"/>
              <a:t>+ </a:t>
            </a:r>
            <a:r>
              <a:rPr lang="en-US" sz="2400" dirty="0" err="1"/>
              <a:t>geom_line</a:t>
            </a:r>
            <a:r>
              <a:rPr lang="en-US" sz="2400" dirty="0"/>
              <a:t>(data=predicted, size=1) </a:t>
            </a:r>
          </a:p>
        </p:txBody>
      </p:sp>
    </p:spTree>
    <p:extLst>
      <p:ext uri="{BB962C8B-B14F-4D97-AF65-F5344CB8AC3E}">
        <p14:creationId xmlns:p14="http://schemas.microsoft.com/office/powerpoint/2010/main" xmlns="" val="34086444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954" y="0"/>
            <a:ext cx="10515600" cy="1325563"/>
          </a:xfrm>
        </p:spPr>
        <p:txBody>
          <a:bodyPr>
            <a:normAutofit/>
          </a:bodyPr>
          <a:lstStyle/>
          <a:p>
            <a:r>
              <a:rPr lang="en-US" sz="2800" b="1" dirty="0">
                <a:latin typeface="Calibri "/>
              </a:rPr>
              <a:t>Adding Fitted Lines from Multiple Existing Models</a:t>
            </a:r>
          </a:p>
        </p:txBody>
      </p:sp>
      <p:sp>
        <p:nvSpPr>
          <p:cNvPr id="3" name="Content Placeholder 2"/>
          <p:cNvSpPr>
            <a:spLocks noGrp="1"/>
          </p:cNvSpPr>
          <p:nvPr>
            <p:ph idx="1"/>
          </p:nvPr>
        </p:nvSpPr>
        <p:spPr>
          <a:xfrm>
            <a:off x="281354" y="1031632"/>
            <a:ext cx="11072446" cy="5145332"/>
          </a:xfrm>
        </p:spPr>
        <p:txBody>
          <a:bodyPr>
            <a:normAutofit/>
          </a:bodyPr>
          <a:lstStyle/>
          <a:p>
            <a:r>
              <a:rPr lang="en-US" dirty="0"/>
              <a:t>Use the </a:t>
            </a:r>
            <a:r>
              <a:rPr lang="en-US" dirty="0" err="1"/>
              <a:t>predictvals</a:t>
            </a:r>
            <a:r>
              <a:rPr lang="en-US" dirty="0"/>
              <a:t>() function from the previous recipe along with </a:t>
            </a:r>
            <a:r>
              <a:rPr lang="en-US" dirty="0" err="1"/>
              <a:t>dlply</a:t>
            </a:r>
            <a:r>
              <a:rPr lang="en-US" dirty="0"/>
              <a:t>() and </a:t>
            </a:r>
            <a:r>
              <a:rPr lang="en-US" dirty="0" err="1"/>
              <a:t>ldply</a:t>
            </a:r>
            <a:r>
              <a:rPr lang="en-US" dirty="0"/>
              <a:t>() from the </a:t>
            </a:r>
            <a:r>
              <a:rPr lang="en-US" dirty="0" err="1"/>
              <a:t>plyr</a:t>
            </a:r>
            <a:r>
              <a:rPr lang="en-US" dirty="0"/>
              <a:t> package.</a:t>
            </a:r>
          </a:p>
          <a:p>
            <a:pPr marL="0" indent="0">
              <a:buNone/>
            </a:pPr>
            <a:r>
              <a:rPr lang="en-US" dirty="0" smtClean="0"/>
              <a:t>	</a:t>
            </a:r>
            <a:r>
              <a:rPr lang="en-US" sz="2400" dirty="0" err="1" smtClean="0"/>
              <a:t>make_model</a:t>
            </a:r>
            <a:r>
              <a:rPr lang="en-US" sz="2400" dirty="0" smtClean="0"/>
              <a:t> </a:t>
            </a:r>
            <a:r>
              <a:rPr lang="en-US" sz="2400" dirty="0"/>
              <a:t>&lt;- function(data) {  </a:t>
            </a:r>
            <a:endParaRPr lang="en-US" sz="2400" dirty="0" smtClean="0"/>
          </a:p>
          <a:p>
            <a:pPr marL="0" indent="0">
              <a:buNone/>
            </a:pPr>
            <a:r>
              <a:rPr lang="en-US" sz="2400" dirty="0"/>
              <a:t>	</a:t>
            </a:r>
            <a:r>
              <a:rPr lang="en-US" sz="2400" dirty="0" smtClean="0"/>
              <a:t> </a:t>
            </a:r>
            <a:r>
              <a:rPr lang="en-US" sz="2400" dirty="0"/>
              <a:t>lm(</a:t>
            </a:r>
            <a:r>
              <a:rPr lang="en-US" sz="2400" dirty="0" err="1"/>
              <a:t>heightIn</a:t>
            </a:r>
            <a:r>
              <a:rPr lang="en-US" sz="2400" dirty="0"/>
              <a:t> ~ </a:t>
            </a:r>
            <a:r>
              <a:rPr lang="en-US" sz="2400" dirty="0" err="1"/>
              <a:t>ageYear</a:t>
            </a:r>
            <a:r>
              <a:rPr lang="en-US" sz="2400" dirty="0"/>
              <a:t>, data) </a:t>
            </a:r>
            <a:r>
              <a:rPr lang="en-US" sz="2400" dirty="0" smtClean="0"/>
              <a:t>}</a:t>
            </a:r>
          </a:p>
          <a:p>
            <a:pPr marL="0" indent="0">
              <a:buNone/>
            </a:pPr>
            <a:r>
              <a:rPr lang="en-US" sz="2400" dirty="0" smtClean="0"/>
              <a:t>	library(</a:t>
            </a:r>
            <a:r>
              <a:rPr lang="en-US" sz="2400" dirty="0" err="1" smtClean="0"/>
              <a:t>gcookbook</a:t>
            </a:r>
            <a:r>
              <a:rPr lang="en-US" sz="2400" dirty="0" smtClean="0"/>
              <a:t>) </a:t>
            </a:r>
            <a:r>
              <a:rPr lang="en-US" sz="2400" dirty="0"/>
              <a:t># For the data </a:t>
            </a:r>
            <a:r>
              <a:rPr lang="en-US" sz="2400" dirty="0" smtClean="0"/>
              <a:t>set</a:t>
            </a:r>
          </a:p>
          <a:p>
            <a:pPr marL="0" indent="0">
              <a:buNone/>
            </a:pPr>
            <a:r>
              <a:rPr lang="en-US" sz="2400" dirty="0"/>
              <a:t>	</a:t>
            </a:r>
            <a:r>
              <a:rPr lang="en-US" sz="2400" dirty="0" smtClean="0"/>
              <a:t> </a:t>
            </a:r>
            <a:r>
              <a:rPr lang="en-US" sz="2400" dirty="0"/>
              <a:t>library(</a:t>
            </a:r>
            <a:r>
              <a:rPr lang="en-US" sz="2400" dirty="0" err="1"/>
              <a:t>plyr</a:t>
            </a:r>
            <a:r>
              <a:rPr lang="en-US" sz="2400" dirty="0"/>
              <a:t>) </a:t>
            </a:r>
            <a:endParaRPr lang="en-US" sz="2400" dirty="0" smtClean="0"/>
          </a:p>
          <a:p>
            <a:pPr marL="0" indent="0">
              <a:buNone/>
            </a:pPr>
            <a:r>
              <a:rPr lang="en-US" sz="2400" dirty="0"/>
              <a:t>	</a:t>
            </a:r>
            <a:r>
              <a:rPr lang="en-US" sz="2400" dirty="0" smtClean="0"/>
              <a:t>models </a:t>
            </a:r>
            <a:r>
              <a:rPr lang="en-US" sz="2400" dirty="0"/>
              <a:t>&lt;- </a:t>
            </a:r>
            <a:r>
              <a:rPr lang="en-US" sz="2400" dirty="0" err="1"/>
              <a:t>dlply</a:t>
            </a:r>
            <a:r>
              <a:rPr lang="en-US" sz="2400" dirty="0"/>
              <a:t>(</a:t>
            </a:r>
            <a:r>
              <a:rPr lang="en-US" sz="2400" dirty="0" err="1"/>
              <a:t>heightweight</a:t>
            </a:r>
            <a:r>
              <a:rPr lang="en-US" sz="2400" dirty="0"/>
              <a:t>, "sex", .fun = </a:t>
            </a:r>
            <a:r>
              <a:rPr lang="en-US" sz="2400" dirty="0" err="1"/>
              <a:t>make_model</a:t>
            </a:r>
            <a:r>
              <a:rPr lang="en-US" sz="2400" dirty="0" smtClean="0"/>
              <a:t>)</a:t>
            </a:r>
          </a:p>
          <a:p>
            <a:r>
              <a:rPr lang="en-US" sz="2400" dirty="0"/>
              <a:t>Now that we have the list of model objects, we can run </a:t>
            </a:r>
            <a:r>
              <a:rPr lang="en-US" sz="2400" dirty="0" err="1"/>
              <a:t>predictvals</a:t>
            </a:r>
            <a:r>
              <a:rPr lang="en-US" sz="2400" dirty="0"/>
              <a:t>() to get predicted values from each model, using the </a:t>
            </a:r>
            <a:r>
              <a:rPr lang="en-US" sz="2400" dirty="0" err="1"/>
              <a:t>ldply</a:t>
            </a:r>
            <a:r>
              <a:rPr lang="en-US" sz="2400" dirty="0"/>
              <a:t>() function:</a:t>
            </a:r>
          </a:p>
          <a:p>
            <a:pPr marL="0" indent="0">
              <a:buNone/>
            </a:pPr>
            <a:r>
              <a:rPr lang="en-US" sz="2400" dirty="0" smtClean="0"/>
              <a:t>	</a:t>
            </a:r>
            <a:r>
              <a:rPr lang="en-US" sz="2400" dirty="0" err="1" smtClean="0"/>
              <a:t>predvals</a:t>
            </a:r>
            <a:r>
              <a:rPr lang="en-US" sz="2400" dirty="0" smtClean="0"/>
              <a:t> </a:t>
            </a:r>
            <a:r>
              <a:rPr lang="en-US" sz="2400" dirty="0"/>
              <a:t>&lt;- </a:t>
            </a:r>
            <a:r>
              <a:rPr lang="en-US" sz="2400" dirty="0" err="1"/>
              <a:t>ldply</a:t>
            </a:r>
            <a:r>
              <a:rPr lang="en-US" sz="2400" dirty="0"/>
              <a:t>(models, .fun=</a:t>
            </a:r>
            <a:r>
              <a:rPr lang="en-US" sz="2400" dirty="0" err="1"/>
              <a:t>predictvals</a:t>
            </a:r>
            <a:r>
              <a:rPr lang="en-US" sz="2400" dirty="0"/>
              <a:t>, </a:t>
            </a:r>
            <a:r>
              <a:rPr lang="en-US" sz="2400" dirty="0" err="1"/>
              <a:t>xvar</a:t>
            </a:r>
            <a:r>
              <a:rPr lang="en-US" sz="2400" dirty="0"/>
              <a:t>="</a:t>
            </a:r>
            <a:r>
              <a:rPr lang="en-US" sz="2400" dirty="0" err="1"/>
              <a:t>ageYear</a:t>
            </a:r>
            <a:r>
              <a:rPr lang="en-US" sz="2400" dirty="0"/>
              <a:t>", </a:t>
            </a:r>
            <a:r>
              <a:rPr lang="en-US" sz="2400" dirty="0" err="1"/>
              <a:t>yvar</a:t>
            </a:r>
            <a:r>
              <a:rPr lang="en-US" sz="2400" dirty="0"/>
              <a:t>="</a:t>
            </a:r>
            <a:r>
              <a:rPr lang="en-US" sz="2400" dirty="0" err="1"/>
              <a:t>heightIn</a:t>
            </a:r>
            <a:r>
              <a:rPr lang="en-US" sz="2400" dirty="0"/>
              <a:t>") </a:t>
            </a:r>
          </a:p>
        </p:txBody>
      </p:sp>
    </p:spTree>
    <p:extLst>
      <p:ext uri="{BB962C8B-B14F-4D97-AF65-F5344CB8AC3E}">
        <p14:creationId xmlns:p14="http://schemas.microsoft.com/office/powerpoint/2010/main" xmlns="" val="34086444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8246" y="422032"/>
            <a:ext cx="11025554" cy="5754932"/>
          </a:xfrm>
        </p:spPr>
        <p:txBody>
          <a:bodyPr>
            <a:normAutofit/>
          </a:bodyPr>
          <a:lstStyle/>
          <a:p>
            <a:r>
              <a:rPr lang="en-US" dirty="0"/>
              <a:t>Finally, we can plot the data with the predicted values (Figure 5-24):</a:t>
            </a:r>
          </a:p>
          <a:p>
            <a:pPr marL="0" indent="0">
              <a:buNone/>
            </a:pPr>
            <a:r>
              <a:rPr lang="en-US" dirty="0" smtClean="0"/>
              <a:t>	</a:t>
            </a:r>
            <a:r>
              <a:rPr lang="en-US" dirty="0" err="1" smtClean="0"/>
              <a:t>ggplot</a:t>
            </a:r>
            <a:r>
              <a:rPr lang="en-US" dirty="0" smtClean="0"/>
              <a:t>(</a:t>
            </a:r>
            <a:r>
              <a:rPr lang="en-US" dirty="0" err="1" smtClean="0"/>
              <a:t>heightweight</a:t>
            </a:r>
            <a:r>
              <a:rPr lang="en-US" dirty="0"/>
              <a:t>, </a:t>
            </a:r>
            <a:r>
              <a:rPr lang="en-US" dirty="0" err="1"/>
              <a:t>aes</a:t>
            </a:r>
            <a:r>
              <a:rPr lang="en-US" dirty="0"/>
              <a:t>(x=</a:t>
            </a:r>
            <a:r>
              <a:rPr lang="en-US" dirty="0" err="1"/>
              <a:t>ageYear</a:t>
            </a:r>
            <a:r>
              <a:rPr lang="en-US" dirty="0"/>
              <a:t>, y=</a:t>
            </a:r>
            <a:r>
              <a:rPr lang="en-US" dirty="0" err="1"/>
              <a:t>heightIn</a:t>
            </a:r>
            <a:r>
              <a:rPr lang="en-US" dirty="0"/>
              <a:t>, </a:t>
            </a:r>
            <a:r>
              <a:rPr lang="en-US" dirty="0" err="1"/>
              <a:t>colour</a:t>
            </a:r>
            <a:r>
              <a:rPr lang="en-US" dirty="0"/>
              <a:t>=sex)) +    </a:t>
            </a:r>
            <a:r>
              <a:rPr lang="en-US" dirty="0" smtClean="0"/>
              <a:t>	</a:t>
            </a:r>
            <a:r>
              <a:rPr lang="en-US" dirty="0" err="1" smtClean="0"/>
              <a:t>geom_point</a:t>
            </a:r>
            <a:r>
              <a:rPr lang="en-US" dirty="0"/>
              <a:t>() + </a:t>
            </a:r>
            <a:r>
              <a:rPr lang="en-US" dirty="0" err="1"/>
              <a:t>geom_line</a:t>
            </a:r>
            <a:r>
              <a:rPr lang="en-US" dirty="0"/>
              <a:t>(data=</a:t>
            </a:r>
            <a:r>
              <a:rPr lang="en-US" dirty="0" err="1"/>
              <a:t>predvals</a:t>
            </a:r>
            <a:r>
              <a:rPr lang="en-US" dirty="0"/>
              <a:t>)</a:t>
            </a:r>
          </a:p>
          <a:p>
            <a:endParaRPr lang="en-US" dirty="0"/>
          </a:p>
        </p:txBody>
      </p:sp>
    </p:spTree>
    <p:extLst>
      <p:ext uri="{BB962C8B-B14F-4D97-AF65-F5344CB8AC3E}">
        <p14:creationId xmlns:p14="http://schemas.microsoft.com/office/powerpoint/2010/main" xmlns="" val="34086444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646" y="0"/>
            <a:ext cx="10515600" cy="1325563"/>
          </a:xfrm>
        </p:spPr>
        <p:txBody>
          <a:bodyPr>
            <a:normAutofit/>
          </a:bodyPr>
          <a:lstStyle/>
          <a:p>
            <a:r>
              <a:rPr lang="en-US" sz="2800" b="1" dirty="0">
                <a:latin typeface="Calibri "/>
              </a:rPr>
              <a:t> Adding Annotations with Model Coefficients</a:t>
            </a:r>
          </a:p>
        </p:txBody>
      </p:sp>
      <p:sp>
        <p:nvSpPr>
          <p:cNvPr id="3" name="Content Placeholder 2"/>
          <p:cNvSpPr>
            <a:spLocks noGrp="1"/>
          </p:cNvSpPr>
          <p:nvPr>
            <p:ph idx="1"/>
          </p:nvPr>
        </p:nvSpPr>
        <p:spPr>
          <a:xfrm>
            <a:off x="404446" y="939662"/>
            <a:ext cx="10515600" cy="4850439"/>
          </a:xfrm>
        </p:spPr>
        <p:txBody>
          <a:bodyPr>
            <a:normAutofit fontScale="92500" lnSpcReduction="10000"/>
          </a:bodyPr>
          <a:lstStyle/>
          <a:p>
            <a:r>
              <a:rPr lang="en-US" dirty="0"/>
              <a:t>To add simple text to a plot, simply add an annotation. In this example, we’ll create a linear model and use the </a:t>
            </a:r>
            <a:r>
              <a:rPr lang="en-US" dirty="0" err="1"/>
              <a:t>predictvals</a:t>
            </a:r>
            <a:r>
              <a:rPr lang="en-US" dirty="0"/>
              <a:t>() function defined in Recipe 5.7 to create a prediction line from the model. Then we’ll add an annotation:</a:t>
            </a:r>
          </a:p>
          <a:p>
            <a:pPr marL="0" indent="0">
              <a:buNone/>
            </a:pPr>
            <a:r>
              <a:rPr lang="en-US" dirty="0" smtClean="0"/>
              <a:t>	</a:t>
            </a:r>
            <a:r>
              <a:rPr lang="en-US" sz="2400" dirty="0" smtClean="0"/>
              <a:t>library(</a:t>
            </a:r>
            <a:r>
              <a:rPr lang="en-US" sz="2400" dirty="0" err="1" smtClean="0"/>
              <a:t>gcookbook</a:t>
            </a:r>
            <a:r>
              <a:rPr lang="en-US" sz="2400" dirty="0"/>
              <a:t>) # For the data set</a:t>
            </a:r>
          </a:p>
          <a:p>
            <a:pPr marL="0" indent="0">
              <a:buNone/>
            </a:pPr>
            <a:r>
              <a:rPr lang="en-US" sz="2400" dirty="0" smtClean="0"/>
              <a:t>	model </a:t>
            </a:r>
            <a:r>
              <a:rPr lang="en-US" sz="2400" dirty="0"/>
              <a:t>&lt;- lm(</a:t>
            </a:r>
            <a:r>
              <a:rPr lang="en-US" sz="2400" dirty="0" err="1"/>
              <a:t>heightIn</a:t>
            </a:r>
            <a:r>
              <a:rPr lang="en-US" sz="2400" dirty="0"/>
              <a:t> ~ </a:t>
            </a:r>
            <a:r>
              <a:rPr lang="en-US" sz="2400" dirty="0" err="1"/>
              <a:t>ageYear</a:t>
            </a:r>
            <a:r>
              <a:rPr lang="en-US" sz="2400" dirty="0"/>
              <a:t>, </a:t>
            </a:r>
            <a:r>
              <a:rPr lang="en-US" sz="2400" dirty="0" err="1"/>
              <a:t>heightweight</a:t>
            </a:r>
            <a:r>
              <a:rPr lang="en-US" sz="2400" dirty="0"/>
              <a:t>) summary(model</a:t>
            </a:r>
            <a:r>
              <a:rPr lang="en-US" sz="2400" dirty="0" smtClean="0"/>
              <a:t>)</a:t>
            </a:r>
          </a:p>
          <a:p>
            <a:r>
              <a:rPr lang="en-US" sz="2400" dirty="0"/>
              <a:t>This shows that the r2 value is 0.4249. We’ll create a graph and manually add the text using annotate</a:t>
            </a:r>
            <a:r>
              <a:rPr lang="en-US" sz="2400" dirty="0" smtClean="0"/>
              <a:t>():</a:t>
            </a:r>
            <a:endParaRPr lang="en-US" sz="2400" dirty="0"/>
          </a:p>
          <a:p>
            <a:pPr marL="0" indent="0">
              <a:buNone/>
            </a:pPr>
            <a:r>
              <a:rPr lang="en-US" sz="2400" dirty="0" smtClean="0"/>
              <a:t>	# </a:t>
            </a:r>
            <a:r>
              <a:rPr lang="en-US" sz="2400" dirty="0"/>
              <a:t>First generate prediction </a:t>
            </a:r>
            <a:r>
              <a:rPr lang="en-US" sz="2400" dirty="0" smtClean="0"/>
              <a:t>data</a:t>
            </a:r>
          </a:p>
          <a:p>
            <a:pPr marL="0" indent="0">
              <a:buNone/>
            </a:pPr>
            <a:r>
              <a:rPr lang="en-US" sz="2400" dirty="0" smtClean="0"/>
              <a:t> 	</a:t>
            </a:r>
            <a:r>
              <a:rPr lang="en-US" sz="2400" dirty="0" err="1" smtClean="0"/>
              <a:t>pred</a:t>
            </a:r>
            <a:r>
              <a:rPr lang="en-US" sz="2400" dirty="0" smtClean="0"/>
              <a:t> </a:t>
            </a:r>
            <a:r>
              <a:rPr lang="en-US" sz="2400" dirty="0"/>
              <a:t>&lt;- </a:t>
            </a:r>
            <a:r>
              <a:rPr lang="en-US" sz="2400" dirty="0" err="1"/>
              <a:t>predictvals</a:t>
            </a:r>
            <a:r>
              <a:rPr lang="en-US" sz="2400" dirty="0"/>
              <a:t>(model, "</a:t>
            </a:r>
            <a:r>
              <a:rPr lang="en-US" sz="2400" dirty="0" err="1"/>
              <a:t>ageYear</a:t>
            </a:r>
            <a:r>
              <a:rPr lang="en-US" sz="2400" dirty="0"/>
              <a:t>", "</a:t>
            </a:r>
            <a:r>
              <a:rPr lang="en-US" sz="2400" dirty="0" err="1"/>
              <a:t>heightIn</a:t>
            </a:r>
            <a:r>
              <a:rPr lang="en-US" sz="2400" dirty="0"/>
              <a:t>") </a:t>
            </a:r>
            <a:endParaRPr lang="en-US" sz="2400" dirty="0" smtClean="0"/>
          </a:p>
          <a:p>
            <a:pPr marL="0" indent="0">
              <a:buNone/>
            </a:pPr>
            <a:r>
              <a:rPr lang="en-US" sz="2400" dirty="0" smtClean="0"/>
              <a:t>	</a:t>
            </a:r>
            <a:r>
              <a:rPr lang="en-US" sz="2400" dirty="0" err="1" smtClean="0"/>
              <a:t>sp</a:t>
            </a:r>
            <a:r>
              <a:rPr lang="en-US" sz="2400" dirty="0" smtClean="0"/>
              <a:t> </a:t>
            </a:r>
            <a:r>
              <a:rPr lang="en-US" sz="2400" dirty="0"/>
              <a:t>&lt;- </a:t>
            </a:r>
            <a:r>
              <a:rPr lang="en-US" sz="2400" dirty="0" err="1"/>
              <a:t>ggplot</a:t>
            </a:r>
            <a:r>
              <a:rPr lang="en-US" sz="2400" dirty="0"/>
              <a:t>(</a:t>
            </a:r>
            <a:r>
              <a:rPr lang="en-US" sz="2400" dirty="0" err="1"/>
              <a:t>heightweight</a:t>
            </a:r>
            <a:r>
              <a:rPr lang="en-US" sz="2400" dirty="0"/>
              <a:t>, </a:t>
            </a:r>
            <a:r>
              <a:rPr lang="en-US" sz="2400" dirty="0" err="1"/>
              <a:t>aes</a:t>
            </a:r>
            <a:r>
              <a:rPr lang="en-US" sz="2400" dirty="0"/>
              <a:t>(x=</a:t>
            </a:r>
            <a:r>
              <a:rPr lang="en-US" sz="2400" dirty="0" err="1"/>
              <a:t>ageYear</a:t>
            </a:r>
            <a:r>
              <a:rPr lang="en-US" sz="2400" dirty="0"/>
              <a:t>, y=</a:t>
            </a:r>
            <a:r>
              <a:rPr lang="en-US" sz="2400" dirty="0" err="1"/>
              <a:t>heightIn</a:t>
            </a:r>
            <a:r>
              <a:rPr lang="en-US" sz="2400" dirty="0"/>
              <a:t>)) + </a:t>
            </a:r>
            <a:r>
              <a:rPr lang="en-US" sz="2400" dirty="0" err="1"/>
              <a:t>geom_point</a:t>
            </a:r>
            <a:r>
              <a:rPr lang="en-US" sz="2400" dirty="0"/>
              <a:t>() +    </a:t>
            </a:r>
            <a:r>
              <a:rPr lang="en-US" sz="2400" dirty="0" smtClean="0"/>
              <a:t>	</a:t>
            </a:r>
            <a:r>
              <a:rPr lang="en-US" sz="2400" dirty="0" err="1" smtClean="0"/>
              <a:t>geom_line</a:t>
            </a:r>
            <a:r>
              <a:rPr lang="en-US" sz="2400" dirty="0" smtClean="0"/>
              <a:t>(data=</a:t>
            </a:r>
            <a:r>
              <a:rPr lang="en-US" sz="2400" dirty="0" err="1" smtClean="0"/>
              <a:t>pred</a:t>
            </a:r>
            <a:r>
              <a:rPr lang="en-US" sz="2400" dirty="0"/>
              <a:t>)</a:t>
            </a:r>
          </a:p>
          <a:p>
            <a:pPr marL="0" indent="0">
              <a:buNone/>
            </a:pPr>
            <a:r>
              <a:rPr lang="en-US" sz="2400" dirty="0" smtClean="0"/>
              <a:t>	</a:t>
            </a:r>
            <a:r>
              <a:rPr lang="en-US" sz="2400" dirty="0" err="1" smtClean="0"/>
              <a:t>sp</a:t>
            </a:r>
            <a:r>
              <a:rPr lang="en-US" sz="2400" dirty="0" smtClean="0"/>
              <a:t> </a:t>
            </a:r>
            <a:r>
              <a:rPr lang="en-US" sz="2400" dirty="0"/>
              <a:t>+ annotate("text", label="r^2=0.42", x=16.5, y=52)</a:t>
            </a:r>
          </a:p>
          <a:p>
            <a:endParaRPr lang="en-US" sz="2400" dirty="0"/>
          </a:p>
        </p:txBody>
      </p:sp>
    </p:spTree>
    <p:extLst>
      <p:ext uri="{BB962C8B-B14F-4D97-AF65-F5344CB8AC3E}">
        <p14:creationId xmlns:p14="http://schemas.microsoft.com/office/powerpoint/2010/main" xmlns="" val="34086444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3077" y="410308"/>
            <a:ext cx="11060723" cy="5766655"/>
          </a:xfrm>
        </p:spPr>
        <p:txBody>
          <a:bodyPr>
            <a:normAutofit/>
          </a:bodyPr>
          <a:lstStyle/>
          <a:p>
            <a:r>
              <a:rPr lang="en-US" dirty="0"/>
              <a:t>Instead of using a plain text string, it’s also possible to enter formulas using R’s math expression syntax, by setting parse=TRUE:</a:t>
            </a:r>
          </a:p>
          <a:p>
            <a:pPr marL="0" indent="0">
              <a:buNone/>
            </a:pPr>
            <a:r>
              <a:rPr lang="en-US" dirty="0" smtClean="0"/>
              <a:t>	</a:t>
            </a:r>
            <a:r>
              <a:rPr lang="en-US" sz="2400" dirty="0" err="1" smtClean="0"/>
              <a:t>sp</a:t>
            </a:r>
            <a:r>
              <a:rPr lang="en-US" sz="2400" dirty="0" smtClean="0"/>
              <a:t> </a:t>
            </a:r>
            <a:r>
              <a:rPr lang="en-US" sz="2400" dirty="0"/>
              <a:t>+ annotate("text", label="r^2 == 0.42", parse = TRUE, x=16.5, y=52)</a:t>
            </a:r>
          </a:p>
          <a:p>
            <a:endParaRPr lang="en-US" dirty="0"/>
          </a:p>
        </p:txBody>
      </p:sp>
    </p:spTree>
    <p:extLst>
      <p:ext uri="{BB962C8B-B14F-4D97-AF65-F5344CB8AC3E}">
        <p14:creationId xmlns:p14="http://schemas.microsoft.com/office/powerpoint/2010/main" xmlns="" val="34086444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4107" y="165833"/>
            <a:ext cx="10515600" cy="1325563"/>
          </a:xfrm>
        </p:spPr>
        <p:txBody>
          <a:bodyPr>
            <a:normAutofit/>
          </a:bodyPr>
          <a:lstStyle/>
          <a:p>
            <a:r>
              <a:rPr lang="en-US" sz="2800" b="1" dirty="0">
                <a:latin typeface="Calibri "/>
              </a:rPr>
              <a:t>Adding Marginal Rugs to a Scatter Plot</a:t>
            </a:r>
          </a:p>
        </p:txBody>
      </p:sp>
      <p:sp>
        <p:nvSpPr>
          <p:cNvPr id="3" name="Content Placeholder 2"/>
          <p:cNvSpPr>
            <a:spLocks noGrp="1"/>
          </p:cNvSpPr>
          <p:nvPr>
            <p:ph idx="1"/>
          </p:nvPr>
        </p:nvSpPr>
        <p:spPr>
          <a:xfrm>
            <a:off x="838200" y="1326524"/>
            <a:ext cx="10515600" cy="4850439"/>
          </a:xfrm>
        </p:spPr>
        <p:txBody>
          <a:bodyPr>
            <a:normAutofit/>
          </a:bodyPr>
          <a:lstStyle/>
          <a:p>
            <a:r>
              <a:rPr lang="en-US" dirty="0"/>
              <a:t>Use </a:t>
            </a:r>
            <a:r>
              <a:rPr lang="en-US" dirty="0" err="1"/>
              <a:t>geom_rug</a:t>
            </a:r>
            <a:r>
              <a:rPr lang="en-US" dirty="0"/>
              <a:t>(). For this example (Figure 5-28), we’ll use the faithful data set, which contains data about the Old Faithful geyser in two columns—eruptions, which is the length of each eruption, and waiting, which is the length of time to the next eruption:</a:t>
            </a:r>
          </a:p>
          <a:p>
            <a:pPr marL="0" indent="0">
              <a:buNone/>
            </a:pPr>
            <a:r>
              <a:rPr lang="en-US" dirty="0" smtClean="0"/>
              <a:t>	</a:t>
            </a:r>
            <a:r>
              <a:rPr lang="en-US" sz="2400" dirty="0" err="1" smtClean="0"/>
              <a:t>ggplot</a:t>
            </a:r>
            <a:r>
              <a:rPr lang="en-US" sz="2400" dirty="0" smtClean="0"/>
              <a:t>(faithful</a:t>
            </a:r>
            <a:r>
              <a:rPr lang="en-US" sz="2400" dirty="0"/>
              <a:t>, </a:t>
            </a:r>
            <a:r>
              <a:rPr lang="en-US" sz="2400" dirty="0" err="1"/>
              <a:t>aes</a:t>
            </a:r>
            <a:r>
              <a:rPr lang="en-US" sz="2400" dirty="0"/>
              <a:t>(x=eruptions, y=waiting)) + </a:t>
            </a:r>
            <a:r>
              <a:rPr lang="en-US" sz="2400" dirty="0" err="1"/>
              <a:t>geom_point</a:t>
            </a:r>
            <a:r>
              <a:rPr lang="en-US" sz="2400" dirty="0"/>
              <a:t>() + </a:t>
            </a:r>
            <a:r>
              <a:rPr lang="en-US" sz="2400" dirty="0" err="1"/>
              <a:t>geom_rug</a:t>
            </a:r>
            <a:r>
              <a:rPr lang="en-US" sz="2400" dirty="0"/>
              <a:t>() </a:t>
            </a:r>
          </a:p>
        </p:txBody>
      </p:sp>
    </p:spTree>
    <p:extLst>
      <p:ext uri="{BB962C8B-B14F-4D97-AF65-F5344CB8AC3E}">
        <p14:creationId xmlns:p14="http://schemas.microsoft.com/office/powerpoint/2010/main" xmlns="" val="1159631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985" y="0"/>
            <a:ext cx="10515600" cy="1325563"/>
          </a:xfrm>
        </p:spPr>
        <p:txBody>
          <a:bodyPr>
            <a:normAutofit/>
          </a:bodyPr>
          <a:lstStyle/>
          <a:p>
            <a:r>
              <a:rPr lang="en-US" sz="2800" b="1" dirty="0">
                <a:latin typeface="Calibri "/>
              </a:rPr>
              <a:t> Labeling Points in a Scatter Plot</a:t>
            </a:r>
          </a:p>
        </p:txBody>
      </p:sp>
      <p:sp>
        <p:nvSpPr>
          <p:cNvPr id="3" name="Content Placeholder 2"/>
          <p:cNvSpPr>
            <a:spLocks noGrp="1"/>
          </p:cNvSpPr>
          <p:nvPr>
            <p:ph idx="1"/>
          </p:nvPr>
        </p:nvSpPr>
        <p:spPr>
          <a:xfrm>
            <a:off x="339969" y="996462"/>
            <a:ext cx="11013831" cy="5180501"/>
          </a:xfrm>
        </p:spPr>
        <p:txBody>
          <a:bodyPr>
            <a:normAutofit/>
          </a:bodyPr>
          <a:lstStyle/>
          <a:p>
            <a:r>
              <a:rPr lang="en-US" dirty="0"/>
              <a:t>For annotating just one or a few points, you can use annotate() or </a:t>
            </a:r>
            <a:r>
              <a:rPr lang="en-US" dirty="0" err="1"/>
              <a:t>geom_text</a:t>
            </a:r>
            <a:r>
              <a:rPr lang="en-US" dirty="0" smtClean="0"/>
              <a:t>().</a:t>
            </a:r>
          </a:p>
          <a:p>
            <a:r>
              <a:rPr lang="en-US" dirty="0" smtClean="0"/>
              <a:t> </a:t>
            </a:r>
            <a:r>
              <a:rPr lang="en-US" dirty="0"/>
              <a:t>For this example, we’ll use the countries data set and visualize the relationship between health expenditures and infant mortality rate per 1,000 live births. </a:t>
            </a:r>
            <a:endParaRPr lang="en-US" dirty="0" smtClean="0"/>
          </a:p>
          <a:p>
            <a:r>
              <a:rPr lang="en-US" dirty="0" smtClean="0"/>
              <a:t>To </a:t>
            </a:r>
            <a:r>
              <a:rPr lang="en-US" dirty="0"/>
              <a:t>keep things manageable, we’ll just take the subset of countries that spent more than $2000 USD per capita:</a:t>
            </a:r>
          </a:p>
          <a:p>
            <a:pPr marL="0" indent="0">
              <a:buNone/>
            </a:pPr>
            <a:r>
              <a:rPr lang="en-US" dirty="0" smtClean="0"/>
              <a:t>	</a:t>
            </a:r>
            <a:r>
              <a:rPr lang="en-US" sz="2400" dirty="0" smtClean="0"/>
              <a:t>library(</a:t>
            </a:r>
            <a:r>
              <a:rPr lang="en-US" sz="2400" dirty="0" err="1" smtClean="0"/>
              <a:t>gcookbook</a:t>
            </a:r>
            <a:r>
              <a:rPr lang="en-US" sz="2400" dirty="0"/>
              <a:t>) # For the data set subset(countries, Year==2009 &amp; </a:t>
            </a:r>
            <a:r>
              <a:rPr lang="en-US" sz="2400" dirty="0" err="1"/>
              <a:t>healthexp</a:t>
            </a:r>
            <a:r>
              <a:rPr lang="en-US" sz="2400" dirty="0"/>
              <a:t>&gt;2000)</a:t>
            </a:r>
          </a:p>
          <a:p>
            <a:pPr marL="0" indent="0">
              <a:buNone/>
            </a:pPr>
            <a:r>
              <a:rPr lang="en-US" dirty="0"/>
              <a:t> </a:t>
            </a:r>
          </a:p>
        </p:txBody>
      </p:sp>
    </p:spTree>
    <p:extLst>
      <p:ext uri="{BB962C8B-B14F-4D97-AF65-F5344CB8AC3E}">
        <p14:creationId xmlns:p14="http://schemas.microsoft.com/office/powerpoint/2010/main" xmlns="" val="1159631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8585" y="316524"/>
            <a:ext cx="10955215" cy="5860440"/>
          </a:xfrm>
        </p:spPr>
        <p:txBody>
          <a:bodyPr>
            <a:normAutofit fontScale="92500" lnSpcReduction="10000"/>
          </a:bodyPr>
          <a:lstStyle/>
          <a:p>
            <a:r>
              <a:rPr lang="en-US" dirty="0"/>
              <a:t>We’ll save the basic scatter plot object in </a:t>
            </a:r>
            <a:r>
              <a:rPr lang="en-US" dirty="0" err="1"/>
              <a:t>sp</a:t>
            </a:r>
            <a:r>
              <a:rPr lang="en-US" dirty="0"/>
              <a:t> and add then add things to it</a:t>
            </a:r>
            <a:r>
              <a:rPr lang="en-US" dirty="0" smtClean="0"/>
              <a:t>.</a:t>
            </a:r>
          </a:p>
          <a:p>
            <a:r>
              <a:rPr lang="en-US" dirty="0" smtClean="0"/>
              <a:t> </a:t>
            </a:r>
            <a:r>
              <a:rPr lang="en-US" dirty="0"/>
              <a:t>To manually add annotations, use annotate(), and specify the coordinates and </a:t>
            </a:r>
            <a:r>
              <a:rPr lang="en-US" dirty="0" smtClean="0"/>
              <a:t>label.</a:t>
            </a:r>
          </a:p>
          <a:p>
            <a:r>
              <a:rPr lang="en-US" dirty="0" smtClean="0"/>
              <a:t> </a:t>
            </a:r>
            <a:r>
              <a:rPr lang="en-US" dirty="0"/>
              <a:t>It may require some trial-and-error tweaking to get them positioned just right:</a:t>
            </a:r>
          </a:p>
          <a:p>
            <a:pPr marL="0" indent="0">
              <a:buNone/>
            </a:pPr>
            <a:r>
              <a:rPr lang="en-US" dirty="0" smtClean="0"/>
              <a:t>	</a:t>
            </a:r>
            <a:r>
              <a:rPr lang="en-US" sz="2400" dirty="0" err="1" smtClean="0"/>
              <a:t>sp</a:t>
            </a:r>
            <a:r>
              <a:rPr lang="en-US" sz="2400" dirty="0" smtClean="0"/>
              <a:t> </a:t>
            </a:r>
            <a:r>
              <a:rPr lang="en-US" sz="2400" dirty="0"/>
              <a:t>&lt;- </a:t>
            </a:r>
            <a:r>
              <a:rPr lang="en-US" sz="2400" dirty="0" err="1"/>
              <a:t>ggplot</a:t>
            </a:r>
            <a:r>
              <a:rPr lang="en-US" sz="2400" dirty="0"/>
              <a:t>(subset(countries, Year==2009 &amp; </a:t>
            </a:r>
            <a:r>
              <a:rPr lang="en-US" sz="2400" dirty="0" err="1"/>
              <a:t>healthexp</a:t>
            </a:r>
            <a:r>
              <a:rPr lang="en-US" sz="2400" dirty="0"/>
              <a:t>&gt;2000),             </a:t>
            </a:r>
            <a:r>
              <a:rPr lang="en-US" sz="2400" dirty="0" err="1"/>
              <a:t>aes</a:t>
            </a:r>
            <a:r>
              <a:rPr lang="en-US" sz="2400" dirty="0"/>
              <a:t>(x=</a:t>
            </a:r>
            <a:r>
              <a:rPr lang="en-US" sz="2400" dirty="0" err="1"/>
              <a:t>healthexp</a:t>
            </a:r>
            <a:r>
              <a:rPr lang="en-US" sz="2400" dirty="0"/>
              <a:t>, y=</a:t>
            </a:r>
            <a:r>
              <a:rPr lang="en-US" sz="2400" dirty="0" err="1"/>
              <a:t>infmortality</a:t>
            </a:r>
            <a:r>
              <a:rPr lang="en-US" sz="2400" dirty="0"/>
              <a:t>)) </a:t>
            </a:r>
            <a:r>
              <a:rPr lang="en-US" sz="2400" dirty="0" smtClean="0"/>
              <a:t>+</a:t>
            </a:r>
          </a:p>
          <a:p>
            <a:pPr marL="0" indent="0">
              <a:buNone/>
            </a:pPr>
            <a:r>
              <a:rPr lang="en-US" sz="2400" dirty="0"/>
              <a:t> </a:t>
            </a:r>
            <a:r>
              <a:rPr lang="en-US" sz="2400" dirty="0" smtClean="0"/>
              <a:t>	</a:t>
            </a:r>
            <a:r>
              <a:rPr lang="en-US" sz="2400" dirty="0" err="1" smtClean="0"/>
              <a:t>geom_point</a:t>
            </a:r>
            <a:r>
              <a:rPr lang="en-US" sz="2400" dirty="0"/>
              <a:t>()</a:t>
            </a:r>
          </a:p>
          <a:p>
            <a:pPr marL="0" indent="0">
              <a:buNone/>
            </a:pPr>
            <a:r>
              <a:rPr lang="en-US" sz="2400" dirty="0" smtClean="0"/>
              <a:t>	</a:t>
            </a:r>
            <a:r>
              <a:rPr lang="en-US" sz="2400" dirty="0" err="1" smtClean="0"/>
              <a:t>sp</a:t>
            </a:r>
            <a:r>
              <a:rPr lang="en-US" sz="2400" dirty="0" smtClean="0"/>
              <a:t> </a:t>
            </a:r>
            <a:r>
              <a:rPr lang="en-US" sz="2400" dirty="0"/>
              <a:t>+ annotate("text", x=4350, y=5.4, label="Canada") +   </a:t>
            </a:r>
            <a:endParaRPr lang="en-US" sz="2400" dirty="0" smtClean="0"/>
          </a:p>
          <a:p>
            <a:pPr marL="0" indent="0">
              <a:buNone/>
            </a:pPr>
            <a:r>
              <a:rPr lang="en-US" sz="2400" dirty="0" smtClean="0"/>
              <a:t>  	annotate</a:t>
            </a:r>
            <a:r>
              <a:rPr lang="en-US" sz="2400" dirty="0"/>
              <a:t>("text", x=7400, y=6.8, label="USA</a:t>
            </a:r>
            <a:r>
              <a:rPr lang="en-US" sz="2400" dirty="0" smtClean="0"/>
              <a:t>")</a:t>
            </a:r>
          </a:p>
          <a:p>
            <a:r>
              <a:rPr lang="en-US" sz="2400" dirty="0" smtClean="0"/>
              <a:t>To </a:t>
            </a:r>
            <a:r>
              <a:rPr lang="en-US" sz="2400" dirty="0"/>
              <a:t>automatically add the labels from your data </a:t>
            </a:r>
            <a:r>
              <a:rPr lang="en-US" sz="2400" dirty="0" smtClean="0"/>
              <a:t>, </a:t>
            </a:r>
            <a:r>
              <a:rPr lang="en-US" sz="2400" dirty="0"/>
              <a:t>use </a:t>
            </a:r>
            <a:r>
              <a:rPr lang="en-US" sz="2400" dirty="0" err="1"/>
              <a:t>geom_text</a:t>
            </a:r>
            <a:r>
              <a:rPr lang="en-US" sz="2400" dirty="0"/>
              <a:t>() and map a column that is a factor or character vector to the label aesthetic. </a:t>
            </a:r>
            <a:endParaRPr lang="en-US" sz="2400" dirty="0" smtClean="0"/>
          </a:p>
          <a:p>
            <a:r>
              <a:rPr lang="en-US" sz="2400" dirty="0" smtClean="0"/>
              <a:t>In </a:t>
            </a:r>
            <a:r>
              <a:rPr lang="en-US" sz="2400" dirty="0"/>
              <a:t>this case, we’ll use Name, and we’ll make the font slightly smaller to reduce crowding. The default value for size is 5, which doesn’t correspond directly to a point size:</a:t>
            </a:r>
          </a:p>
          <a:p>
            <a:pPr marL="0" indent="0">
              <a:buNone/>
            </a:pPr>
            <a:r>
              <a:rPr lang="en-US" sz="2400" dirty="0" smtClean="0"/>
              <a:t>	</a:t>
            </a:r>
            <a:r>
              <a:rPr lang="en-US" sz="2400" dirty="0" err="1" smtClean="0"/>
              <a:t>sp</a:t>
            </a:r>
            <a:r>
              <a:rPr lang="en-US" sz="2400" dirty="0" smtClean="0"/>
              <a:t> </a:t>
            </a:r>
            <a:r>
              <a:rPr lang="en-US" sz="2400" dirty="0"/>
              <a:t>+ </a:t>
            </a:r>
            <a:r>
              <a:rPr lang="en-US" sz="2400" dirty="0" err="1"/>
              <a:t>geom_text</a:t>
            </a:r>
            <a:r>
              <a:rPr lang="en-US" sz="2400" dirty="0"/>
              <a:t>(</a:t>
            </a:r>
            <a:r>
              <a:rPr lang="en-US" sz="2400" dirty="0" err="1"/>
              <a:t>aes</a:t>
            </a:r>
            <a:r>
              <a:rPr lang="en-US" sz="2400" dirty="0"/>
              <a:t>(label=Name), size=4)</a:t>
            </a:r>
          </a:p>
          <a:p>
            <a:endParaRPr lang="en-US" dirty="0"/>
          </a:p>
        </p:txBody>
      </p:sp>
    </p:spTree>
    <p:extLst>
      <p:ext uri="{BB962C8B-B14F-4D97-AF65-F5344CB8AC3E}">
        <p14:creationId xmlns:p14="http://schemas.microsoft.com/office/powerpoint/2010/main" xmlns="" val="1159631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11016"/>
            <a:ext cx="10515600" cy="1325563"/>
          </a:xfrm>
        </p:spPr>
        <p:txBody>
          <a:bodyPr>
            <a:normAutofit/>
          </a:bodyPr>
          <a:lstStyle/>
          <a:p>
            <a:r>
              <a:rPr lang="en-US" sz="2800" b="1" dirty="0">
                <a:latin typeface="Calibri "/>
              </a:rPr>
              <a:t> Creating a Balloon Plot</a:t>
            </a:r>
          </a:p>
        </p:txBody>
      </p:sp>
      <p:sp>
        <p:nvSpPr>
          <p:cNvPr id="3" name="Content Placeholder 2"/>
          <p:cNvSpPr>
            <a:spLocks noGrp="1"/>
          </p:cNvSpPr>
          <p:nvPr>
            <p:ph idx="1"/>
          </p:nvPr>
        </p:nvSpPr>
        <p:spPr>
          <a:xfrm>
            <a:off x="257908" y="832338"/>
            <a:ext cx="11095892" cy="5356349"/>
          </a:xfrm>
        </p:spPr>
        <p:txBody>
          <a:bodyPr>
            <a:normAutofit fontScale="92500" lnSpcReduction="10000"/>
          </a:bodyPr>
          <a:lstStyle/>
          <a:p>
            <a:r>
              <a:rPr lang="en-US" dirty="0"/>
              <a:t>Use </a:t>
            </a:r>
            <a:r>
              <a:rPr lang="en-US" dirty="0" err="1"/>
              <a:t>geom_point</a:t>
            </a:r>
            <a:r>
              <a:rPr lang="en-US" dirty="0"/>
              <a:t>() with </a:t>
            </a:r>
            <a:r>
              <a:rPr lang="en-US" dirty="0" err="1"/>
              <a:t>scale_size_area</a:t>
            </a:r>
            <a:r>
              <a:rPr lang="en-US" dirty="0" smtClean="0"/>
              <a:t>().</a:t>
            </a:r>
          </a:p>
          <a:p>
            <a:r>
              <a:rPr lang="en-US" dirty="0" smtClean="0"/>
              <a:t> </a:t>
            </a:r>
            <a:r>
              <a:rPr lang="en-US" dirty="0"/>
              <a:t>For this example, we’ll use a subset of the countries data set:</a:t>
            </a:r>
          </a:p>
          <a:p>
            <a:pPr marL="0" indent="0">
              <a:buNone/>
            </a:pPr>
            <a:r>
              <a:rPr lang="en-US" sz="2400" dirty="0" smtClean="0"/>
              <a:t>	library(</a:t>
            </a:r>
            <a:r>
              <a:rPr lang="en-US" sz="2400" dirty="0" err="1" smtClean="0"/>
              <a:t>gcookbook</a:t>
            </a:r>
            <a:r>
              <a:rPr lang="en-US" sz="2400" dirty="0"/>
              <a:t>) # For the data set</a:t>
            </a:r>
          </a:p>
          <a:p>
            <a:pPr marL="0" indent="0">
              <a:buNone/>
            </a:pPr>
            <a:r>
              <a:rPr lang="en-US" sz="2400" dirty="0" smtClean="0"/>
              <a:t>	</a:t>
            </a:r>
            <a:r>
              <a:rPr lang="en-US" sz="2400" dirty="0" err="1" smtClean="0"/>
              <a:t>cdat</a:t>
            </a:r>
            <a:r>
              <a:rPr lang="en-US" sz="2400" dirty="0" smtClean="0"/>
              <a:t> </a:t>
            </a:r>
            <a:r>
              <a:rPr lang="en-US" sz="2400" dirty="0"/>
              <a:t>&lt;- subset(countries, Year==2009 &amp;    Name %in% c("Canada", "Ireland", "United Kingdom", "United States",                "New Zealand", "Iceland", "Japan", "Luxembourg",                "Netherlands", "Switzerland</a:t>
            </a:r>
            <a:r>
              <a:rPr lang="en-US" sz="2400" dirty="0" smtClean="0"/>
              <a:t>"))</a:t>
            </a:r>
          </a:p>
          <a:p>
            <a:r>
              <a:rPr lang="en-US" sz="2400" dirty="0"/>
              <a:t>If we just map GDP to size, the value of GDP gets mapped to the radius of </a:t>
            </a:r>
            <a:r>
              <a:rPr lang="en-US" sz="2400" dirty="0" smtClean="0"/>
              <a:t>the dots, </a:t>
            </a:r>
            <a:r>
              <a:rPr lang="en-US" sz="2400" dirty="0"/>
              <a:t>which is not what we want; a doubling of value results in a quadrupling of area, and this will distort the interpretation of the data. </a:t>
            </a:r>
            <a:endParaRPr lang="en-US" sz="2400" dirty="0" smtClean="0"/>
          </a:p>
          <a:p>
            <a:r>
              <a:rPr lang="en-US" sz="2400" dirty="0" smtClean="0"/>
              <a:t>We </a:t>
            </a:r>
            <a:r>
              <a:rPr lang="en-US" sz="2400" dirty="0"/>
              <a:t>instead want to map it to the area, and we can do this using </a:t>
            </a:r>
            <a:r>
              <a:rPr lang="en-US" sz="2400" dirty="0" err="1"/>
              <a:t>scale_size_area</a:t>
            </a:r>
            <a:r>
              <a:rPr lang="en-US" sz="2400" dirty="0" smtClean="0"/>
              <a:t>():</a:t>
            </a:r>
            <a:endParaRPr lang="en-US" sz="2400" dirty="0"/>
          </a:p>
          <a:p>
            <a:pPr marL="0" indent="0">
              <a:buNone/>
            </a:pPr>
            <a:r>
              <a:rPr lang="en-US" sz="2400" dirty="0" smtClean="0"/>
              <a:t>	p </a:t>
            </a:r>
            <a:r>
              <a:rPr lang="en-US" sz="2400" dirty="0"/>
              <a:t>&lt;- </a:t>
            </a:r>
            <a:r>
              <a:rPr lang="en-US" sz="2400" dirty="0" err="1"/>
              <a:t>ggplot</a:t>
            </a:r>
            <a:r>
              <a:rPr lang="en-US" sz="2400" dirty="0"/>
              <a:t>(</a:t>
            </a:r>
            <a:r>
              <a:rPr lang="en-US" sz="2400" dirty="0" err="1"/>
              <a:t>cdat</a:t>
            </a:r>
            <a:r>
              <a:rPr lang="en-US" sz="2400" dirty="0"/>
              <a:t>, </a:t>
            </a:r>
            <a:r>
              <a:rPr lang="en-US" sz="2400" dirty="0" err="1"/>
              <a:t>aes</a:t>
            </a:r>
            <a:r>
              <a:rPr lang="en-US" sz="2400" dirty="0"/>
              <a:t>(x=</a:t>
            </a:r>
            <a:r>
              <a:rPr lang="en-US" sz="2400" dirty="0" err="1"/>
              <a:t>healthexp</a:t>
            </a:r>
            <a:r>
              <a:rPr lang="en-US" sz="2400" dirty="0"/>
              <a:t>, y=</a:t>
            </a:r>
            <a:r>
              <a:rPr lang="en-US" sz="2400" dirty="0" err="1"/>
              <a:t>infmortality</a:t>
            </a:r>
            <a:r>
              <a:rPr lang="en-US" sz="2400" dirty="0"/>
              <a:t>, size=GDP)) +     </a:t>
            </a:r>
            <a:r>
              <a:rPr lang="en-US" sz="2400" dirty="0" err="1"/>
              <a:t>geom_point</a:t>
            </a:r>
            <a:r>
              <a:rPr lang="en-US" sz="2400" dirty="0"/>
              <a:t>(shape=21, </a:t>
            </a:r>
            <a:r>
              <a:rPr lang="en-US" sz="2400" dirty="0" err="1"/>
              <a:t>colour</a:t>
            </a:r>
            <a:r>
              <a:rPr lang="en-US" sz="2400" dirty="0"/>
              <a:t>="black", fill="</a:t>
            </a:r>
            <a:r>
              <a:rPr lang="en-US" sz="2400" dirty="0" err="1"/>
              <a:t>cornsilk</a:t>
            </a:r>
            <a:r>
              <a:rPr lang="en-US" sz="2400" dirty="0"/>
              <a:t>")</a:t>
            </a:r>
          </a:p>
          <a:p>
            <a:pPr marL="0" indent="0">
              <a:buNone/>
            </a:pPr>
            <a:r>
              <a:rPr lang="en-US" sz="2400" dirty="0" smtClean="0"/>
              <a:t>	# </a:t>
            </a:r>
            <a:r>
              <a:rPr lang="en-US" sz="2400" dirty="0"/>
              <a:t>GDP mapped to radius (default with </a:t>
            </a:r>
            <a:r>
              <a:rPr lang="en-US" sz="2400" dirty="0" err="1"/>
              <a:t>scale_size_continuous</a:t>
            </a:r>
            <a:r>
              <a:rPr lang="en-US" sz="2400" dirty="0"/>
              <a:t>) p</a:t>
            </a:r>
          </a:p>
          <a:p>
            <a:pPr marL="0" indent="0">
              <a:buNone/>
            </a:pPr>
            <a:r>
              <a:rPr lang="en-US" sz="2400" dirty="0" smtClean="0"/>
              <a:t>	# </a:t>
            </a:r>
            <a:r>
              <a:rPr lang="en-US" sz="2400" dirty="0"/>
              <a:t>GDP mapped to area instead, and larger circles p + </a:t>
            </a:r>
            <a:r>
              <a:rPr lang="en-US" sz="2400" dirty="0" err="1"/>
              <a:t>scale_size_area</a:t>
            </a:r>
            <a:r>
              <a:rPr lang="en-US" sz="2400" dirty="0"/>
              <a:t>(</a:t>
            </a:r>
            <a:r>
              <a:rPr lang="en-US" sz="2400" dirty="0" err="1"/>
              <a:t>max_size</a:t>
            </a:r>
            <a:r>
              <a:rPr lang="en-US" sz="2400" dirty="0"/>
              <a:t>=15)</a:t>
            </a:r>
          </a:p>
          <a:p>
            <a:endParaRPr lang="en-US" sz="2400" dirty="0" smtClean="0"/>
          </a:p>
          <a:p>
            <a:pPr marL="0" indent="0">
              <a:buNone/>
            </a:pPr>
            <a:endParaRPr lang="en-US" sz="2400" dirty="0"/>
          </a:p>
          <a:p>
            <a:endParaRPr lang="en-US" sz="2400" dirty="0"/>
          </a:p>
        </p:txBody>
      </p:sp>
    </p:spTree>
    <p:extLst>
      <p:ext uri="{BB962C8B-B14F-4D97-AF65-F5344CB8AC3E}">
        <p14:creationId xmlns:p14="http://schemas.microsoft.com/office/powerpoint/2010/main" xmlns="" val="1159631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8939" y="164123"/>
            <a:ext cx="10515600" cy="1325563"/>
          </a:xfrm>
        </p:spPr>
        <p:txBody>
          <a:bodyPr>
            <a:normAutofit/>
          </a:bodyPr>
          <a:lstStyle/>
          <a:p>
            <a:r>
              <a:rPr lang="en-US" sz="2800" b="1" dirty="0">
                <a:latin typeface="Calibri "/>
              </a:rPr>
              <a:t>Making a Scatter Plot Matrix</a:t>
            </a:r>
          </a:p>
        </p:txBody>
      </p:sp>
      <p:sp>
        <p:nvSpPr>
          <p:cNvPr id="3" name="Content Placeholder 2"/>
          <p:cNvSpPr>
            <a:spLocks noGrp="1"/>
          </p:cNvSpPr>
          <p:nvPr>
            <p:ph idx="1"/>
          </p:nvPr>
        </p:nvSpPr>
        <p:spPr>
          <a:xfrm>
            <a:off x="838200" y="1326524"/>
            <a:ext cx="10515600" cy="4850439"/>
          </a:xfrm>
        </p:spPr>
        <p:txBody>
          <a:bodyPr>
            <a:normAutofit/>
          </a:bodyPr>
          <a:lstStyle/>
          <a:p>
            <a:r>
              <a:rPr lang="en-US" dirty="0"/>
              <a:t>A scatter plot matrix is an excellent way of visualizing the pairwise relationships among several variables. </a:t>
            </a:r>
            <a:endParaRPr lang="en-US" dirty="0" smtClean="0"/>
          </a:p>
          <a:p>
            <a:r>
              <a:rPr lang="en-US" dirty="0" smtClean="0"/>
              <a:t>To </a:t>
            </a:r>
            <a:r>
              <a:rPr lang="en-US" dirty="0"/>
              <a:t>make one, use the pairs() function from R’s base graphics. For this example, we’ll use a subset of the countries data set</a:t>
            </a:r>
            <a:r>
              <a:rPr lang="en-US" dirty="0" smtClean="0"/>
              <a:t>.</a:t>
            </a:r>
          </a:p>
          <a:p>
            <a:r>
              <a:rPr lang="en-US" dirty="0" smtClean="0"/>
              <a:t> </a:t>
            </a:r>
            <a:r>
              <a:rPr lang="en-US" dirty="0"/>
              <a:t>We’ll pull out the data for the year 2009, and keep only the columns that are relevant:</a:t>
            </a:r>
          </a:p>
          <a:p>
            <a:pPr marL="457200" lvl="1" indent="0">
              <a:buNone/>
            </a:pPr>
            <a:r>
              <a:rPr lang="en-US" sz="2000" dirty="0"/>
              <a:t>library(</a:t>
            </a:r>
            <a:r>
              <a:rPr lang="en-US" sz="2000" dirty="0" err="1"/>
              <a:t>gcookbook</a:t>
            </a:r>
            <a:r>
              <a:rPr lang="en-US" sz="2000" dirty="0"/>
              <a:t>) # For the data set c2009 &lt;- subset(countries, Year==2009,                select=c(Name, GDP, </a:t>
            </a:r>
            <a:r>
              <a:rPr lang="en-US" sz="2000" dirty="0" err="1"/>
              <a:t>laborrate</a:t>
            </a:r>
            <a:r>
              <a:rPr lang="en-US" sz="2000" dirty="0"/>
              <a:t>, </a:t>
            </a:r>
            <a:r>
              <a:rPr lang="en-US" sz="2000" dirty="0" err="1"/>
              <a:t>healthexp</a:t>
            </a:r>
            <a:r>
              <a:rPr lang="en-US" sz="2000" dirty="0"/>
              <a:t>, </a:t>
            </a:r>
            <a:r>
              <a:rPr lang="en-US" sz="2000" dirty="0" err="1"/>
              <a:t>infmortality</a:t>
            </a:r>
            <a:r>
              <a:rPr lang="en-US" sz="2000" dirty="0" smtClean="0"/>
              <a:t>)) </a:t>
            </a:r>
          </a:p>
          <a:p>
            <a:pPr lvl="1"/>
            <a:r>
              <a:rPr lang="en-US" sz="2000" dirty="0"/>
              <a:t>To make the scatter plot matrix (Figure 5-36), we’ll use columns 2 through 5—using the Name column wouldn’t make sense, and it would produce strange-looking results:</a:t>
            </a:r>
          </a:p>
          <a:p>
            <a:pPr marL="457200" lvl="1" indent="0">
              <a:buNone/>
            </a:pPr>
            <a:r>
              <a:rPr lang="en-US" sz="2000" dirty="0" smtClean="0"/>
              <a:t>		pairs(c2009</a:t>
            </a:r>
            <a:r>
              <a:rPr lang="en-US" sz="2000" dirty="0"/>
              <a:t>[,2:5])</a:t>
            </a:r>
          </a:p>
          <a:p>
            <a:pPr marL="457200" lvl="1" indent="0">
              <a:buNone/>
            </a:pPr>
            <a:endParaRPr lang="en-US" sz="2000" dirty="0" smtClean="0"/>
          </a:p>
          <a:p>
            <a:pPr marL="457200" lvl="1" indent="0">
              <a:buNone/>
            </a:pPr>
            <a:endParaRPr lang="en-US" sz="2000" dirty="0" smtClean="0"/>
          </a:p>
          <a:p>
            <a:pPr marL="457200" lvl="1" indent="0">
              <a:buNone/>
            </a:pPr>
            <a:endParaRPr lang="en-US" sz="2000" dirty="0"/>
          </a:p>
        </p:txBody>
      </p:sp>
    </p:spTree>
    <p:extLst>
      <p:ext uri="{BB962C8B-B14F-4D97-AF65-F5344CB8AC3E}">
        <p14:creationId xmlns:p14="http://schemas.microsoft.com/office/powerpoint/2010/main" xmlns="" val="1159631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Line </a:t>
            </a:r>
            <a:r>
              <a:rPr lang="en-US" b="1" dirty="0"/>
              <a:t>Graphs</a:t>
            </a:r>
          </a:p>
        </p:txBody>
      </p:sp>
      <p:sp>
        <p:nvSpPr>
          <p:cNvPr id="3" name="Content Placeholder 2"/>
          <p:cNvSpPr>
            <a:spLocks noGrp="1"/>
          </p:cNvSpPr>
          <p:nvPr>
            <p:ph idx="1"/>
          </p:nvPr>
        </p:nvSpPr>
        <p:spPr>
          <a:xfrm>
            <a:off x="838200" y="1326524"/>
            <a:ext cx="10515600" cy="4850439"/>
          </a:xfrm>
        </p:spPr>
        <p:txBody>
          <a:bodyPr>
            <a:normAutofit/>
          </a:bodyPr>
          <a:lstStyle/>
          <a:p>
            <a:pPr lvl="1">
              <a:lnSpc>
                <a:spcPct val="150000"/>
              </a:lnSpc>
            </a:pPr>
            <a:r>
              <a:rPr lang="en-US" dirty="0"/>
              <a:t>Line graphs are typically used for visualizing how one continuous variable, on the </a:t>
            </a:r>
            <a:r>
              <a:rPr lang="en-US" dirty="0" err="1"/>
              <a:t>yaxis</a:t>
            </a:r>
            <a:r>
              <a:rPr lang="en-US" dirty="0"/>
              <a:t>, changes in relation to another continuous variable, on the x-axis. </a:t>
            </a:r>
            <a:endParaRPr lang="en-US" dirty="0" smtClean="0"/>
          </a:p>
          <a:p>
            <a:pPr lvl="1">
              <a:lnSpc>
                <a:spcPct val="150000"/>
              </a:lnSpc>
            </a:pPr>
            <a:r>
              <a:rPr lang="en-US" dirty="0"/>
              <a:t> Often the x variable represents time, but it may also represent some other continuous quantity, like the amount of a drug administered to experimental subjects</a:t>
            </a:r>
            <a:r>
              <a:rPr lang="en-US" dirty="0" smtClean="0"/>
              <a:t>.</a:t>
            </a:r>
          </a:p>
          <a:p>
            <a:pPr lvl="1">
              <a:lnSpc>
                <a:spcPct val="150000"/>
              </a:lnSpc>
            </a:pPr>
            <a:r>
              <a:rPr lang="en-US" dirty="0"/>
              <a:t>. Line graphs can also be used with a discrete variable on the x-axis. This is appropriate when the variable is ordered (e.g., “small”, “medium”, “large”), but not when the variable is unordered (e.g., “cow”, “goose”, “pig”). </a:t>
            </a:r>
          </a:p>
        </p:txBody>
      </p:sp>
    </p:spTree>
    <p:extLst>
      <p:ext uri="{BB962C8B-B14F-4D97-AF65-F5344CB8AC3E}">
        <p14:creationId xmlns:p14="http://schemas.microsoft.com/office/powerpoint/2010/main" xmlns="" val="26548110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Calibri "/>
              </a:rPr>
              <a:t>You want to make a basic line graph. </a:t>
            </a:r>
          </a:p>
        </p:txBody>
      </p:sp>
      <p:sp>
        <p:nvSpPr>
          <p:cNvPr id="3" name="Content Placeholder 2"/>
          <p:cNvSpPr>
            <a:spLocks noGrp="1"/>
          </p:cNvSpPr>
          <p:nvPr>
            <p:ph idx="1"/>
          </p:nvPr>
        </p:nvSpPr>
        <p:spPr>
          <a:xfrm>
            <a:off x="838200" y="1326524"/>
            <a:ext cx="10515600" cy="4850439"/>
          </a:xfrm>
        </p:spPr>
        <p:txBody>
          <a:bodyPr>
            <a:normAutofit/>
          </a:bodyPr>
          <a:lstStyle/>
          <a:p>
            <a:r>
              <a:rPr lang="en-US" dirty="0"/>
              <a:t>Use </a:t>
            </a:r>
            <a:r>
              <a:rPr lang="en-US" dirty="0" err="1"/>
              <a:t>ggplot</a:t>
            </a:r>
            <a:r>
              <a:rPr lang="en-US" dirty="0"/>
              <a:t>() with </a:t>
            </a:r>
            <a:r>
              <a:rPr lang="en-US" dirty="0" err="1"/>
              <a:t>geom_line</a:t>
            </a:r>
            <a:r>
              <a:rPr lang="en-US" dirty="0"/>
              <a:t>(), and specify what variables you mapped to x and </a:t>
            </a:r>
            <a:r>
              <a:rPr lang="en-US" dirty="0" smtClean="0"/>
              <a:t>y</a:t>
            </a:r>
          </a:p>
          <a:p>
            <a:r>
              <a:rPr lang="en-US" dirty="0"/>
              <a:t> Basic line graph with a factor on the x-axis (notice that no space is allocated on the x-axis for 6</a:t>
            </a:r>
            <a:r>
              <a:rPr lang="en-US" dirty="0" smtClean="0"/>
              <a:t>)</a:t>
            </a:r>
          </a:p>
          <a:p>
            <a:pPr marL="0" indent="0">
              <a:buNone/>
            </a:pPr>
            <a:r>
              <a:rPr lang="en-US" dirty="0" smtClean="0"/>
              <a:t>	</a:t>
            </a:r>
            <a:r>
              <a:rPr lang="en-US" sz="2400" dirty="0" err="1" smtClean="0"/>
              <a:t>ggplot</a:t>
            </a:r>
            <a:r>
              <a:rPr lang="en-US" sz="2400" dirty="0" smtClean="0"/>
              <a:t>(BOD</a:t>
            </a:r>
            <a:r>
              <a:rPr lang="en-US" sz="2400" dirty="0"/>
              <a:t>, </a:t>
            </a:r>
            <a:r>
              <a:rPr lang="en-US" sz="2400" dirty="0" err="1"/>
              <a:t>aes</a:t>
            </a:r>
            <a:r>
              <a:rPr lang="en-US" sz="2400" dirty="0"/>
              <a:t>(x=Time, y=demand)) + </a:t>
            </a:r>
            <a:r>
              <a:rPr lang="en-US" sz="2400" dirty="0" err="1"/>
              <a:t>geom_line</a:t>
            </a:r>
            <a:r>
              <a:rPr lang="en-US" sz="2400" dirty="0"/>
              <a:t>()</a:t>
            </a:r>
          </a:p>
          <a:p>
            <a:pPr marL="0" indent="0">
              <a:buNone/>
            </a:pPr>
            <a:r>
              <a:rPr lang="en-US" dirty="0"/>
              <a:t>	</a:t>
            </a:r>
            <a:r>
              <a:rPr lang="en-US" sz="2400" dirty="0"/>
              <a:t>BOD1 &lt;- BOD # Make a copy of the </a:t>
            </a:r>
            <a:r>
              <a:rPr lang="en-US" sz="2400" dirty="0" smtClean="0"/>
              <a:t>data</a:t>
            </a:r>
          </a:p>
          <a:p>
            <a:pPr marL="0" indent="0">
              <a:buNone/>
            </a:pPr>
            <a:r>
              <a:rPr lang="en-US" sz="2400" dirty="0"/>
              <a:t>	</a:t>
            </a:r>
            <a:r>
              <a:rPr lang="en-US" sz="2400" dirty="0" smtClean="0"/>
              <a:t>BOD1$Time </a:t>
            </a:r>
            <a:r>
              <a:rPr lang="en-US" sz="2400" dirty="0"/>
              <a:t>&lt;- </a:t>
            </a:r>
            <a:r>
              <a:rPr lang="en-US" sz="2400" dirty="0" smtClean="0"/>
              <a:t>factor(BOD1$Time</a:t>
            </a:r>
            <a:r>
              <a:rPr lang="en-US" sz="2400" dirty="0"/>
              <a:t>) </a:t>
            </a:r>
            <a:endParaRPr lang="en-US" sz="2400" dirty="0" smtClean="0"/>
          </a:p>
          <a:p>
            <a:pPr marL="0" indent="0">
              <a:buNone/>
            </a:pPr>
            <a:r>
              <a:rPr lang="en-US" sz="2400" dirty="0"/>
              <a:t>	</a:t>
            </a:r>
            <a:r>
              <a:rPr lang="en-US" sz="2400" dirty="0" err="1" smtClean="0"/>
              <a:t>ggplot</a:t>
            </a:r>
            <a:r>
              <a:rPr lang="en-US" sz="2400" dirty="0" smtClean="0"/>
              <a:t>(BOD1</a:t>
            </a:r>
            <a:r>
              <a:rPr lang="en-US" sz="2400" dirty="0"/>
              <a:t>, </a:t>
            </a:r>
            <a:r>
              <a:rPr lang="en-US" sz="2400" dirty="0" err="1"/>
              <a:t>aes</a:t>
            </a:r>
            <a:r>
              <a:rPr lang="en-US" sz="2400" dirty="0"/>
              <a:t>(x=Time, y=demand, </a:t>
            </a:r>
            <a:r>
              <a:rPr lang="en-US" sz="2400" dirty="0" smtClean="0"/>
              <a:t>group=1</a:t>
            </a:r>
            <a:r>
              <a:rPr lang="en-US" sz="2400" dirty="0"/>
              <a:t>)) + </a:t>
            </a:r>
            <a:r>
              <a:rPr lang="en-US" sz="2400" dirty="0" err="1" smtClean="0"/>
              <a:t>geom_line</a:t>
            </a:r>
            <a:r>
              <a:rPr lang="en-US" sz="2400" dirty="0" smtClean="0"/>
              <a:t>() </a:t>
            </a:r>
          </a:p>
          <a:p>
            <a:pPr marL="0" indent="0">
              <a:buNone/>
            </a:pPr>
            <a:endParaRPr lang="en-US" dirty="0"/>
          </a:p>
        </p:txBody>
      </p:sp>
    </p:spTree>
    <p:extLst>
      <p:ext uri="{BB962C8B-B14F-4D97-AF65-F5344CB8AC3E}">
        <p14:creationId xmlns:p14="http://schemas.microsoft.com/office/powerpoint/2010/main" xmlns="" val="26548110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3754" y="281354"/>
            <a:ext cx="10920046" cy="5895609"/>
          </a:xfrm>
        </p:spPr>
        <p:txBody>
          <a:bodyPr>
            <a:normAutofit/>
          </a:bodyPr>
          <a:lstStyle/>
          <a:p>
            <a:r>
              <a:rPr lang="en-US" dirty="0" smtClean="0"/>
              <a:t>Line </a:t>
            </a:r>
            <a:r>
              <a:rPr lang="en-US" dirty="0"/>
              <a:t>graph with manually </a:t>
            </a:r>
            <a:r>
              <a:rPr lang="en-US" dirty="0" smtClean="0"/>
              <a:t>set </a:t>
            </a:r>
            <a:r>
              <a:rPr lang="en-US" dirty="0"/>
              <a:t>y </a:t>
            </a:r>
            <a:r>
              <a:rPr lang="en-US" dirty="0" smtClean="0"/>
              <a:t>range</a:t>
            </a:r>
          </a:p>
          <a:p>
            <a:pPr marL="0" indent="0">
              <a:buNone/>
            </a:pPr>
            <a:r>
              <a:rPr lang="en-US" dirty="0"/>
              <a:t>	</a:t>
            </a:r>
            <a:r>
              <a:rPr lang="en-US" sz="2400" dirty="0"/>
              <a:t># These have the same </a:t>
            </a:r>
            <a:r>
              <a:rPr lang="en-US" sz="2400" dirty="0" smtClean="0"/>
              <a:t>result</a:t>
            </a:r>
          </a:p>
          <a:p>
            <a:pPr marL="0" indent="0">
              <a:buNone/>
            </a:pPr>
            <a:r>
              <a:rPr lang="en-US" sz="2400" dirty="0"/>
              <a:t>	 </a:t>
            </a:r>
            <a:r>
              <a:rPr lang="en-US" sz="2400" dirty="0" err="1"/>
              <a:t>ggplot</a:t>
            </a:r>
            <a:r>
              <a:rPr lang="en-US" sz="2400" dirty="0"/>
              <a:t>(BOD, </a:t>
            </a:r>
            <a:r>
              <a:rPr lang="en-US" sz="2400" dirty="0" err="1"/>
              <a:t>aes</a:t>
            </a:r>
            <a:r>
              <a:rPr lang="en-US" sz="2400" dirty="0"/>
              <a:t>(x=Time, y=demand)) + </a:t>
            </a:r>
            <a:r>
              <a:rPr lang="en-US" sz="2400" dirty="0" err="1"/>
              <a:t>geom_line</a:t>
            </a:r>
            <a:r>
              <a:rPr lang="en-US" sz="2400" dirty="0"/>
              <a:t>() + </a:t>
            </a:r>
            <a:r>
              <a:rPr lang="en-US" sz="2400" dirty="0" err="1" smtClean="0"/>
              <a:t>ylim</a:t>
            </a:r>
            <a:r>
              <a:rPr lang="en-US" sz="2400" dirty="0" smtClean="0"/>
              <a:t>(0, max(</a:t>
            </a:r>
            <a:r>
              <a:rPr lang="en-US" sz="2400" dirty="0" err="1" smtClean="0"/>
              <a:t>BOD$demand</a:t>
            </a:r>
            <a:r>
              <a:rPr lang="en-US" sz="2400" dirty="0" smtClean="0"/>
              <a:t>))</a:t>
            </a:r>
          </a:p>
          <a:p>
            <a:pPr marL="0" indent="0">
              <a:buNone/>
            </a:pPr>
            <a:r>
              <a:rPr lang="en-US" sz="2400" dirty="0" smtClean="0"/>
              <a:t>	</a:t>
            </a:r>
            <a:r>
              <a:rPr lang="en-US" sz="2400" dirty="0" err="1" smtClean="0"/>
              <a:t>ggplot</a:t>
            </a:r>
            <a:r>
              <a:rPr lang="en-US" sz="2400" dirty="0" smtClean="0"/>
              <a:t>(BOD</a:t>
            </a:r>
            <a:r>
              <a:rPr lang="en-US" sz="2400" dirty="0"/>
              <a:t>, </a:t>
            </a:r>
            <a:r>
              <a:rPr lang="en-US" sz="2400" dirty="0" err="1"/>
              <a:t>aes</a:t>
            </a:r>
            <a:r>
              <a:rPr lang="en-US" sz="2400" dirty="0"/>
              <a:t>(x=Time, y=demand)) + </a:t>
            </a:r>
            <a:r>
              <a:rPr lang="en-US" sz="2400" dirty="0" err="1"/>
              <a:t>geom_line</a:t>
            </a:r>
            <a:r>
              <a:rPr lang="en-US" sz="2400" dirty="0"/>
              <a:t>() + </a:t>
            </a:r>
            <a:r>
              <a:rPr lang="en-US" sz="2400" dirty="0" err="1"/>
              <a:t>expand_limits</a:t>
            </a:r>
            <a:r>
              <a:rPr lang="en-US" sz="2400" dirty="0"/>
              <a:t>(y=0</a:t>
            </a:r>
            <a:r>
              <a:rPr lang="en-US" sz="2400" dirty="0" smtClean="0"/>
              <a:t>)</a:t>
            </a:r>
          </a:p>
          <a:p>
            <a:pPr marL="0" indent="0">
              <a:buNone/>
            </a:pPr>
            <a:endParaRPr lang="en-US" sz="2400" dirty="0"/>
          </a:p>
          <a:p>
            <a:pPr marL="0" indent="0">
              <a:buNone/>
            </a:pPr>
            <a:endParaRPr lang="en-US" sz="2400" dirty="0" smtClean="0"/>
          </a:p>
          <a:p>
            <a:pPr marL="0" indent="0">
              <a:buNone/>
            </a:pPr>
            <a:r>
              <a:rPr lang="en-US" sz="2400" dirty="0"/>
              <a:t> </a:t>
            </a:r>
            <a:r>
              <a:rPr lang="en-US" sz="2400" dirty="0" smtClean="0"/>
              <a:t>   </a:t>
            </a:r>
            <a:r>
              <a:rPr lang="en-US" b="1" dirty="0" smtClean="0"/>
              <a:t>Adding </a:t>
            </a:r>
            <a:r>
              <a:rPr lang="en-US" b="1" dirty="0"/>
              <a:t>Points </a:t>
            </a:r>
            <a:r>
              <a:rPr lang="en-US" b="1" dirty="0" smtClean="0"/>
              <a:t>to </a:t>
            </a:r>
            <a:r>
              <a:rPr lang="en-US" b="1" dirty="0"/>
              <a:t>a Line </a:t>
            </a:r>
            <a:r>
              <a:rPr lang="en-US" b="1" dirty="0" smtClean="0"/>
              <a:t>Graph</a:t>
            </a:r>
          </a:p>
          <a:p>
            <a:r>
              <a:rPr lang="en-US" sz="2400" dirty="0"/>
              <a:t>Add </a:t>
            </a:r>
            <a:r>
              <a:rPr lang="en-US" sz="2400" dirty="0" err="1"/>
              <a:t>geom_point</a:t>
            </a:r>
            <a:r>
              <a:rPr lang="en-US" sz="2400" dirty="0" smtClean="0"/>
              <a:t>()</a:t>
            </a:r>
          </a:p>
          <a:p>
            <a:pPr marL="457200" lvl="1" indent="0">
              <a:buNone/>
            </a:pPr>
            <a:r>
              <a:rPr lang="en-US" sz="2000" dirty="0" err="1"/>
              <a:t>ggplot</a:t>
            </a:r>
            <a:r>
              <a:rPr lang="en-US" sz="2000" dirty="0"/>
              <a:t>(BOD, </a:t>
            </a:r>
            <a:r>
              <a:rPr lang="en-US" sz="2000" dirty="0" err="1"/>
              <a:t>aes</a:t>
            </a:r>
            <a:r>
              <a:rPr lang="en-US" sz="2000" dirty="0"/>
              <a:t>(x=Time, y=demand)) + </a:t>
            </a:r>
            <a:r>
              <a:rPr lang="en-US" sz="2000" dirty="0" err="1"/>
              <a:t>geom_line</a:t>
            </a:r>
            <a:r>
              <a:rPr lang="en-US" sz="2000" dirty="0"/>
              <a:t>() + </a:t>
            </a:r>
            <a:r>
              <a:rPr lang="en-US" sz="2000" dirty="0" err="1"/>
              <a:t>geom_point</a:t>
            </a:r>
            <a:r>
              <a:rPr lang="en-US" sz="2000" dirty="0" smtClean="0"/>
              <a:t>()</a:t>
            </a:r>
            <a:endParaRPr lang="en-US" sz="2000" dirty="0"/>
          </a:p>
        </p:txBody>
      </p:sp>
    </p:spTree>
    <p:extLst>
      <p:ext uri="{BB962C8B-B14F-4D97-AF65-F5344CB8AC3E}">
        <p14:creationId xmlns:p14="http://schemas.microsoft.com/office/powerpoint/2010/main" xmlns="" val="26548110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8908" y="224448"/>
            <a:ext cx="10515600" cy="1325563"/>
          </a:xfrm>
        </p:spPr>
        <p:txBody>
          <a:bodyPr>
            <a:normAutofit/>
          </a:bodyPr>
          <a:lstStyle/>
          <a:p>
            <a:r>
              <a:rPr lang="en-US" sz="2800" b="1" dirty="0">
                <a:latin typeface="+mn-lt"/>
              </a:rPr>
              <a:t>Making a Line Graph with Multiple Lines</a:t>
            </a:r>
          </a:p>
        </p:txBody>
      </p:sp>
      <p:sp>
        <p:nvSpPr>
          <p:cNvPr id="3" name="Content Placeholder 2"/>
          <p:cNvSpPr>
            <a:spLocks noGrp="1"/>
          </p:cNvSpPr>
          <p:nvPr>
            <p:ph idx="1"/>
          </p:nvPr>
        </p:nvSpPr>
        <p:spPr>
          <a:xfrm>
            <a:off x="838200" y="1326524"/>
            <a:ext cx="10515600" cy="4850439"/>
          </a:xfrm>
        </p:spPr>
        <p:txBody>
          <a:bodyPr>
            <a:normAutofit/>
          </a:bodyPr>
          <a:lstStyle/>
          <a:p>
            <a:r>
              <a:rPr lang="en-US" dirty="0"/>
              <a:t>In addition to the variables mapped to the x- and y-axes, map another (discrete) variable to </a:t>
            </a:r>
            <a:r>
              <a:rPr lang="en-US" dirty="0" err="1"/>
              <a:t>colour</a:t>
            </a:r>
            <a:r>
              <a:rPr lang="en-US" dirty="0"/>
              <a:t> or </a:t>
            </a:r>
            <a:r>
              <a:rPr lang="en-US" dirty="0" err="1" smtClean="0"/>
              <a:t>linetype</a:t>
            </a:r>
            <a:endParaRPr lang="en-US" dirty="0" smtClean="0"/>
          </a:p>
          <a:p>
            <a:pPr marL="0" indent="0">
              <a:buNone/>
            </a:pPr>
            <a:r>
              <a:rPr lang="en-US" dirty="0"/>
              <a:t>	</a:t>
            </a:r>
            <a:r>
              <a:rPr lang="en-US" sz="2400" dirty="0" smtClean="0"/>
              <a:t># </a:t>
            </a:r>
            <a:r>
              <a:rPr lang="en-US" sz="2400" dirty="0"/>
              <a:t>Load </a:t>
            </a:r>
            <a:r>
              <a:rPr lang="en-US" sz="2400" dirty="0" err="1"/>
              <a:t>plyr</a:t>
            </a:r>
            <a:r>
              <a:rPr lang="en-US" sz="2400" dirty="0"/>
              <a:t> so we can use </a:t>
            </a:r>
            <a:r>
              <a:rPr lang="en-US" sz="2400" dirty="0" err="1"/>
              <a:t>ddply</a:t>
            </a:r>
            <a:r>
              <a:rPr lang="en-US" sz="2400" dirty="0"/>
              <a:t>() to create the example data set </a:t>
            </a:r>
            <a:r>
              <a:rPr lang="en-US" sz="2400" dirty="0" smtClean="0"/>
              <a:t>	 	library(</a:t>
            </a:r>
            <a:r>
              <a:rPr lang="en-US" sz="2400" dirty="0" err="1" smtClean="0"/>
              <a:t>plyr</a:t>
            </a:r>
            <a:r>
              <a:rPr lang="en-US" sz="2400" dirty="0" smtClean="0"/>
              <a:t>)</a:t>
            </a:r>
          </a:p>
          <a:p>
            <a:pPr marL="0" indent="0">
              <a:buNone/>
            </a:pPr>
            <a:r>
              <a:rPr lang="en-US" sz="2400" dirty="0"/>
              <a:t>	</a:t>
            </a:r>
            <a:r>
              <a:rPr lang="en-US" sz="2400" dirty="0" smtClean="0"/>
              <a:t> </a:t>
            </a:r>
            <a:r>
              <a:rPr lang="en-US" sz="2400" dirty="0"/>
              <a:t># Summarize the </a:t>
            </a:r>
            <a:r>
              <a:rPr lang="en-US" sz="2400" dirty="0" err="1"/>
              <a:t>ToothGrowth</a:t>
            </a:r>
            <a:r>
              <a:rPr lang="en-US" sz="2400" dirty="0"/>
              <a:t> </a:t>
            </a:r>
            <a:endParaRPr lang="en-US" sz="2400" dirty="0" smtClean="0"/>
          </a:p>
          <a:p>
            <a:pPr marL="0" indent="0">
              <a:buNone/>
            </a:pPr>
            <a:r>
              <a:rPr lang="en-US" sz="2400" dirty="0"/>
              <a:t>	</a:t>
            </a:r>
            <a:r>
              <a:rPr lang="en-US" sz="2400" dirty="0" smtClean="0"/>
              <a:t>data </a:t>
            </a:r>
            <a:r>
              <a:rPr lang="en-US" sz="2400" dirty="0" err="1"/>
              <a:t>tg</a:t>
            </a:r>
            <a:r>
              <a:rPr lang="en-US" sz="2400" dirty="0"/>
              <a:t> &lt;- </a:t>
            </a:r>
            <a:r>
              <a:rPr lang="en-US" sz="2400" dirty="0" err="1"/>
              <a:t>ddply</a:t>
            </a:r>
            <a:r>
              <a:rPr lang="en-US" sz="2400" dirty="0"/>
              <a:t>(</a:t>
            </a:r>
            <a:r>
              <a:rPr lang="en-US" sz="2400" dirty="0" err="1"/>
              <a:t>ToothGrowth</a:t>
            </a:r>
            <a:r>
              <a:rPr lang="en-US" sz="2400" dirty="0"/>
              <a:t>, c("</a:t>
            </a:r>
            <a:r>
              <a:rPr lang="en-US" sz="2400" dirty="0" err="1"/>
              <a:t>supp</a:t>
            </a:r>
            <a:r>
              <a:rPr lang="en-US" sz="2400" dirty="0"/>
              <a:t>", "dose"), </a:t>
            </a:r>
            <a:r>
              <a:rPr lang="en-US" sz="2400" dirty="0" err="1" smtClean="0"/>
              <a:t>summarise</a:t>
            </a:r>
            <a:r>
              <a:rPr lang="en-US" sz="2400" dirty="0" smtClean="0"/>
              <a:t>, length=mean(</a:t>
            </a:r>
            <a:r>
              <a:rPr lang="en-US" sz="2400" dirty="0" err="1" smtClean="0"/>
              <a:t>len</a:t>
            </a:r>
            <a:r>
              <a:rPr lang="en-US" sz="2400" dirty="0" smtClean="0"/>
              <a:t>))</a:t>
            </a:r>
          </a:p>
          <a:p>
            <a:pPr marL="0" indent="0">
              <a:buNone/>
            </a:pPr>
            <a:r>
              <a:rPr lang="en-US" sz="2400" dirty="0" smtClean="0"/>
              <a:t>	# Map </a:t>
            </a:r>
            <a:r>
              <a:rPr lang="en-US" sz="2400" dirty="0" err="1" smtClean="0"/>
              <a:t>supp</a:t>
            </a:r>
            <a:r>
              <a:rPr lang="en-US" sz="2400" dirty="0" smtClean="0"/>
              <a:t> to </a:t>
            </a:r>
            <a:r>
              <a:rPr lang="en-US" sz="2400" dirty="0" err="1" smtClean="0"/>
              <a:t>colour</a:t>
            </a:r>
            <a:endParaRPr lang="en-US" sz="2400" dirty="0" smtClean="0"/>
          </a:p>
          <a:p>
            <a:pPr marL="0" indent="0">
              <a:buNone/>
            </a:pPr>
            <a:r>
              <a:rPr lang="en-US" sz="2400" dirty="0"/>
              <a:t>	</a:t>
            </a:r>
            <a:r>
              <a:rPr lang="en-US" sz="2400" dirty="0" err="1" smtClean="0"/>
              <a:t>ggplot</a:t>
            </a:r>
            <a:r>
              <a:rPr lang="en-US" sz="2400" dirty="0" smtClean="0"/>
              <a:t>(</a:t>
            </a:r>
            <a:r>
              <a:rPr lang="en-US" sz="2400" dirty="0" err="1" smtClean="0"/>
              <a:t>tg</a:t>
            </a:r>
            <a:r>
              <a:rPr lang="en-US" sz="2400" dirty="0"/>
              <a:t>, </a:t>
            </a:r>
            <a:r>
              <a:rPr lang="en-US" sz="2400" dirty="0" err="1"/>
              <a:t>aes</a:t>
            </a:r>
            <a:r>
              <a:rPr lang="en-US" sz="2400" dirty="0"/>
              <a:t>(x=dose, y=length, </a:t>
            </a:r>
            <a:r>
              <a:rPr lang="en-US" sz="2400" dirty="0" err="1"/>
              <a:t>colour</a:t>
            </a:r>
            <a:r>
              <a:rPr lang="en-US" sz="2400" dirty="0"/>
              <a:t>=</a:t>
            </a:r>
            <a:r>
              <a:rPr lang="en-US" sz="2400" dirty="0" err="1"/>
              <a:t>supp</a:t>
            </a:r>
            <a:r>
              <a:rPr lang="en-US" sz="2400" dirty="0"/>
              <a:t>)) + </a:t>
            </a:r>
            <a:r>
              <a:rPr lang="en-US" sz="2400" dirty="0" err="1"/>
              <a:t>geom_line</a:t>
            </a:r>
            <a:r>
              <a:rPr lang="en-US" sz="2400" dirty="0"/>
              <a:t>()</a:t>
            </a:r>
          </a:p>
          <a:p>
            <a:pPr marL="0" indent="0">
              <a:buNone/>
            </a:pPr>
            <a:r>
              <a:rPr lang="en-US" sz="2400" dirty="0" smtClean="0"/>
              <a:t>	# </a:t>
            </a:r>
            <a:r>
              <a:rPr lang="en-US" sz="2400" dirty="0"/>
              <a:t>Map </a:t>
            </a:r>
            <a:r>
              <a:rPr lang="en-US" sz="2400" dirty="0" err="1"/>
              <a:t>supp</a:t>
            </a:r>
            <a:r>
              <a:rPr lang="en-US" sz="2400" dirty="0"/>
              <a:t> to </a:t>
            </a:r>
            <a:r>
              <a:rPr lang="en-US" sz="2400" dirty="0" err="1"/>
              <a:t>linetype</a:t>
            </a:r>
            <a:r>
              <a:rPr lang="en-US" sz="2400" dirty="0"/>
              <a:t> </a:t>
            </a:r>
            <a:endParaRPr lang="en-US" sz="2400" dirty="0" smtClean="0"/>
          </a:p>
          <a:p>
            <a:pPr marL="0" indent="0">
              <a:buNone/>
            </a:pPr>
            <a:r>
              <a:rPr lang="en-US" sz="2400" dirty="0"/>
              <a:t>	</a:t>
            </a:r>
            <a:r>
              <a:rPr lang="en-US" sz="2400" dirty="0" err="1" smtClean="0"/>
              <a:t>ggplot</a:t>
            </a:r>
            <a:r>
              <a:rPr lang="en-US" sz="2400" dirty="0" smtClean="0"/>
              <a:t>(</a:t>
            </a:r>
            <a:r>
              <a:rPr lang="en-US" sz="2400" dirty="0" err="1" smtClean="0"/>
              <a:t>tg</a:t>
            </a:r>
            <a:r>
              <a:rPr lang="en-US" sz="2400" dirty="0"/>
              <a:t>, </a:t>
            </a:r>
            <a:r>
              <a:rPr lang="en-US" sz="2400" dirty="0" err="1"/>
              <a:t>aes</a:t>
            </a:r>
            <a:r>
              <a:rPr lang="en-US" sz="2400" dirty="0"/>
              <a:t>(x=dose, y=length, </a:t>
            </a:r>
            <a:r>
              <a:rPr lang="en-US" sz="2400" dirty="0" err="1"/>
              <a:t>linetype</a:t>
            </a:r>
            <a:r>
              <a:rPr lang="en-US" sz="2400" dirty="0"/>
              <a:t>=</a:t>
            </a:r>
            <a:r>
              <a:rPr lang="en-US" sz="2400" dirty="0" err="1"/>
              <a:t>supp</a:t>
            </a:r>
            <a:r>
              <a:rPr lang="en-US" sz="2400" dirty="0"/>
              <a:t>)) + </a:t>
            </a:r>
            <a:r>
              <a:rPr lang="en-US" sz="2400" dirty="0" err="1"/>
              <a:t>geom_line</a:t>
            </a:r>
            <a:r>
              <a:rPr lang="en-US" sz="2400" dirty="0"/>
              <a:t>()</a:t>
            </a:r>
          </a:p>
        </p:txBody>
      </p:sp>
    </p:spTree>
    <p:extLst>
      <p:ext uri="{BB962C8B-B14F-4D97-AF65-F5344CB8AC3E}">
        <p14:creationId xmlns:p14="http://schemas.microsoft.com/office/powerpoint/2010/main" xmlns="" val="26548110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046" y="130664"/>
            <a:ext cx="10515600" cy="1325563"/>
          </a:xfrm>
        </p:spPr>
        <p:txBody>
          <a:bodyPr>
            <a:normAutofit/>
          </a:bodyPr>
          <a:lstStyle/>
          <a:p>
            <a:r>
              <a:rPr lang="en-US" sz="2800" b="1" dirty="0">
                <a:latin typeface="Calibri "/>
              </a:rPr>
              <a:t>Changing the Appearance of Lines</a:t>
            </a:r>
          </a:p>
        </p:txBody>
      </p:sp>
      <p:sp>
        <p:nvSpPr>
          <p:cNvPr id="3" name="Content Placeholder 2"/>
          <p:cNvSpPr>
            <a:spLocks noGrp="1"/>
          </p:cNvSpPr>
          <p:nvPr>
            <p:ph idx="1"/>
          </p:nvPr>
        </p:nvSpPr>
        <p:spPr>
          <a:xfrm>
            <a:off x="838200" y="1326524"/>
            <a:ext cx="10515600" cy="4850439"/>
          </a:xfrm>
        </p:spPr>
        <p:txBody>
          <a:bodyPr>
            <a:normAutofit lnSpcReduction="10000"/>
          </a:bodyPr>
          <a:lstStyle/>
          <a:p>
            <a:r>
              <a:rPr lang="en-US" dirty="0"/>
              <a:t>The type of line (solid, dashed, dotted, etc.) is set with </a:t>
            </a:r>
            <a:r>
              <a:rPr lang="en-US" dirty="0" err="1"/>
              <a:t>linetype</a:t>
            </a:r>
            <a:r>
              <a:rPr lang="en-US" dirty="0"/>
              <a:t>, the thickness (in mm) with size, and the color of the line with </a:t>
            </a:r>
            <a:r>
              <a:rPr lang="en-US" dirty="0" err="1"/>
              <a:t>colour</a:t>
            </a:r>
            <a:r>
              <a:rPr lang="en-US" dirty="0" smtClean="0"/>
              <a:t>.</a:t>
            </a:r>
          </a:p>
          <a:p>
            <a:r>
              <a:rPr lang="en-US" dirty="0"/>
              <a:t>These properties can be set (as shown in Figure 4-11) by passing them values in the call to </a:t>
            </a:r>
            <a:r>
              <a:rPr lang="en-US" dirty="0" err="1"/>
              <a:t>geom_line</a:t>
            </a:r>
            <a:r>
              <a:rPr lang="en-US" dirty="0"/>
              <a:t>():</a:t>
            </a:r>
          </a:p>
          <a:p>
            <a:pPr marL="0" indent="0">
              <a:buNone/>
            </a:pPr>
            <a:r>
              <a:rPr lang="en-US" dirty="0" smtClean="0"/>
              <a:t>	</a:t>
            </a:r>
            <a:r>
              <a:rPr lang="en-US" sz="2400" dirty="0" err="1" smtClean="0"/>
              <a:t>ggplot</a:t>
            </a:r>
            <a:r>
              <a:rPr lang="en-US" sz="2400" dirty="0" smtClean="0"/>
              <a:t>(BOD</a:t>
            </a:r>
            <a:r>
              <a:rPr lang="en-US" sz="2400" dirty="0"/>
              <a:t>, </a:t>
            </a:r>
            <a:r>
              <a:rPr lang="en-US" sz="2400" dirty="0" err="1"/>
              <a:t>aes</a:t>
            </a:r>
            <a:r>
              <a:rPr lang="en-US" sz="2400" dirty="0"/>
              <a:t>(x=Time, y=demand)) </a:t>
            </a:r>
            <a:r>
              <a:rPr lang="en-US" sz="2400" dirty="0" smtClean="0"/>
              <a:t>+ </a:t>
            </a:r>
            <a:r>
              <a:rPr lang="en-US" sz="2400" dirty="0" err="1" smtClean="0"/>
              <a:t>geom_line</a:t>
            </a:r>
            <a:r>
              <a:rPr lang="en-US" sz="2400" dirty="0" smtClean="0"/>
              <a:t>(</a:t>
            </a:r>
            <a:r>
              <a:rPr lang="en-US" sz="2400" dirty="0" err="1" smtClean="0"/>
              <a:t>linetype</a:t>
            </a:r>
            <a:r>
              <a:rPr lang="en-US" sz="2400" dirty="0"/>
              <a:t>="dashed</a:t>
            </a:r>
            <a:r>
              <a:rPr lang="en-US" sz="2400" dirty="0" smtClean="0"/>
              <a:t>",     size=1, </a:t>
            </a:r>
            <a:r>
              <a:rPr lang="en-US" sz="2400" dirty="0" err="1" smtClean="0"/>
              <a:t>colour</a:t>
            </a:r>
            <a:r>
              <a:rPr lang="en-US" sz="2400" dirty="0" smtClean="0"/>
              <a:t>="blue")</a:t>
            </a:r>
            <a:endParaRPr lang="en-US" sz="2400" dirty="0"/>
          </a:p>
          <a:p>
            <a:pPr marL="0" indent="0">
              <a:buNone/>
            </a:pPr>
            <a:r>
              <a:rPr lang="en-US" sz="2400" dirty="0" smtClean="0"/>
              <a:t>	# </a:t>
            </a:r>
            <a:r>
              <a:rPr lang="en-US" sz="2400" dirty="0"/>
              <a:t>Load </a:t>
            </a:r>
            <a:r>
              <a:rPr lang="en-US" sz="2400" dirty="0" err="1"/>
              <a:t>plyr</a:t>
            </a:r>
            <a:r>
              <a:rPr lang="en-US" sz="2400" dirty="0"/>
              <a:t> so we can use </a:t>
            </a:r>
            <a:r>
              <a:rPr lang="en-US" sz="2400" dirty="0" err="1"/>
              <a:t>ddply</a:t>
            </a:r>
            <a:r>
              <a:rPr lang="en-US" sz="2400" dirty="0"/>
              <a:t>() to create the example data </a:t>
            </a:r>
            <a:r>
              <a:rPr lang="en-US" sz="2400" dirty="0" smtClean="0"/>
              <a:t>set</a:t>
            </a:r>
          </a:p>
          <a:p>
            <a:pPr marL="0" indent="0">
              <a:buNone/>
            </a:pPr>
            <a:r>
              <a:rPr lang="en-US" sz="2400" dirty="0" smtClean="0"/>
              <a:t> 	library(</a:t>
            </a:r>
            <a:r>
              <a:rPr lang="en-US" sz="2400" dirty="0" err="1" smtClean="0"/>
              <a:t>plyr</a:t>
            </a:r>
            <a:r>
              <a:rPr lang="en-US" sz="2400" dirty="0"/>
              <a:t>) </a:t>
            </a:r>
            <a:endParaRPr lang="en-US" sz="2400" dirty="0" smtClean="0"/>
          </a:p>
          <a:p>
            <a:pPr marL="0" indent="0">
              <a:buNone/>
            </a:pPr>
            <a:r>
              <a:rPr lang="en-US" sz="2400" dirty="0" smtClean="0"/>
              <a:t>	# </a:t>
            </a:r>
            <a:r>
              <a:rPr lang="en-US" sz="2400" dirty="0"/>
              <a:t>Summarize the </a:t>
            </a:r>
            <a:r>
              <a:rPr lang="en-US" sz="2400" dirty="0" err="1"/>
              <a:t>ToothGrowth</a:t>
            </a:r>
            <a:r>
              <a:rPr lang="en-US" sz="2400" dirty="0"/>
              <a:t> data </a:t>
            </a:r>
            <a:endParaRPr lang="en-US" sz="2400" dirty="0" smtClean="0"/>
          </a:p>
          <a:p>
            <a:pPr marL="0" indent="0">
              <a:buNone/>
            </a:pPr>
            <a:r>
              <a:rPr lang="en-US" sz="2400" dirty="0" smtClean="0"/>
              <a:t>	</a:t>
            </a:r>
            <a:r>
              <a:rPr lang="en-US" sz="2400" dirty="0" err="1" smtClean="0"/>
              <a:t>tg</a:t>
            </a:r>
            <a:r>
              <a:rPr lang="en-US" sz="2400" dirty="0" smtClean="0"/>
              <a:t> </a:t>
            </a:r>
            <a:r>
              <a:rPr lang="en-US" sz="2400" dirty="0"/>
              <a:t>&lt;- </a:t>
            </a:r>
            <a:r>
              <a:rPr lang="en-US" sz="2400" dirty="0" err="1"/>
              <a:t>ddply</a:t>
            </a:r>
            <a:r>
              <a:rPr lang="en-US" sz="2400" dirty="0"/>
              <a:t>(</a:t>
            </a:r>
            <a:r>
              <a:rPr lang="en-US" sz="2400" dirty="0" err="1"/>
              <a:t>ToothGrowth</a:t>
            </a:r>
            <a:r>
              <a:rPr lang="en-US" sz="2400" dirty="0"/>
              <a:t>, c("</a:t>
            </a:r>
            <a:r>
              <a:rPr lang="en-US" sz="2400" dirty="0" err="1"/>
              <a:t>supp</a:t>
            </a:r>
            <a:r>
              <a:rPr lang="en-US" sz="2400" dirty="0"/>
              <a:t>", "dose"), </a:t>
            </a:r>
            <a:r>
              <a:rPr lang="en-US" sz="2400" dirty="0" err="1"/>
              <a:t>summarise</a:t>
            </a:r>
            <a:r>
              <a:rPr lang="en-US" sz="2400" dirty="0"/>
              <a:t>, length=mean(</a:t>
            </a:r>
            <a:r>
              <a:rPr lang="en-US" sz="2400" dirty="0" err="1"/>
              <a:t>len</a:t>
            </a:r>
            <a:r>
              <a:rPr lang="en-US" sz="2400" dirty="0"/>
              <a:t>))</a:t>
            </a:r>
          </a:p>
          <a:p>
            <a:pPr marL="0" indent="0">
              <a:buNone/>
            </a:pPr>
            <a:r>
              <a:rPr lang="en-US" sz="2400" dirty="0" smtClean="0"/>
              <a:t>	</a:t>
            </a:r>
            <a:r>
              <a:rPr lang="en-US" sz="2400" dirty="0" err="1" smtClean="0"/>
              <a:t>ggplot</a:t>
            </a:r>
            <a:r>
              <a:rPr lang="en-US" sz="2400" dirty="0" smtClean="0"/>
              <a:t>(</a:t>
            </a:r>
            <a:r>
              <a:rPr lang="en-US" sz="2400" dirty="0" err="1" smtClean="0"/>
              <a:t>tg</a:t>
            </a:r>
            <a:r>
              <a:rPr lang="en-US" sz="2400" dirty="0"/>
              <a:t>, </a:t>
            </a:r>
            <a:r>
              <a:rPr lang="en-US" sz="2400" dirty="0" err="1"/>
              <a:t>aes</a:t>
            </a:r>
            <a:r>
              <a:rPr lang="en-US" sz="2400" dirty="0"/>
              <a:t>(x=dose, y=length, </a:t>
            </a:r>
            <a:r>
              <a:rPr lang="en-US" sz="2400" dirty="0" err="1"/>
              <a:t>colour</a:t>
            </a:r>
            <a:r>
              <a:rPr lang="en-US" sz="2400" dirty="0"/>
              <a:t>=</a:t>
            </a:r>
            <a:r>
              <a:rPr lang="en-US" sz="2400" dirty="0" err="1"/>
              <a:t>supp</a:t>
            </a:r>
            <a:r>
              <a:rPr lang="en-US" sz="2400" dirty="0"/>
              <a:t>)) +    </a:t>
            </a:r>
            <a:r>
              <a:rPr lang="en-US" sz="2400" dirty="0" err="1"/>
              <a:t>geom_line</a:t>
            </a:r>
            <a:r>
              <a:rPr lang="en-US" sz="2400" dirty="0"/>
              <a:t>() +    </a:t>
            </a:r>
            <a:r>
              <a:rPr lang="en-US" sz="2400" dirty="0" smtClean="0"/>
              <a:t>	</a:t>
            </a:r>
            <a:r>
              <a:rPr lang="en-US" sz="2400" dirty="0" err="1" smtClean="0"/>
              <a:t>scale_colour_brewer</a:t>
            </a:r>
            <a:r>
              <a:rPr lang="en-US" sz="2400" dirty="0" smtClean="0"/>
              <a:t>(palette</a:t>
            </a:r>
            <a:r>
              <a:rPr lang="en-US" sz="2400" dirty="0"/>
              <a:t>="Set1")</a:t>
            </a:r>
          </a:p>
          <a:p>
            <a:pPr marL="0" indent="0">
              <a:buNone/>
            </a:pPr>
            <a:endParaRPr lang="en-US" sz="2400" dirty="0" smtClean="0"/>
          </a:p>
          <a:p>
            <a:pPr marL="0" indent="0">
              <a:buNone/>
            </a:pPr>
            <a:endParaRPr lang="en-US" dirty="0"/>
          </a:p>
        </p:txBody>
      </p:sp>
    </p:spTree>
    <p:extLst>
      <p:ext uri="{BB962C8B-B14F-4D97-AF65-F5344CB8AC3E}">
        <p14:creationId xmlns:p14="http://schemas.microsoft.com/office/powerpoint/2010/main" xmlns="" val="26548110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047" y="142387"/>
            <a:ext cx="10515600" cy="1325563"/>
          </a:xfrm>
        </p:spPr>
        <p:txBody>
          <a:bodyPr>
            <a:normAutofit/>
          </a:bodyPr>
          <a:lstStyle/>
          <a:p>
            <a:r>
              <a:rPr lang="en-US" sz="2800" b="1" dirty="0">
                <a:latin typeface="+mn-lt"/>
              </a:rPr>
              <a:t>Changing the Appearance of Points</a:t>
            </a:r>
          </a:p>
        </p:txBody>
      </p:sp>
      <p:sp>
        <p:nvSpPr>
          <p:cNvPr id="3" name="Content Placeholder 2"/>
          <p:cNvSpPr>
            <a:spLocks noGrp="1"/>
          </p:cNvSpPr>
          <p:nvPr>
            <p:ph idx="1"/>
          </p:nvPr>
        </p:nvSpPr>
        <p:spPr>
          <a:xfrm>
            <a:off x="838200" y="1326524"/>
            <a:ext cx="10515600" cy="4850439"/>
          </a:xfrm>
        </p:spPr>
        <p:txBody>
          <a:bodyPr>
            <a:normAutofit/>
          </a:bodyPr>
          <a:lstStyle/>
          <a:p>
            <a:r>
              <a:rPr lang="en-US" dirty="0"/>
              <a:t>In </a:t>
            </a:r>
            <a:r>
              <a:rPr lang="en-US" dirty="0" err="1" smtClean="0"/>
              <a:t>geom_point</a:t>
            </a:r>
            <a:r>
              <a:rPr lang="en-US" dirty="0"/>
              <a:t>(), set the size, shape, </a:t>
            </a:r>
            <a:r>
              <a:rPr lang="en-US" dirty="0" err="1"/>
              <a:t>colour</a:t>
            </a:r>
            <a:r>
              <a:rPr lang="en-US" dirty="0"/>
              <a:t>, and/or fill outside of </a:t>
            </a:r>
            <a:r>
              <a:rPr lang="en-US" dirty="0" err="1"/>
              <a:t>aes</a:t>
            </a:r>
            <a:r>
              <a:rPr lang="en-US" dirty="0" smtClean="0"/>
              <a:t>()</a:t>
            </a:r>
          </a:p>
          <a:p>
            <a:pPr marL="0" indent="0">
              <a:buNone/>
            </a:pPr>
            <a:r>
              <a:rPr lang="en-US" dirty="0"/>
              <a:t>	</a:t>
            </a:r>
            <a:r>
              <a:rPr lang="en-US" sz="2400" dirty="0" err="1"/>
              <a:t>ggplot</a:t>
            </a:r>
            <a:r>
              <a:rPr lang="en-US" sz="2400" dirty="0"/>
              <a:t>(BOD, </a:t>
            </a:r>
            <a:r>
              <a:rPr lang="en-US" sz="2400" dirty="0" err="1"/>
              <a:t>aes</a:t>
            </a:r>
            <a:r>
              <a:rPr lang="en-US" sz="2400" dirty="0"/>
              <a:t>(x=Time, y=demand)) +  </a:t>
            </a:r>
          </a:p>
          <a:p>
            <a:pPr marL="0" indent="0">
              <a:buNone/>
            </a:pPr>
            <a:r>
              <a:rPr lang="en-US" sz="2400" dirty="0" smtClean="0"/>
              <a:t>	  </a:t>
            </a:r>
            <a:r>
              <a:rPr lang="en-US" sz="2400" dirty="0" err="1"/>
              <a:t>geom_line</a:t>
            </a:r>
            <a:r>
              <a:rPr lang="en-US" sz="2400" dirty="0"/>
              <a:t>() +   </a:t>
            </a:r>
            <a:endParaRPr lang="en-US" sz="2400" dirty="0" smtClean="0"/>
          </a:p>
          <a:p>
            <a:pPr marL="0" indent="0">
              <a:buNone/>
            </a:pPr>
            <a:r>
              <a:rPr lang="en-US" sz="2400" dirty="0"/>
              <a:t>	</a:t>
            </a:r>
            <a:r>
              <a:rPr lang="en-US" sz="2400" dirty="0" smtClean="0"/>
              <a:t> </a:t>
            </a:r>
            <a:r>
              <a:rPr lang="en-US" sz="2400" dirty="0" err="1"/>
              <a:t>geom_point</a:t>
            </a:r>
            <a:r>
              <a:rPr lang="en-US" sz="2400" dirty="0"/>
              <a:t>(size=4, shape=22, </a:t>
            </a:r>
            <a:r>
              <a:rPr lang="en-US" sz="2400" dirty="0" err="1"/>
              <a:t>colour</a:t>
            </a:r>
            <a:r>
              <a:rPr lang="en-US" sz="2400" dirty="0"/>
              <a:t>="</a:t>
            </a:r>
            <a:r>
              <a:rPr lang="en-US" sz="2400" dirty="0" err="1"/>
              <a:t>darkred</a:t>
            </a:r>
            <a:r>
              <a:rPr lang="en-US" sz="2400" dirty="0"/>
              <a:t>", fill="pink</a:t>
            </a:r>
            <a:r>
              <a:rPr lang="en-US" sz="2400" dirty="0" smtClean="0"/>
              <a:t>")</a:t>
            </a:r>
          </a:p>
          <a:p>
            <a:pPr marL="0" indent="0">
              <a:buNone/>
            </a:pPr>
            <a:endParaRPr lang="en-US" dirty="0"/>
          </a:p>
        </p:txBody>
      </p:sp>
    </p:spTree>
    <p:extLst>
      <p:ext uri="{BB962C8B-B14F-4D97-AF65-F5344CB8AC3E}">
        <p14:creationId xmlns:p14="http://schemas.microsoft.com/office/powerpoint/2010/main" xmlns="" val="26548110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046" y="388572"/>
            <a:ext cx="10515600" cy="1325563"/>
          </a:xfrm>
        </p:spPr>
        <p:txBody>
          <a:bodyPr>
            <a:normAutofit fontScale="90000"/>
          </a:bodyPr>
          <a:lstStyle/>
          <a:p>
            <a:pPr marL="0" indent="0"/>
            <a:r>
              <a:rPr lang="en-US" sz="3100" b="1" dirty="0">
                <a:latin typeface="Calibri "/>
              </a:rPr>
              <a:t>Making a Graph with a Shaded Area</a:t>
            </a:r>
            <a:r>
              <a:rPr lang="en-US" b="1" dirty="0">
                <a:latin typeface="Calibri "/>
              </a:rPr>
              <a:t/>
            </a:r>
            <a:br>
              <a:rPr lang="en-US" b="1" dirty="0">
                <a:latin typeface="Calibri "/>
              </a:rPr>
            </a:br>
            <a:r>
              <a:rPr lang="en-US" b="1" dirty="0">
                <a:latin typeface="Calibri "/>
              </a:rPr>
              <a:t/>
            </a:r>
            <a:br>
              <a:rPr lang="en-US" b="1" dirty="0">
                <a:latin typeface="Calibri "/>
              </a:rPr>
            </a:br>
            <a:endParaRPr lang="en-US" b="1" dirty="0">
              <a:latin typeface="Calibri "/>
            </a:endParaRPr>
          </a:p>
        </p:txBody>
      </p:sp>
      <p:sp>
        <p:nvSpPr>
          <p:cNvPr id="3" name="Content Placeholder 2"/>
          <p:cNvSpPr>
            <a:spLocks noGrp="1"/>
          </p:cNvSpPr>
          <p:nvPr>
            <p:ph idx="1"/>
          </p:nvPr>
        </p:nvSpPr>
        <p:spPr>
          <a:xfrm>
            <a:off x="703385" y="1101970"/>
            <a:ext cx="10650415" cy="5074994"/>
          </a:xfrm>
        </p:spPr>
        <p:txBody>
          <a:bodyPr>
            <a:normAutofit/>
          </a:bodyPr>
          <a:lstStyle/>
          <a:p>
            <a:r>
              <a:rPr lang="en-US" dirty="0" smtClean="0"/>
              <a:t>Use </a:t>
            </a:r>
            <a:r>
              <a:rPr lang="en-US" dirty="0" err="1"/>
              <a:t>geom_area</a:t>
            </a:r>
            <a:r>
              <a:rPr lang="en-US" dirty="0"/>
              <a:t>() to get a shaded </a:t>
            </a:r>
            <a:r>
              <a:rPr lang="en-US" dirty="0" smtClean="0"/>
              <a:t>area</a:t>
            </a:r>
          </a:p>
          <a:p>
            <a:pPr marL="0" indent="0">
              <a:buNone/>
            </a:pPr>
            <a:r>
              <a:rPr lang="en-US" dirty="0"/>
              <a:t> 	</a:t>
            </a:r>
            <a:r>
              <a:rPr lang="en-US" sz="2400" dirty="0"/>
              <a:t># Convert the </a:t>
            </a:r>
            <a:r>
              <a:rPr lang="en-US" sz="2400" dirty="0" err="1"/>
              <a:t>sunspot.year</a:t>
            </a:r>
            <a:r>
              <a:rPr lang="en-US" sz="2400" dirty="0"/>
              <a:t> data set into a data frame for this example </a:t>
            </a:r>
            <a:r>
              <a:rPr lang="en-US" sz="2400" dirty="0" smtClean="0"/>
              <a:t>	</a:t>
            </a:r>
            <a:r>
              <a:rPr lang="en-US" sz="2400" dirty="0" err="1" smtClean="0"/>
              <a:t>sunspotyear</a:t>
            </a:r>
            <a:r>
              <a:rPr lang="en-US" sz="2400" dirty="0" smtClean="0"/>
              <a:t> </a:t>
            </a:r>
            <a:r>
              <a:rPr lang="en-US" sz="2400" dirty="0"/>
              <a:t>&lt;- </a:t>
            </a:r>
            <a:r>
              <a:rPr lang="en-US" sz="2400" dirty="0" err="1"/>
              <a:t>data.frame</a:t>
            </a:r>
            <a:r>
              <a:rPr lang="en-US" sz="2400" dirty="0"/>
              <a:t>( </a:t>
            </a:r>
            <a:r>
              <a:rPr lang="en-US" sz="2400" dirty="0" smtClean="0"/>
              <a:t> </a:t>
            </a:r>
          </a:p>
          <a:p>
            <a:pPr marL="0" indent="0">
              <a:buNone/>
            </a:pPr>
            <a:r>
              <a:rPr lang="en-US" sz="2400" dirty="0"/>
              <a:t>	</a:t>
            </a:r>
            <a:r>
              <a:rPr lang="en-US" sz="2400" dirty="0" smtClean="0"/>
              <a:t> </a:t>
            </a:r>
            <a:r>
              <a:rPr lang="en-US" sz="2400" dirty="0"/>
              <a:t>Year     = </a:t>
            </a:r>
            <a:r>
              <a:rPr lang="en-US" sz="2400" dirty="0" err="1"/>
              <a:t>as.numeric</a:t>
            </a:r>
            <a:r>
              <a:rPr lang="en-US" sz="2400" dirty="0"/>
              <a:t>(time(</a:t>
            </a:r>
            <a:r>
              <a:rPr lang="en-US" sz="2400" dirty="0" err="1"/>
              <a:t>sunspot.year</a:t>
            </a:r>
            <a:r>
              <a:rPr lang="en-US" sz="2400" dirty="0"/>
              <a:t>)), </a:t>
            </a:r>
            <a:endParaRPr lang="en-US" sz="2400" dirty="0" smtClean="0"/>
          </a:p>
          <a:p>
            <a:pPr marL="0" indent="0">
              <a:buNone/>
            </a:pPr>
            <a:r>
              <a:rPr lang="en-US" sz="2400" dirty="0"/>
              <a:t>	</a:t>
            </a:r>
            <a:r>
              <a:rPr lang="en-US" sz="2400" dirty="0" smtClean="0"/>
              <a:t>   </a:t>
            </a:r>
            <a:r>
              <a:rPr lang="en-US" sz="2400" dirty="0"/>
              <a:t>Sunspots = </a:t>
            </a:r>
            <a:r>
              <a:rPr lang="en-US" sz="2400" dirty="0" err="1"/>
              <a:t>as.numeric</a:t>
            </a:r>
            <a:r>
              <a:rPr lang="en-US" sz="2400" dirty="0"/>
              <a:t>(</a:t>
            </a:r>
            <a:r>
              <a:rPr lang="en-US" sz="2400" dirty="0" err="1"/>
              <a:t>sunspot.year</a:t>
            </a:r>
            <a:r>
              <a:rPr lang="en-US" sz="2400" dirty="0"/>
              <a:t>) </a:t>
            </a:r>
            <a:endParaRPr lang="en-US" sz="2400" dirty="0" smtClean="0"/>
          </a:p>
          <a:p>
            <a:pPr marL="0" indent="0">
              <a:buNone/>
            </a:pPr>
            <a:r>
              <a:rPr lang="en-US" sz="2400" dirty="0"/>
              <a:t>	</a:t>
            </a:r>
            <a:r>
              <a:rPr lang="en-US" sz="2400" dirty="0" smtClean="0"/>
              <a:t>)</a:t>
            </a:r>
            <a:endParaRPr lang="en-US" sz="2400" dirty="0"/>
          </a:p>
          <a:p>
            <a:pPr marL="0" indent="0">
              <a:buNone/>
            </a:pPr>
            <a:r>
              <a:rPr lang="en-US" sz="2400" dirty="0" smtClean="0"/>
              <a:t>	</a:t>
            </a:r>
            <a:r>
              <a:rPr lang="en-US" sz="2400" dirty="0" err="1" smtClean="0"/>
              <a:t>ggplot</a:t>
            </a:r>
            <a:r>
              <a:rPr lang="en-US" sz="2400" dirty="0" smtClean="0"/>
              <a:t>(</a:t>
            </a:r>
            <a:r>
              <a:rPr lang="en-US" sz="2400" dirty="0" err="1" smtClean="0"/>
              <a:t>sunspotyear</a:t>
            </a:r>
            <a:r>
              <a:rPr lang="en-US" sz="2400" dirty="0"/>
              <a:t>, </a:t>
            </a:r>
            <a:r>
              <a:rPr lang="en-US" sz="2400" dirty="0" err="1"/>
              <a:t>aes</a:t>
            </a:r>
            <a:r>
              <a:rPr lang="en-US" sz="2400" dirty="0"/>
              <a:t>(x=Year, y=Sunspots)) + </a:t>
            </a:r>
            <a:r>
              <a:rPr lang="en-US" sz="2400" dirty="0" err="1"/>
              <a:t>geom_area</a:t>
            </a:r>
            <a:r>
              <a:rPr lang="en-US" sz="2400" dirty="0"/>
              <a:t>()</a:t>
            </a:r>
          </a:p>
          <a:p>
            <a:pPr marL="0" indent="0">
              <a:buNone/>
            </a:pPr>
            <a:endParaRPr lang="en-US" dirty="0"/>
          </a:p>
          <a:p>
            <a:endParaRPr lang="en-US" dirty="0"/>
          </a:p>
        </p:txBody>
      </p:sp>
    </p:spTree>
    <p:extLst>
      <p:ext uri="{BB962C8B-B14F-4D97-AF65-F5344CB8AC3E}">
        <p14:creationId xmlns:p14="http://schemas.microsoft.com/office/powerpoint/2010/main" xmlns="" val="26548110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615" y="212725"/>
            <a:ext cx="10515600" cy="1325563"/>
          </a:xfrm>
        </p:spPr>
        <p:txBody>
          <a:bodyPr>
            <a:normAutofit/>
          </a:bodyPr>
          <a:lstStyle/>
          <a:p>
            <a:r>
              <a:rPr lang="en-US" sz="2800" b="1" dirty="0">
                <a:latin typeface="Calibri "/>
              </a:rPr>
              <a:t>Making a Stacked Area Graph</a:t>
            </a:r>
          </a:p>
        </p:txBody>
      </p:sp>
      <p:sp>
        <p:nvSpPr>
          <p:cNvPr id="3" name="Content Placeholder 2"/>
          <p:cNvSpPr>
            <a:spLocks noGrp="1"/>
          </p:cNvSpPr>
          <p:nvPr>
            <p:ph idx="1"/>
          </p:nvPr>
        </p:nvSpPr>
        <p:spPr>
          <a:xfrm>
            <a:off x="838200" y="1326524"/>
            <a:ext cx="10515600" cy="4850439"/>
          </a:xfrm>
        </p:spPr>
        <p:txBody>
          <a:bodyPr>
            <a:normAutofit/>
          </a:bodyPr>
          <a:lstStyle/>
          <a:p>
            <a:r>
              <a:rPr lang="en-US" dirty="0"/>
              <a:t>Use </a:t>
            </a:r>
            <a:r>
              <a:rPr lang="en-US" dirty="0" err="1"/>
              <a:t>geom_area</a:t>
            </a:r>
            <a:r>
              <a:rPr lang="en-US" dirty="0"/>
              <a:t>() and map a factor to </a:t>
            </a:r>
            <a:r>
              <a:rPr lang="en-US" dirty="0" smtClean="0"/>
              <a:t>fill</a:t>
            </a:r>
            <a:endParaRPr lang="en-US" dirty="0"/>
          </a:p>
          <a:p>
            <a:pPr marL="0" indent="0">
              <a:buNone/>
            </a:pPr>
            <a:r>
              <a:rPr lang="en-US" sz="2400" dirty="0" smtClean="0"/>
              <a:t>	library(</a:t>
            </a:r>
            <a:r>
              <a:rPr lang="en-US" sz="2400" dirty="0" err="1" smtClean="0"/>
              <a:t>gcookbook</a:t>
            </a:r>
            <a:r>
              <a:rPr lang="en-US" sz="2400" dirty="0"/>
              <a:t>) # For the data set</a:t>
            </a:r>
          </a:p>
          <a:p>
            <a:pPr marL="0" indent="0">
              <a:buNone/>
            </a:pPr>
            <a:r>
              <a:rPr lang="en-US" sz="2400" dirty="0" smtClean="0"/>
              <a:t>	</a:t>
            </a:r>
            <a:r>
              <a:rPr lang="en-US" sz="2400" dirty="0" err="1" smtClean="0"/>
              <a:t>ggplot</a:t>
            </a:r>
            <a:r>
              <a:rPr lang="en-US" sz="2400" dirty="0" smtClean="0"/>
              <a:t>(</a:t>
            </a:r>
            <a:r>
              <a:rPr lang="en-US" sz="2400" dirty="0" err="1" smtClean="0"/>
              <a:t>uspopage</a:t>
            </a:r>
            <a:r>
              <a:rPr lang="en-US" sz="2400" dirty="0"/>
              <a:t>, </a:t>
            </a:r>
            <a:r>
              <a:rPr lang="en-US" sz="2400" dirty="0" err="1"/>
              <a:t>aes</a:t>
            </a:r>
            <a:r>
              <a:rPr lang="en-US" sz="2400" dirty="0"/>
              <a:t>(x=Year, y=Thousands, fill=</a:t>
            </a:r>
            <a:r>
              <a:rPr lang="en-US" sz="2400" dirty="0" err="1"/>
              <a:t>AgeGroup</a:t>
            </a:r>
            <a:r>
              <a:rPr lang="en-US" sz="2400" dirty="0"/>
              <a:t>)) + </a:t>
            </a:r>
            <a:r>
              <a:rPr lang="en-US" sz="2400" dirty="0" err="1"/>
              <a:t>geom_area</a:t>
            </a:r>
            <a:r>
              <a:rPr lang="en-US" sz="2400" dirty="0"/>
              <a:t>()</a:t>
            </a:r>
          </a:p>
          <a:p>
            <a:endParaRPr lang="en-US" dirty="0"/>
          </a:p>
        </p:txBody>
      </p:sp>
    </p:spTree>
    <p:extLst>
      <p:ext uri="{BB962C8B-B14F-4D97-AF65-F5344CB8AC3E}">
        <p14:creationId xmlns:p14="http://schemas.microsoft.com/office/powerpoint/2010/main" xmlns="" val="26548110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615" y="247895"/>
            <a:ext cx="10515600" cy="1325563"/>
          </a:xfrm>
        </p:spPr>
        <p:txBody>
          <a:bodyPr>
            <a:normAutofit/>
          </a:bodyPr>
          <a:lstStyle/>
          <a:p>
            <a:r>
              <a:rPr lang="en-US" sz="2800" b="1" dirty="0">
                <a:latin typeface="Calibri "/>
              </a:rPr>
              <a:t>Making a Proportional Stacked Area </a:t>
            </a:r>
            <a:r>
              <a:rPr lang="en-US" sz="2800" b="1" dirty="0" smtClean="0">
                <a:latin typeface="Calibri "/>
              </a:rPr>
              <a:t>Graph</a:t>
            </a:r>
            <a:endParaRPr lang="en-US" sz="2800" b="1" dirty="0">
              <a:latin typeface="Calibri "/>
            </a:endParaRPr>
          </a:p>
        </p:txBody>
      </p:sp>
      <p:sp>
        <p:nvSpPr>
          <p:cNvPr id="3" name="Content Placeholder 2"/>
          <p:cNvSpPr>
            <a:spLocks noGrp="1"/>
          </p:cNvSpPr>
          <p:nvPr>
            <p:ph idx="1"/>
          </p:nvPr>
        </p:nvSpPr>
        <p:spPr>
          <a:xfrm>
            <a:off x="838200" y="1326524"/>
            <a:ext cx="10515600" cy="4850439"/>
          </a:xfrm>
        </p:spPr>
        <p:txBody>
          <a:bodyPr>
            <a:normAutofit lnSpcReduction="10000"/>
          </a:bodyPr>
          <a:lstStyle/>
          <a:p>
            <a:r>
              <a:rPr lang="en-US" dirty="0"/>
              <a:t>First, calculate the </a:t>
            </a:r>
            <a:r>
              <a:rPr lang="en-US" dirty="0" smtClean="0"/>
              <a:t>proportions.</a:t>
            </a:r>
          </a:p>
          <a:p>
            <a:r>
              <a:rPr lang="en-US" dirty="0" smtClean="0"/>
              <a:t> </a:t>
            </a:r>
            <a:r>
              <a:rPr lang="en-US" dirty="0"/>
              <a:t>In this example, we’ll use </a:t>
            </a:r>
            <a:r>
              <a:rPr lang="en-US" dirty="0" err="1"/>
              <a:t>ddply</a:t>
            </a:r>
            <a:r>
              <a:rPr lang="en-US" dirty="0"/>
              <a:t>() to break </a:t>
            </a:r>
            <a:r>
              <a:rPr lang="en-US" dirty="0" err="1"/>
              <a:t>uspopage</a:t>
            </a:r>
            <a:r>
              <a:rPr lang="en-US" dirty="0"/>
              <a:t> into groups by Year, then calculate a new column, Percent</a:t>
            </a:r>
            <a:r>
              <a:rPr lang="en-US" dirty="0" smtClean="0"/>
              <a:t>.</a:t>
            </a:r>
          </a:p>
          <a:p>
            <a:r>
              <a:rPr lang="en-US" dirty="0" smtClean="0"/>
              <a:t> </a:t>
            </a:r>
            <a:r>
              <a:rPr lang="en-US" dirty="0"/>
              <a:t>This value is the Thou sands for each row, divided by the sum of Thousands for each Year group, multiplied by 100 to get a percent value:</a:t>
            </a:r>
          </a:p>
          <a:p>
            <a:pPr marL="0" indent="0">
              <a:buNone/>
            </a:pPr>
            <a:r>
              <a:rPr lang="en-US" dirty="0"/>
              <a:t>	</a:t>
            </a:r>
            <a:r>
              <a:rPr lang="en-US" sz="2400" dirty="0"/>
              <a:t>library(</a:t>
            </a:r>
            <a:r>
              <a:rPr lang="en-US" sz="2400" dirty="0" err="1"/>
              <a:t>gcookbook</a:t>
            </a:r>
            <a:r>
              <a:rPr lang="en-US" sz="2400" dirty="0"/>
              <a:t>) # For the data </a:t>
            </a:r>
            <a:r>
              <a:rPr lang="en-US" sz="2400" dirty="0" smtClean="0"/>
              <a:t>set</a:t>
            </a:r>
          </a:p>
          <a:p>
            <a:pPr marL="0" indent="0">
              <a:buNone/>
            </a:pPr>
            <a:r>
              <a:rPr lang="en-US" sz="2400" dirty="0"/>
              <a:t>	</a:t>
            </a:r>
            <a:r>
              <a:rPr lang="en-US" sz="2400" dirty="0" smtClean="0"/>
              <a:t> </a:t>
            </a:r>
            <a:r>
              <a:rPr lang="en-US" sz="2400" dirty="0"/>
              <a:t>library(</a:t>
            </a:r>
            <a:r>
              <a:rPr lang="en-US" sz="2400" dirty="0" err="1"/>
              <a:t>plyr</a:t>
            </a:r>
            <a:r>
              <a:rPr lang="en-US" sz="2400" dirty="0"/>
              <a:t>)  </a:t>
            </a:r>
            <a:r>
              <a:rPr lang="en-US" sz="2400" dirty="0" smtClean="0"/>
              <a:t> </a:t>
            </a:r>
            <a:r>
              <a:rPr lang="en-US" sz="2400" dirty="0"/>
              <a:t># For the </a:t>
            </a:r>
            <a:r>
              <a:rPr lang="en-US" sz="2400" dirty="0" err="1"/>
              <a:t>ddply</a:t>
            </a:r>
            <a:r>
              <a:rPr lang="en-US" sz="2400" dirty="0"/>
              <a:t>() function</a:t>
            </a:r>
          </a:p>
          <a:p>
            <a:pPr marL="0" indent="0">
              <a:buNone/>
            </a:pPr>
            <a:r>
              <a:rPr lang="en-US" sz="2400" dirty="0" smtClean="0"/>
              <a:t>	# </a:t>
            </a:r>
            <a:r>
              <a:rPr lang="en-US" sz="2400" dirty="0"/>
              <a:t>Convert Thousands to Percent </a:t>
            </a:r>
            <a:endParaRPr lang="en-US" sz="2400" dirty="0" smtClean="0"/>
          </a:p>
          <a:p>
            <a:pPr marL="0" indent="0">
              <a:buNone/>
            </a:pPr>
            <a:r>
              <a:rPr lang="en-US" sz="2400" dirty="0"/>
              <a:t>	</a:t>
            </a:r>
            <a:r>
              <a:rPr lang="en-US" sz="2400" dirty="0" err="1" smtClean="0"/>
              <a:t>uspopage_prop</a:t>
            </a:r>
            <a:r>
              <a:rPr lang="en-US" sz="2400" dirty="0" smtClean="0"/>
              <a:t> </a:t>
            </a:r>
            <a:r>
              <a:rPr lang="en-US" sz="2400" dirty="0"/>
              <a:t>&lt;- </a:t>
            </a:r>
            <a:r>
              <a:rPr lang="en-US" sz="2400" dirty="0" err="1"/>
              <a:t>ddply</a:t>
            </a:r>
            <a:r>
              <a:rPr lang="en-US" sz="2400" dirty="0"/>
              <a:t>(</a:t>
            </a:r>
            <a:r>
              <a:rPr lang="en-US" sz="2400" dirty="0" err="1"/>
              <a:t>uspopage</a:t>
            </a:r>
            <a:r>
              <a:rPr lang="en-US" sz="2400" dirty="0"/>
              <a:t>, "Year", transform</a:t>
            </a:r>
            <a:r>
              <a:rPr lang="en-US" sz="2400" dirty="0" smtClean="0"/>
              <a:t>,</a:t>
            </a:r>
          </a:p>
          <a:p>
            <a:pPr marL="0" indent="0">
              <a:buNone/>
            </a:pPr>
            <a:r>
              <a:rPr lang="en-US" sz="2400" dirty="0" smtClean="0"/>
              <a:t>              Percent </a:t>
            </a:r>
            <a:r>
              <a:rPr lang="en-US" sz="2400" dirty="0"/>
              <a:t>= Thousands / sum(Thousands) * 100)</a:t>
            </a:r>
          </a:p>
        </p:txBody>
      </p:sp>
    </p:spTree>
    <p:extLst>
      <p:ext uri="{BB962C8B-B14F-4D97-AF65-F5344CB8AC3E}">
        <p14:creationId xmlns:p14="http://schemas.microsoft.com/office/powerpoint/2010/main" xmlns="" val="26548110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26524"/>
            <a:ext cx="10515600" cy="4850439"/>
          </a:xfrm>
        </p:spPr>
        <p:txBody>
          <a:bodyPr>
            <a:normAutofit/>
          </a:bodyPr>
          <a:lstStyle/>
          <a:p>
            <a:r>
              <a:rPr lang="en-US" dirty="0"/>
              <a:t>Once we’ve calculated the proportions, plotting is the same as with a regular stacked area </a:t>
            </a:r>
            <a:r>
              <a:rPr lang="en-US" dirty="0" smtClean="0"/>
              <a:t>graph</a:t>
            </a:r>
            <a:endParaRPr lang="en-US" dirty="0"/>
          </a:p>
          <a:p>
            <a:pPr marL="0" indent="0">
              <a:buNone/>
            </a:pPr>
            <a:r>
              <a:rPr lang="en-US" sz="2400" dirty="0" smtClean="0"/>
              <a:t>	</a:t>
            </a:r>
            <a:r>
              <a:rPr lang="en-US" sz="2400" dirty="0" err="1" smtClean="0"/>
              <a:t>ggplot</a:t>
            </a:r>
            <a:r>
              <a:rPr lang="en-US" sz="2400" dirty="0" smtClean="0"/>
              <a:t>(</a:t>
            </a:r>
            <a:r>
              <a:rPr lang="en-US" sz="2400" dirty="0" err="1" smtClean="0"/>
              <a:t>uspopage_prop</a:t>
            </a:r>
            <a:r>
              <a:rPr lang="en-US" sz="2400" dirty="0"/>
              <a:t>, </a:t>
            </a:r>
            <a:r>
              <a:rPr lang="en-US" sz="2400" dirty="0" err="1"/>
              <a:t>aes</a:t>
            </a:r>
            <a:r>
              <a:rPr lang="en-US" sz="2400" dirty="0"/>
              <a:t>(x=Year, y=Percent, fill=</a:t>
            </a:r>
            <a:r>
              <a:rPr lang="en-US" sz="2400" dirty="0" err="1"/>
              <a:t>AgeGroup</a:t>
            </a:r>
            <a:r>
              <a:rPr lang="en-US" sz="2400" dirty="0"/>
              <a:t>)) +    </a:t>
            </a:r>
            <a:r>
              <a:rPr lang="en-US" sz="2400" dirty="0" smtClean="0"/>
              <a:t>	</a:t>
            </a:r>
            <a:r>
              <a:rPr lang="en-US" sz="2400" dirty="0" err="1" smtClean="0"/>
              <a:t>geom_area</a:t>
            </a:r>
            <a:r>
              <a:rPr lang="en-US" sz="2400" dirty="0" smtClean="0"/>
              <a:t>(</a:t>
            </a:r>
            <a:r>
              <a:rPr lang="en-US" sz="2400" dirty="0" err="1" smtClean="0"/>
              <a:t>colour</a:t>
            </a:r>
            <a:r>
              <a:rPr lang="en-US" sz="2400" dirty="0"/>
              <a:t>="black", size=.2, alpha=.4) +    </a:t>
            </a:r>
            <a:r>
              <a:rPr lang="en-US" sz="2400" dirty="0" smtClean="0"/>
              <a:t>	</a:t>
            </a:r>
            <a:r>
              <a:rPr lang="en-US" sz="2400" dirty="0" err="1" smtClean="0"/>
              <a:t>scale_fill_brewer</a:t>
            </a:r>
            <a:r>
              <a:rPr lang="en-US" sz="2400" dirty="0" smtClean="0"/>
              <a:t>(palette</a:t>
            </a:r>
            <a:r>
              <a:rPr lang="en-US" sz="2400" dirty="0"/>
              <a:t>="Blues", breaks=rev(levels(</a:t>
            </a:r>
            <a:r>
              <a:rPr lang="en-US" sz="2400" dirty="0" err="1"/>
              <a:t>uspopage$AgeGroup</a:t>
            </a:r>
            <a:r>
              <a:rPr lang="en-US" sz="2400" dirty="0"/>
              <a:t>)))</a:t>
            </a:r>
          </a:p>
          <a:p>
            <a:pPr marL="0" indent="0">
              <a:buNone/>
            </a:pPr>
            <a:endParaRPr lang="en-US" dirty="0"/>
          </a:p>
        </p:txBody>
      </p:sp>
    </p:spTree>
    <p:extLst>
      <p:ext uri="{BB962C8B-B14F-4D97-AF65-F5344CB8AC3E}">
        <p14:creationId xmlns:p14="http://schemas.microsoft.com/office/powerpoint/2010/main" xmlns="" val="26548110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8569" y="271341"/>
            <a:ext cx="10515600" cy="1325563"/>
          </a:xfrm>
        </p:spPr>
        <p:txBody>
          <a:bodyPr>
            <a:normAutofit/>
          </a:bodyPr>
          <a:lstStyle/>
          <a:p>
            <a:r>
              <a:rPr lang="en-US" sz="2800" b="1" dirty="0">
                <a:latin typeface="Calibri "/>
              </a:rPr>
              <a:t> Adding a Confidence </a:t>
            </a:r>
            <a:r>
              <a:rPr lang="en-US" sz="2800" b="1" dirty="0" smtClean="0">
                <a:latin typeface="Calibri "/>
              </a:rPr>
              <a:t>Region</a:t>
            </a:r>
            <a:endParaRPr lang="en-US" sz="2800" b="1" dirty="0">
              <a:latin typeface="Calibri "/>
            </a:endParaRPr>
          </a:p>
        </p:txBody>
      </p:sp>
      <p:sp>
        <p:nvSpPr>
          <p:cNvPr id="3" name="Content Placeholder 2"/>
          <p:cNvSpPr>
            <a:spLocks noGrp="1"/>
          </p:cNvSpPr>
          <p:nvPr>
            <p:ph idx="1"/>
          </p:nvPr>
        </p:nvSpPr>
        <p:spPr>
          <a:xfrm>
            <a:off x="838200" y="1326524"/>
            <a:ext cx="10515600" cy="4850439"/>
          </a:xfrm>
        </p:spPr>
        <p:txBody>
          <a:bodyPr>
            <a:normAutofit/>
          </a:bodyPr>
          <a:lstStyle/>
          <a:p>
            <a:r>
              <a:rPr lang="en-US" dirty="0"/>
              <a:t>Use </a:t>
            </a:r>
            <a:r>
              <a:rPr lang="en-US" dirty="0" err="1"/>
              <a:t>geom_ribbon</a:t>
            </a:r>
            <a:r>
              <a:rPr lang="en-US" dirty="0"/>
              <a:t>() and map values to </a:t>
            </a:r>
            <a:r>
              <a:rPr lang="en-US" dirty="0" err="1"/>
              <a:t>ymin</a:t>
            </a:r>
            <a:r>
              <a:rPr lang="en-US" dirty="0"/>
              <a:t> and </a:t>
            </a:r>
            <a:r>
              <a:rPr lang="en-US" dirty="0" err="1"/>
              <a:t>ymax</a:t>
            </a:r>
            <a:r>
              <a:rPr lang="en-US" dirty="0" smtClean="0"/>
              <a:t>.</a:t>
            </a:r>
          </a:p>
          <a:p>
            <a:pPr marL="0" indent="0">
              <a:buNone/>
            </a:pPr>
            <a:r>
              <a:rPr lang="en-US" dirty="0"/>
              <a:t>	</a:t>
            </a:r>
            <a:r>
              <a:rPr lang="en-US" sz="2400" dirty="0"/>
              <a:t>library(</a:t>
            </a:r>
            <a:r>
              <a:rPr lang="en-US" sz="2400" dirty="0" err="1"/>
              <a:t>gcookbook</a:t>
            </a:r>
            <a:r>
              <a:rPr lang="en-US" sz="2400" dirty="0"/>
              <a:t>) # For the data set</a:t>
            </a:r>
          </a:p>
          <a:p>
            <a:pPr marL="0" indent="0">
              <a:buNone/>
            </a:pPr>
            <a:r>
              <a:rPr lang="en-US" sz="2400" dirty="0" smtClean="0"/>
              <a:t>	# </a:t>
            </a:r>
            <a:r>
              <a:rPr lang="en-US" sz="2400" dirty="0"/>
              <a:t>Grab a subset of the climate data </a:t>
            </a:r>
            <a:endParaRPr lang="en-US" sz="2400" dirty="0" smtClean="0"/>
          </a:p>
          <a:p>
            <a:pPr marL="0" indent="0">
              <a:buNone/>
            </a:pPr>
            <a:r>
              <a:rPr lang="en-US" sz="2400" dirty="0"/>
              <a:t>	</a:t>
            </a:r>
            <a:r>
              <a:rPr lang="en-US" sz="2400" dirty="0" err="1" smtClean="0"/>
              <a:t>clim</a:t>
            </a:r>
            <a:r>
              <a:rPr lang="en-US" sz="2400" dirty="0" smtClean="0"/>
              <a:t> </a:t>
            </a:r>
            <a:r>
              <a:rPr lang="en-US" sz="2400" dirty="0"/>
              <a:t>&lt;- subset(climate, Source == "Berkeley",           </a:t>
            </a:r>
            <a:endParaRPr lang="en-US" sz="2400" dirty="0" smtClean="0"/>
          </a:p>
          <a:p>
            <a:pPr marL="0" indent="0">
              <a:buNone/>
            </a:pPr>
            <a:r>
              <a:rPr lang="en-US" sz="2400" dirty="0"/>
              <a:t>	</a:t>
            </a:r>
            <a:r>
              <a:rPr lang="en-US" sz="2400" dirty="0" smtClean="0"/>
              <a:t>select=c</a:t>
            </a:r>
            <a:r>
              <a:rPr lang="en-US" sz="2400" dirty="0"/>
              <a:t>("Year", "Anomaly10y", "Unc10y"))</a:t>
            </a:r>
          </a:p>
          <a:p>
            <a:pPr marL="914400" lvl="2" indent="0">
              <a:buNone/>
            </a:pPr>
            <a:r>
              <a:rPr lang="en-US" dirty="0"/>
              <a:t># Shaded region </a:t>
            </a:r>
            <a:endParaRPr lang="en-US" dirty="0" smtClean="0"/>
          </a:p>
          <a:p>
            <a:pPr marL="914400" lvl="2" indent="0">
              <a:buNone/>
            </a:pPr>
            <a:r>
              <a:rPr lang="en-US" dirty="0" err="1" smtClean="0"/>
              <a:t>ggplot</a:t>
            </a:r>
            <a:r>
              <a:rPr lang="en-US" dirty="0" smtClean="0"/>
              <a:t>(</a:t>
            </a:r>
            <a:r>
              <a:rPr lang="en-US" dirty="0" err="1" smtClean="0"/>
              <a:t>clim</a:t>
            </a:r>
            <a:r>
              <a:rPr lang="en-US" dirty="0"/>
              <a:t>, </a:t>
            </a:r>
            <a:r>
              <a:rPr lang="en-US" dirty="0" err="1"/>
              <a:t>aes</a:t>
            </a:r>
            <a:r>
              <a:rPr lang="en-US" dirty="0"/>
              <a:t>(x=Year, y=Anomaly10y)) +  </a:t>
            </a:r>
            <a:endParaRPr lang="en-US" dirty="0" smtClean="0"/>
          </a:p>
          <a:p>
            <a:pPr marL="914400" lvl="2" indent="0">
              <a:buNone/>
            </a:pPr>
            <a:r>
              <a:rPr lang="en-US" dirty="0" err="1" smtClean="0"/>
              <a:t>geom_ribbon</a:t>
            </a:r>
            <a:r>
              <a:rPr lang="en-US" dirty="0" smtClean="0"/>
              <a:t>(</a:t>
            </a:r>
            <a:r>
              <a:rPr lang="en-US" dirty="0" err="1" smtClean="0"/>
              <a:t>aes</a:t>
            </a:r>
            <a:r>
              <a:rPr lang="en-US" dirty="0" smtClean="0"/>
              <a:t>(</a:t>
            </a:r>
            <a:r>
              <a:rPr lang="en-US" dirty="0" err="1" smtClean="0"/>
              <a:t>ymin</a:t>
            </a:r>
            <a:r>
              <a:rPr lang="en-US" dirty="0" smtClean="0"/>
              <a:t>=Anomaly10y-Unc10y</a:t>
            </a:r>
            <a:r>
              <a:rPr lang="en-US" dirty="0"/>
              <a:t>, </a:t>
            </a:r>
            <a:r>
              <a:rPr lang="en-US" dirty="0" err="1"/>
              <a:t>ymax</a:t>
            </a:r>
            <a:r>
              <a:rPr lang="en-US" dirty="0"/>
              <a:t>=Anomaly10y+Unc10y),                alpha=0.2) + </a:t>
            </a:r>
            <a:r>
              <a:rPr lang="en-US" dirty="0" smtClean="0"/>
              <a:t> </a:t>
            </a:r>
            <a:r>
              <a:rPr lang="en-US" dirty="0" err="1"/>
              <a:t>geom_line</a:t>
            </a:r>
            <a:r>
              <a:rPr lang="en-US" dirty="0"/>
              <a:t>()</a:t>
            </a:r>
          </a:p>
        </p:txBody>
      </p:sp>
    </p:spTree>
    <p:extLst>
      <p:ext uri="{BB962C8B-B14F-4D97-AF65-F5344CB8AC3E}">
        <p14:creationId xmlns:p14="http://schemas.microsoft.com/office/powerpoint/2010/main" xmlns="" val="26548110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8569" y="271341"/>
            <a:ext cx="10515600" cy="1325563"/>
          </a:xfrm>
        </p:spPr>
        <p:txBody>
          <a:bodyPr>
            <a:normAutofit/>
          </a:bodyPr>
          <a:lstStyle/>
          <a:p>
            <a:r>
              <a:rPr lang="en-US" sz="2800" b="1" dirty="0">
                <a:latin typeface="Calibri "/>
              </a:rPr>
              <a:t> </a:t>
            </a:r>
          </a:p>
        </p:txBody>
      </p:sp>
      <p:sp>
        <p:nvSpPr>
          <p:cNvPr id="3" name="Content Placeholder 2"/>
          <p:cNvSpPr>
            <a:spLocks noGrp="1"/>
          </p:cNvSpPr>
          <p:nvPr>
            <p:ph idx="1"/>
          </p:nvPr>
        </p:nvSpPr>
        <p:spPr>
          <a:xfrm>
            <a:off x="3827585" y="2721571"/>
            <a:ext cx="10515600" cy="4850439"/>
          </a:xfrm>
        </p:spPr>
        <p:txBody>
          <a:bodyPr>
            <a:normAutofit/>
          </a:bodyPr>
          <a:lstStyle/>
          <a:p>
            <a:pPr marL="0" indent="0">
              <a:buNone/>
            </a:pPr>
            <a:r>
              <a:rPr lang="en-US" sz="9600" dirty="0" smtClean="0"/>
              <a:t>Thank u…</a:t>
            </a:r>
            <a:endParaRPr lang="en-US" sz="9600" dirty="0"/>
          </a:p>
        </p:txBody>
      </p:sp>
    </p:spTree>
    <p:extLst>
      <p:ext uri="{BB962C8B-B14F-4D97-AF65-F5344CB8AC3E}">
        <p14:creationId xmlns:p14="http://schemas.microsoft.com/office/powerpoint/2010/main" xmlns="" val="37406432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335</TotalTime>
  <Words>2113</Words>
  <Application>Microsoft Office PowerPoint</Application>
  <PresentationFormat>Custom</PresentationFormat>
  <Paragraphs>258</Paragraphs>
  <Slides>40</Slides>
  <Notes>0</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Office Theme</vt:lpstr>
      <vt:lpstr>R Visualization</vt:lpstr>
      <vt:lpstr>Bar Graphs</vt:lpstr>
      <vt:lpstr>Slide 3</vt:lpstr>
      <vt:lpstr>Grouping Bars Together</vt:lpstr>
      <vt:lpstr>Slide 5</vt:lpstr>
      <vt:lpstr>Slide 6</vt:lpstr>
      <vt:lpstr>Scatter plot</vt:lpstr>
      <vt:lpstr>Slide 8</vt:lpstr>
      <vt:lpstr>Grouping Data Points by a Variable Using Shape or Color</vt:lpstr>
      <vt:lpstr>Slide 10</vt:lpstr>
      <vt:lpstr>Slide 11</vt:lpstr>
      <vt:lpstr>Slide 12</vt:lpstr>
      <vt:lpstr>Slide 13</vt:lpstr>
      <vt:lpstr>Mapping a Continuous Variable to Color or Size</vt:lpstr>
      <vt:lpstr>Slide 15</vt:lpstr>
      <vt:lpstr>Adding Fitted Regression Model Lines</vt:lpstr>
      <vt:lpstr>Slide 17</vt:lpstr>
      <vt:lpstr>Adding Fitted Lines from an Existing Model</vt:lpstr>
      <vt:lpstr>Slide 19</vt:lpstr>
      <vt:lpstr>Adding Fitted Lines from Multiple Existing Models</vt:lpstr>
      <vt:lpstr>Slide 21</vt:lpstr>
      <vt:lpstr> Adding Annotations with Model Coefficients</vt:lpstr>
      <vt:lpstr>Slide 23</vt:lpstr>
      <vt:lpstr>Adding Marginal Rugs to a Scatter Plot</vt:lpstr>
      <vt:lpstr> Labeling Points in a Scatter Plot</vt:lpstr>
      <vt:lpstr>Slide 26</vt:lpstr>
      <vt:lpstr> Creating a Balloon Plot</vt:lpstr>
      <vt:lpstr>Making a Scatter Plot Matrix</vt:lpstr>
      <vt:lpstr>Line Graphs</vt:lpstr>
      <vt:lpstr>You want to make a basic line graph. </vt:lpstr>
      <vt:lpstr>Slide 31</vt:lpstr>
      <vt:lpstr>Making a Line Graph with Multiple Lines</vt:lpstr>
      <vt:lpstr>Changing the Appearance of Lines</vt:lpstr>
      <vt:lpstr>Changing the Appearance of Points</vt:lpstr>
      <vt:lpstr>Making a Graph with a Shaded Area  </vt:lpstr>
      <vt:lpstr>Making a Stacked Area Graph</vt:lpstr>
      <vt:lpstr>Making a Proportional Stacked Area Graph</vt:lpstr>
      <vt:lpstr>Slide 38</vt:lpstr>
      <vt:lpstr> Adding a Confidence Region</vt:lpstr>
      <vt:lpstr>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 Visualization</dc:title>
  <dc:creator>deshkar</dc:creator>
  <cp:lastModifiedBy>HP</cp:lastModifiedBy>
  <cp:revision>32</cp:revision>
  <dcterms:created xsi:type="dcterms:W3CDTF">2017-12-18T05:41:16Z</dcterms:created>
  <dcterms:modified xsi:type="dcterms:W3CDTF">2017-12-23T07:32:26Z</dcterms:modified>
</cp:coreProperties>
</file>